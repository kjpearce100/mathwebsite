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8" r:id="rId3"/>
    <p:sldId id="261" r:id="rId4"/>
    <p:sldId id="262" r:id="rId5"/>
    <p:sldId id="259" r:id="rId6"/>
    <p:sldId id="263" r:id="rId7"/>
    <p:sldId id="264" r:id="rId8"/>
    <p:sldId id="260" r:id="rId9"/>
    <p:sldId id="265" r:id="rId10"/>
    <p:sldId id="269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4" autoAdjust="0"/>
    <p:restoredTop sz="94718" autoAdjust="0"/>
  </p:normalViewPr>
  <p:slideViewPr>
    <p:cSldViewPr>
      <p:cViewPr>
        <p:scale>
          <a:sx n="100" d="100"/>
          <a:sy n="100" d="100"/>
        </p:scale>
        <p:origin x="-942" y="-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215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3/29/2011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7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2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5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5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038600" y="3200400"/>
            <a:ext cx="49425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Ratio and Root Tests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ct 40"/>
          <p:cNvGraphicFramePr>
            <a:graphicFrameLocks noChangeAspect="1"/>
          </p:cNvGraphicFramePr>
          <p:nvPr/>
        </p:nvGraphicFramePr>
        <p:xfrm>
          <a:off x="2170113" y="2438400"/>
          <a:ext cx="47640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2" name="Equation" r:id="rId3" imgW="2108160" imgH="431640" progId="Equation.DSMT4">
                  <p:embed/>
                </p:oleObj>
              </mc:Choice>
              <mc:Fallback>
                <p:oleObj name="Equation" r:id="rId3" imgW="2108160" imgH="43164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113" y="2438400"/>
                        <a:ext cx="476408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0" y="15240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Ratio test</a:t>
            </a:r>
          </a:p>
          <a:p>
            <a:pPr algn="ctr"/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 smtClean="0">
                <a:latin typeface="Calibri" pitchFamily="34" charset="0"/>
                <a:cs typeface="Calibri" pitchFamily="34" charset="0"/>
              </a:rPr>
              <a:t>		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Suppose               and 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44057" name="Object 25"/>
          <p:cNvGraphicFramePr>
            <a:graphicFrameLocks noChangeAspect="1"/>
          </p:cNvGraphicFramePr>
          <p:nvPr/>
        </p:nvGraphicFramePr>
        <p:xfrm>
          <a:off x="3352800" y="1143000"/>
          <a:ext cx="8286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3" name="Equation" r:id="rId5" imgW="419040" imgH="228600" progId="Equation.DSMT4">
                  <p:embed/>
                </p:oleObj>
              </mc:Choice>
              <mc:Fallback>
                <p:oleObj name="Equation" r:id="rId5" imgW="419040" imgH="22860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143000"/>
                        <a:ext cx="828675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9" name="Object 27"/>
          <p:cNvGraphicFramePr>
            <a:graphicFrameLocks noChangeAspect="1"/>
          </p:cNvGraphicFramePr>
          <p:nvPr/>
        </p:nvGraphicFramePr>
        <p:xfrm>
          <a:off x="5105400" y="914400"/>
          <a:ext cx="1752600" cy="970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4" name="Equation" r:id="rId7" imgW="774360" imgH="431640" progId="Equation.DSMT4">
                  <p:embed/>
                </p:oleObj>
              </mc:Choice>
              <mc:Fallback>
                <p:oleObj name="Equation" r:id="rId7" imgW="774360" imgH="43164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914400"/>
                        <a:ext cx="1752600" cy="9706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0" name="Object 28"/>
          <p:cNvGraphicFramePr>
            <a:graphicFrameLocks noChangeAspect="1"/>
          </p:cNvGraphicFramePr>
          <p:nvPr/>
        </p:nvGraphicFramePr>
        <p:xfrm>
          <a:off x="2057400" y="3733800"/>
          <a:ext cx="4724400" cy="94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5" name="Equation" r:id="rId9" imgW="2006280" imgH="431640" progId="Equation.DSMT4">
                  <p:embed/>
                </p:oleObj>
              </mc:Choice>
              <mc:Fallback>
                <p:oleObj name="Equation" r:id="rId9" imgW="2006280" imgH="43164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733800"/>
                        <a:ext cx="4724400" cy="9454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1" name="Object 29"/>
          <p:cNvGraphicFramePr>
            <a:graphicFrameLocks noChangeAspect="1"/>
          </p:cNvGraphicFramePr>
          <p:nvPr/>
        </p:nvGraphicFramePr>
        <p:xfrm>
          <a:off x="1931770" y="5181600"/>
          <a:ext cx="523103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6" name="Equation" r:id="rId11" imgW="1879560" imgH="203040" progId="Equation.DSMT4">
                  <p:embed/>
                </p:oleObj>
              </mc:Choice>
              <mc:Fallback>
                <p:oleObj name="Equation" r:id="rId11" imgW="1879560" imgH="20304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770" y="5181600"/>
                        <a:ext cx="5231030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4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4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54" name="Object 22"/>
          <p:cNvGraphicFramePr>
            <a:graphicFrameLocks noChangeAspect="1"/>
          </p:cNvGraphicFramePr>
          <p:nvPr/>
        </p:nvGraphicFramePr>
        <p:xfrm>
          <a:off x="381000" y="304800"/>
          <a:ext cx="1192212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5" name="Equation" r:id="rId3" imgW="520560" imgH="469800" progId="Equation.DSMT4">
                  <p:embed/>
                </p:oleObj>
              </mc:Choice>
              <mc:Fallback>
                <p:oleObj name="Equation" r:id="rId3" imgW="520560" imgH="469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04800"/>
                        <a:ext cx="1192212" cy="1074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926558"/>
              </p:ext>
            </p:extLst>
          </p:nvPr>
        </p:nvGraphicFramePr>
        <p:xfrm>
          <a:off x="2667000" y="1828800"/>
          <a:ext cx="1889125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6" name="Equation" r:id="rId5" imgW="825480" imgH="888840" progId="Equation.DSMT4">
                  <p:embed/>
                </p:oleObj>
              </mc:Choice>
              <mc:Fallback>
                <p:oleObj name="Equation" r:id="rId5" imgW="825480" imgH="8888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828800"/>
                        <a:ext cx="1889125" cy="203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066800" y="51816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 Converges by the Ratio Test</a:t>
            </a:r>
          </a:p>
        </p:txBody>
      </p:sp>
      <p:graphicFrame>
        <p:nvGraphicFramePr>
          <p:cNvPr id="62471" name="Object 7"/>
          <p:cNvGraphicFramePr>
            <a:graphicFrameLocks noChangeAspect="1"/>
          </p:cNvGraphicFramePr>
          <p:nvPr/>
        </p:nvGraphicFramePr>
        <p:xfrm>
          <a:off x="4876800" y="2362200"/>
          <a:ext cx="72707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7" name="Equation" r:id="rId7" imgW="317160" imgH="393480" progId="Equation.DSMT4">
                  <p:embed/>
                </p:oleObj>
              </mc:Choice>
              <mc:Fallback>
                <p:oleObj name="Equation" r:id="rId7" imgW="317160" imgH="3934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362200"/>
                        <a:ext cx="727075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2" name="Object 8"/>
          <p:cNvGraphicFramePr>
            <a:graphicFrameLocks noChangeAspect="1"/>
          </p:cNvGraphicFramePr>
          <p:nvPr/>
        </p:nvGraphicFramePr>
        <p:xfrm>
          <a:off x="7162800" y="152400"/>
          <a:ext cx="175260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8" name="Equation" r:id="rId9" imgW="774360" imgH="431640" progId="Equation.DSMT4">
                  <p:embed/>
                </p:oleObj>
              </mc:Choice>
              <mc:Fallback>
                <p:oleObj name="Equation" r:id="rId9" imgW="774360" imgH="4316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52400"/>
                        <a:ext cx="1752600" cy="969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990600" y="381000"/>
            <a:ext cx="69342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What’s Really Happening?</a:t>
            </a:r>
          </a:p>
          <a:p>
            <a:pPr algn="ctr"/>
            <a:endParaRPr lang="en-US" sz="2400" u="sng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400" dirty="0" smtClean="0">
                <a:latin typeface="Calibri" pitchFamily="34" charset="0"/>
                <a:cs typeface="Calibri" pitchFamily="34" charset="0"/>
              </a:rPr>
              <a:t>The ratio test checks to see if the terms </a:t>
            </a:r>
            <a:br>
              <a:rPr lang="en-US" sz="2400" dirty="0" smtClean="0">
                <a:latin typeface="Calibri" pitchFamily="34" charset="0"/>
                <a:cs typeface="Calibri" pitchFamily="34" charset="0"/>
              </a:rPr>
            </a:br>
            <a:r>
              <a:rPr lang="en-US" sz="2400" dirty="0" smtClean="0">
                <a:latin typeface="Calibri" pitchFamily="34" charset="0"/>
                <a:cs typeface="Calibri" pitchFamily="34" charset="0"/>
              </a:rPr>
              <a:t>are dropping off by some factor. </a:t>
            </a:r>
          </a:p>
          <a:p>
            <a:pPr algn="ctr"/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400" dirty="0" smtClean="0">
                <a:latin typeface="Calibri" pitchFamily="34" charset="0"/>
                <a:cs typeface="Calibri" pitchFamily="34" charset="0"/>
              </a:rPr>
              <a:t>This is great for series with an 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r</a:t>
            </a:r>
            <a:r>
              <a:rPr lang="en-US" sz="2400" baseline="30000" dirty="0" err="1" smtClean="0">
                <a:latin typeface="Calibri" pitchFamily="34" charset="0"/>
                <a:cs typeface="Calibri" pitchFamily="34" charset="0"/>
              </a:rPr>
              <a:t>k</a:t>
            </a:r>
            <a:r>
              <a:rPr lang="en-US" sz="2400" baseline="30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or a k!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54" name="Object 22"/>
          <p:cNvGraphicFramePr>
            <a:graphicFrameLocks noChangeAspect="1"/>
          </p:cNvGraphicFramePr>
          <p:nvPr/>
        </p:nvGraphicFramePr>
        <p:xfrm>
          <a:off x="152400" y="228600"/>
          <a:ext cx="1185386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1" name="Equation" r:id="rId3" imgW="545760" imgH="431640" progId="Equation.DSMT4">
                  <p:embed/>
                </p:oleObj>
              </mc:Choice>
              <mc:Fallback>
                <p:oleObj name="Equation" r:id="rId3" imgW="545760" imgH="4316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28600"/>
                        <a:ext cx="1185386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6" name="Object 24"/>
          <p:cNvGraphicFramePr>
            <a:graphicFrameLocks noChangeAspect="1"/>
          </p:cNvGraphicFramePr>
          <p:nvPr/>
        </p:nvGraphicFramePr>
        <p:xfrm>
          <a:off x="1752600" y="1295400"/>
          <a:ext cx="1905000" cy="174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2" name="Equation" r:id="rId5" imgW="876240" imgH="761760" progId="Equation.DSMT4">
                  <p:embed/>
                </p:oleObj>
              </mc:Choice>
              <mc:Fallback>
                <p:oleObj name="Equation" r:id="rId5" imgW="876240" imgH="76176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295400"/>
                        <a:ext cx="1905000" cy="174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0" y="228600"/>
            <a:ext cx="434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Ratio Test is no help, </a:t>
            </a:r>
            <a:b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</a:b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but we know it </a:t>
            </a:r>
            <a:r>
              <a:rPr lang="en-US" sz="2400" dirty="0" smtClean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diverges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.</a:t>
            </a:r>
          </a:p>
        </p:txBody>
      </p:sp>
      <p:graphicFrame>
        <p:nvGraphicFramePr>
          <p:cNvPr id="24" name="Object 22"/>
          <p:cNvGraphicFramePr>
            <a:graphicFrameLocks noChangeAspect="1"/>
          </p:cNvGraphicFramePr>
          <p:nvPr/>
        </p:nvGraphicFramePr>
        <p:xfrm>
          <a:off x="152400" y="3429000"/>
          <a:ext cx="13239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3" name="Equation" r:id="rId7" imgW="609480" imgH="431640" progId="Equation.DSMT4">
                  <p:embed/>
                </p:oleObj>
              </mc:Choice>
              <mc:Fallback>
                <p:oleObj name="Equation" r:id="rId7" imgW="609480" imgH="43164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429000"/>
                        <a:ext cx="1323975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0" name="Object 24"/>
          <p:cNvGraphicFramePr>
            <a:graphicFrameLocks noChangeAspect="1"/>
          </p:cNvGraphicFramePr>
          <p:nvPr/>
        </p:nvGraphicFramePr>
        <p:xfrm>
          <a:off x="3886200" y="1752600"/>
          <a:ext cx="19050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4" name="Equation" r:id="rId9" imgW="876240" imgH="393480" progId="Equation.DSMT4">
                  <p:embed/>
                </p:oleObj>
              </mc:Choice>
              <mc:Fallback>
                <p:oleObj name="Equation" r:id="rId9" imgW="876240" imgH="39348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752600"/>
                        <a:ext cx="1905000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1" name="Object 25"/>
          <p:cNvGraphicFramePr>
            <a:graphicFrameLocks noChangeAspect="1"/>
          </p:cNvGraphicFramePr>
          <p:nvPr/>
        </p:nvGraphicFramePr>
        <p:xfrm>
          <a:off x="6029325" y="2000250"/>
          <a:ext cx="5238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5" name="Equation" r:id="rId11" imgW="241200" imgH="203040" progId="Equation.DSMT4">
                  <p:embed/>
                </p:oleObj>
              </mc:Choice>
              <mc:Fallback>
                <p:oleObj name="Equation" r:id="rId11" imgW="241200" imgH="20304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9325" y="2000250"/>
                        <a:ext cx="523875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2" name="Object 26"/>
          <p:cNvGraphicFramePr>
            <a:graphicFrameLocks noChangeAspect="1"/>
          </p:cNvGraphicFramePr>
          <p:nvPr/>
        </p:nvGraphicFramePr>
        <p:xfrm>
          <a:off x="1143000" y="4648200"/>
          <a:ext cx="2705100" cy="179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6" name="Equation" r:id="rId13" imgW="1244520" imgH="787320" progId="Equation.DSMT4">
                  <p:embed/>
                </p:oleObj>
              </mc:Choice>
              <mc:Fallback>
                <p:oleObj name="Equation" r:id="rId13" imgW="1244520" imgH="78732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648200"/>
                        <a:ext cx="2705100" cy="179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3" name="Object 27"/>
          <p:cNvGraphicFramePr>
            <a:graphicFrameLocks noChangeAspect="1"/>
          </p:cNvGraphicFramePr>
          <p:nvPr/>
        </p:nvGraphicFramePr>
        <p:xfrm>
          <a:off x="3962400" y="5029200"/>
          <a:ext cx="2733675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7" name="Equation" r:id="rId15" imgW="1257120" imgH="444240" progId="Equation.DSMT4">
                  <p:embed/>
                </p:oleObj>
              </mc:Choice>
              <mc:Fallback>
                <p:oleObj name="Equation" r:id="rId15" imgW="1257120" imgH="44424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029200"/>
                        <a:ext cx="2733675" cy="1017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4" name="Object 28"/>
          <p:cNvGraphicFramePr>
            <a:graphicFrameLocks noChangeAspect="1"/>
          </p:cNvGraphicFramePr>
          <p:nvPr/>
        </p:nvGraphicFramePr>
        <p:xfrm>
          <a:off x="6781800" y="5326062"/>
          <a:ext cx="52387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8" name="Equation" r:id="rId17" imgW="241200" imgH="203040" progId="Equation.DSMT4">
                  <p:embed/>
                </p:oleObj>
              </mc:Choice>
              <mc:Fallback>
                <p:oleObj name="Equation" r:id="rId17" imgW="241200" imgH="20304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326062"/>
                        <a:ext cx="523875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648200" y="3581400"/>
            <a:ext cx="434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Ratio Test is no help, </a:t>
            </a:r>
            <a:b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</a:b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but we know it </a:t>
            </a:r>
            <a:r>
              <a:rPr lang="en-US" sz="2400" dirty="0" smtClean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converges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0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0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0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0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0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2"/>
          <p:cNvGraphicFramePr>
            <a:graphicFrameLocks noChangeAspect="1"/>
          </p:cNvGraphicFramePr>
          <p:nvPr/>
        </p:nvGraphicFramePr>
        <p:xfrm>
          <a:off x="228600" y="381000"/>
          <a:ext cx="1516063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6" name="Equation" r:id="rId3" imgW="698400" imgH="469800" progId="Equation.DSMT4">
                  <p:embed/>
                </p:oleObj>
              </mc:Choice>
              <mc:Fallback>
                <p:oleObj name="Equation" r:id="rId3" imgW="698400" imgH="4698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1000"/>
                        <a:ext cx="1516063" cy="1074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3" name="Object 17"/>
          <p:cNvGraphicFramePr>
            <a:graphicFrameLocks noChangeAspect="1"/>
          </p:cNvGraphicFramePr>
          <p:nvPr/>
        </p:nvGraphicFramePr>
        <p:xfrm>
          <a:off x="2743200" y="3429000"/>
          <a:ext cx="43878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7" name="Equation" r:id="rId5" imgW="2019240" imgH="469800" progId="Equation.DSMT4">
                  <p:embed/>
                </p:oleObj>
              </mc:Choice>
              <mc:Fallback>
                <p:oleObj name="Equation" r:id="rId5" imgW="2019240" imgH="4698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429000"/>
                        <a:ext cx="4387850" cy="1073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4" name="Object 18"/>
          <p:cNvGraphicFramePr>
            <a:graphicFrameLocks noChangeAspect="1"/>
          </p:cNvGraphicFramePr>
          <p:nvPr/>
        </p:nvGraphicFramePr>
        <p:xfrm>
          <a:off x="2971800" y="4953000"/>
          <a:ext cx="126841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8" name="Equation" r:id="rId7" imgW="583920" imgH="393480" progId="Equation.DSMT4">
                  <p:embed/>
                </p:oleObj>
              </mc:Choice>
              <mc:Fallback>
                <p:oleObj name="Equation" r:id="rId7" imgW="583920" imgH="39348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953000"/>
                        <a:ext cx="1268413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572000" y="6248400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So converges by the Ratio Test</a:t>
            </a:r>
          </a:p>
        </p:txBody>
      </p:sp>
      <p:graphicFrame>
        <p:nvGraphicFramePr>
          <p:cNvPr id="64525" name="Object 13"/>
          <p:cNvGraphicFramePr>
            <a:graphicFrameLocks noChangeAspect="1"/>
          </p:cNvGraphicFramePr>
          <p:nvPr/>
        </p:nvGraphicFramePr>
        <p:xfrm>
          <a:off x="3276600" y="1524000"/>
          <a:ext cx="16827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9" name="Equation" r:id="rId9" imgW="774360" imgH="469800" progId="Equation.DSMT4">
                  <p:embed/>
                </p:oleObj>
              </mc:Choice>
              <mc:Fallback>
                <p:oleObj name="Equation" r:id="rId9" imgW="774360" imgH="46980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524000"/>
                        <a:ext cx="1682750" cy="1073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185459"/>
              </p:ext>
            </p:extLst>
          </p:nvPr>
        </p:nvGraphicFramePr>
        <p:xfrm>
          <a:off x="5105400" y="1600200"/>
          <a:ext cx="110331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0" name="Equation" r:id="rId11" imgW="507960" imgH="393480" progId="Equation.DSMT4">
                  <p:embed/>
                </p:oleObj>
              </mc:Choice>
              <mc:Fallback>
                <p:oleObj name="Equation" r:id="rId11" imgW="507960" imgH="39348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600200"/>
                        <a:ext cx="1103313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7" name="Object 15"/>
          <p:cNvGraphicFramePr>
            <a:graphicFrameLocks noChangeAspect="1"/>
          </p:cNvGraphicFramePr>
          <p:nvPr/>
        </p:nvGraphicFramePr>
        <p:xfrm>
          <a:off x="4495800" y="5257800"/>
          <a:ext cx="579437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51" name="Equation" r:id="rId13" imgW="266400" imgH="203040" progId="Equation.DSMT4">
                  <p:embed/>
                </p:oleObj>
              </mc:Choice>
              <mc:Fallback>
                <p:oleObj name="Equation" r:id="rId13" imgW="266400" imgH="20304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257800"/>
                        <a:ext cx="579437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4343400" y="4114800"/>
            <a:ext cx="1295400" cy="1524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10250" y="3629025"/>
            <a:ext cx="1295400" cy="1524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4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4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0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0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0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4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4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332143"/>
              </p:ext>
            </p:extLst>
          </p:nvPr>
        </p:nvGraphicFramePr>
        <p:xfrm>
          <a:off x="228600" y="228600"/>
          <a:ext cx="8826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7" name="Equation" r:id="rId3" imgW="406080" imgH="444240" progId="Equation.DSMT4">
                  <p:embed/>
                </p:oleObj>
              </mc:Choice>
              <mc:Fallback>
                <p:oleObj name="Equation" r:id="rId3" imgW="406080" imgH="4442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8600"/>
                        <a:ext cx="882650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801365"/>
              </p:ext>
            </p:extLst>
          </p:nvPr>
        </p:nvGraphicFramePr>
        <p:xfrm>
          <a:off x="3146425" y="152400"/>
          <a:ext cx="2979738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8" name="Equation" r:id="rId5" imgW="1371600" imgH="507960" progId="Equation.DSMT4">
                  <p:embed/>
                </p:oleObj>
              </mc:Choice>
              <mc:Fallback>
                <p:oleObj name="Equation" r:id="rId5" imgW="1371600" imgH="50796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425" y="152400"/>
                        <a:ext cx="2979738" cy="1160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578604"/>
              </p:ext>
            </p:extLst>
          </p:nvPr>
        </p:nvGraphicFramePr>
        <p:xfrm>
          <a:off x="381000" y="3733800"/>
          <a:ext cx="1738313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9" name="Equation" r:id="rId7" imgW="799920" imgH="457200" progId="Equation.DSMT4">
                  <p:embed/>
                </p:oleObj>
              </mc:Choice>
              <mc:Fallback>
                <p:oleObj name="Equation" r:id="rId7" imgW="799920" imgH="4572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733800"/>
                        <a:ext cx="1738313" cy="104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619623"/>
              </p:ext>
            </p:extLst>
          </p:nvPr>
        </p:nvGraphicFramePr>
        <p:xfrm>
          <a:off x="4589463" y="3810000"/>
          <a:ext cx="2100262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0" name="Equation" r:id="rId9" imgW="965160" imgH="469800" progId="Equation.DSMT4">
                  <p:embed/>
                </p:oleObj>
              </mc:Choice>
              <mc:Fallback>
                <p:oleObj name="Equation" r:id="rId9" imgW="965160" imgH="4698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9463" y="3810000"/>
                        <a:ext cx="2100262" cy="1074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2743200" y="571500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alibri" pitchFamily="34" charset="0"/>
                <a:cs typeface="Calibri" pitchFamily="34" charset="0"/>
              </a:rPr>
              <a:t>Diverges by the Ratio Test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073649"/>
              </p:ext>
            </p:extLst>
          </p:nvPr>
        </p:nvGraphicFramePr>
        <p:xfrm>
          <a:off x="1606550" y="1752600"/>
          <a:ext cx="6569075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1" name="Equation" r:id="rId11" imgW="3022560" imgH="507960" progId="Equation.DSMT4">
                  <p:embed/>
                </p:oleObj>
              </mc:Choice>
              <mc:Fallback>
                <p:oleObj name="Equation" r:id="rId11" imgW="3022560" imgH="50796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1752600"/>
                        <a:ext cx="6569075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3352800" y="2514600"/>
            <a:ext cx="2286000" cy="1524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867400" y="2028825"/>
            <a:ext cx="2286000" cy="1524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2495550" y="2505075"/>
            <a:ext cx="838200" cy="2286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419600" y="1866900"/>
            <a:ext cx="228600" cy="1143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705023"/>
              </p:ext>
            </p:extLst>
          </p:nvPr>
        </p:nvGraphicFramePr>
        <p:xfrm>
          <a:off x="2266950" y="3810000"/>
          <a:ext cx="2236788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2" name="Equation" r:id="rId13" imgW="1028520" imgH="469800" progId="Equation.DSMT4">
                  <p:embed/>
                </p:oleObj>
              </mc:Choice>
              <mc:Fallback>
                <p:oleObj name="Equation" r:id="rId13" imgW="1028520" imgH="469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3810000"/>
                        <a:ext cx="2236788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367600"/>
              </p:ext>
            </p:extLst>
          </p:nvPr>
        </p:nvGraphicFramePr>
        <p:xfrm>
          <a:off x="6858000" y="4267200"/>
          <a:ext cx="60642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3" name="Equation" r:id="rId15" imgW="279360" imgH="164880" progId="Equation.DSMT4">
                  <p:embed/>
                </p:oleObj>
              </mc:Choice>
              <mc:Fallback>
                <p:oleObj name="Equation" r:id="rId15" imgW="279360" imgH="1648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267200"/>
                        <a:ext cx="60642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5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997807"/>
              </p:ext>
            </p:extLst>
          </p:nvPr>
        </p:nvGraphicFramePr>
        <p:xfrm>
          <a:off x="3352800" y="214266"/>
          <a:ext cx="1098319" cy="1009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4" name="Equation" r:id="rId3" imgW="495000" imgH="431640" progId="Equation.DSMT4">
                  <p:embed/>
                </p:oleObj>
              </mc:Choice>
              <mc:Fallback>
                <p:oleObj name="Equation" r:id="rId3" imgW="49500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4266"/>
                        <a:ext cx="1098319" cy="10090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0" y="457201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Find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all  x&gt;0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so that               converges.  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698749"/>
              </p:ext>
            </p:extLst>
          </p:nvPr>
        </p:nvGraphicFramePr>
        <p:xfrm>
          <a:off x="777875" y="1524000"/>
          <a:ext cx="2482850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5" name="Equation" r:id="rId5" imgW="1143000" imgH="495000" progId="Equation.DSMT4">
                  <p:embed/>
                </p:oleObj>
              </mc:Choice>
              <mc:Fallback>
                <p:oleObj name="Equation" r:id="rId5" imgW="1143000" imgH="4950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1524000"/>
                        <a:ext cx="2482850" cy="1131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105650" y="487978"/>
            <a:ext cx="201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Try Ratio Test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50" y="3429000"/>
            <a:ext cx="754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the series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converges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if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0 ≤ x &lt; 1</a:t>
            </a:r>
          </a:p>
          <a:p>
            <a:pPr algn="ctr"/>
            <a:r>
              <a:rPr lang="en-US" sz="2800" dirty="0">
                <a:latin typeface="Calibri" pitchFamily="34" charset="0"/>
                <a:cs typeface="Calibri" pitchFamily="34" charset="0"/>
              </a:rPr>
              <a:t>a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nd diverges if  x &gt; 1.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150" y="4724400"/>
            <a:ext cx="838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We must check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x=1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separately.</a:t>
            </a:r>
          </a:p>
          <a:p>
            <a:pPr algn="ctr"/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                      diverges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our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answer is [0,1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).  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426431"/>
              </p:ext>
            </p:extLst>
          </p:nvPr>
        </p:nvGraphicFramePr>
        <p:xfrm>
          <a:off x="1981200" y="5391491"/>
          <a:ext cx="771525" cy="952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6" name="Equation" r:id="rId7" imgW="368280" imgH="431640" progId="Equation.DSMT4">
                  <p:embed/>
                </p:oleObj>
              </mc:Choice>
              <mc:Fallback>
                <p:oleObj name="Equation" r:id="rId7" imgW="368280" imgH="43164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391491"/>
                        <a:ext cx="771525" cy="9521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553883"/>
              </p:ext>
            </p:extLst>
          </p:nvPr>
        </p:nvGraphicFramePr>
        <p:xfrm>
          <a:off x="3200400" y="1524000"/>
          <a:ext cx="2427287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7" name="Equation" r:id="rId9" imgW="1117440" imgH="457200" progId="Equation.DSMT4">
                  <p:embed/>
                </p:oleObj>
              </mc:Choice>
              <mc:Fallback>
                <p:oleObj name="Equation" r:id="rId9" imgW="1117440" imgH="4572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524000"/>
                        <a:ext cx="2427287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525170"/>
              </p:ext>
            </p:extLst>
          </p:nvPr>
        </p:nvGraphicFramePr>
        <p:xfrm>
          <a:off x="5867400" y="1981200"/>
          <a:ext cx="6350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8" name="Equation" r:id="rId11" imgW="291960" imgH="164880" progId="Equation.DSMT4">
                  <p:embed/>
                </p:oleObj>
              </mc:Choice>
              <mc:Fallback>
                <p:oleObj name="Equation" r:id="rId11" imgW="291960" imgH="1648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981200"/>
                        <a:ext cx="6350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686124"/>
              </p:ext>
            </p:extLst>
          </p:nvPr>
        </p:nvGraphicFramePr>
        <p:xfrm>
          <a:off x="6086475" y="19050"/>
          <a:ext cx="1963738" cy="1066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4" name="Equation" r:id="rId3" imgW="838080" imgH="431640" progId="Equation.DSMT4">
                  <p:embed/>
                </p:oleObj>
              </mc:Choice>
              <mc:Fallback>
                <p:oleObj name="Equation" r:id="rId3" imgW="838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6475" y="19050"/>
                        <a:ext cx="1963738" cy="10664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228600" y="314980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A better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example for future purposes is</a:t>
            </a:r>
          </a:p>
        </p:txBody>
      </p:sp>
      <p:graphicFrame>
        <p:nvGraphicFramePr>
          <p:cNvPr id="614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329157"/>
              </p:ext>
            </p:extLst>
          </p:nvPr>
        </p:nvGraphicFramePr>
        <p:xfrm>
          <a:off x="238125" y="1295400"/>
          <a:ext cx="361315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5" name="Equation" r:id="rId5" imgW="1663560" imgH="495000" progId="Equation.DSMT4">
                  <p:embed/>
                </p:oleObj>
              </mc:Choice>
              <mc:Fallback>
                <p:oleObj name="Equation" r:id="rId5" imgW="16635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" y="1295400"/>
                        <a:ext cx="3613150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783089"/>
              </p:ext>
            </p:extLst>
          </p:nvPr>
        </p:nvGraphicFramePr>
        <p:xfrm>
          <a:off x="4037012" y="2895600"/>
          <a:ext cx="1906588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6" name="Equation" r:id="rId7" imgW="711000" imgH="203040" progId="Equation.DSMT4">
                  <p:embed/>
                </p:oleObj>
              </mc:Choice>
              <mc:Fallback>
                <p:oleObj name="Equation" r:id="rId7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7012" y="2895600"/>
                        <a:ext cx="1906588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3065462" y="28956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Solve</a:t>
            </a:r>
          </a:p>
        </p:txBody>
      </p:sp>
      <p:graphicFrame>
        <p:nvGraphicFramePr>
          <p:cNvPr id="6145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860817"/>
              </p:ext>
            </p:extLst>
          </p:nvPr>
        </p:nvGraphicFramePr>
        <p:xfrm>
          <a:off x="3352800" y="3733800"/>
          <a:ext cx="23622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7" name="Equation" r:id="rId9" imgW="698400" imgH="203040" progId="Equation.DSMT4">
                  <p:embed/>
                </p:oleObj>
              </mc:Choice>
              <mc:Fallback>
                <p:oleObj name="Equation" r:id="rId9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733800"/>
                        <a:ext cx="23622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57200" y="4724400"/>
            <a:ext cx="8305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We also have to check x=4 and x=6.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Diverges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our answer is (4,6).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769707"/>
              </p:ext>
            </p:extLst>
          </p:nvPr>
        </p:nvGraphicFramePr>
        <p:xfrm>
          <a:off x="3810000" y="1676400"/>
          <a:ext cx="14605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8" name="Equation" r:id="rId11" imgW="672840" imgH="203040" progId="Equation.DSMT4">
                  <p:embed/>
                </p:oleObj>
              </mc:Choice>
              <mc:Fallback>
                <p:oleObj name="Equation" r:id="rId11" imgW="672840" imgH="2030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676400"/>
                        <a:ext cx="14605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407124"/>
              </p:ext>
            </p:extLst>
          </p:nvPr>
        </p:nvGraphicFramePr>
        <p:xfrm>
          <a:off x="3505200" y="5003340"/>
          <a:ext cx="668337" cy="827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9" name="Equation" r:id="rId13" imgW="368280" imgH="431640" progId="Equation.DSMT4">
                  <p:embed/>
                </p:oleObj>
              </mc:Choice>
              <mc:Fallback>
                <p:oleObj name="Equation" r:id="rId13" imgW="36828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003340"/>
                        <a:ext cx="668337" cy="827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788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1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ct 40"/>
          <p:cNvGraphicFramePr>
            <a:graphicFrameLocks noChangeAspect="1"/>
          </p:cNvGraphicFramePr>
          <p:nvPr/>
        </p:nvGraphicFramePr>
        <p:xfrm>
          <a:off x="2170113" y="2438400"/>
          <a:ext cx="47640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1" name="Equation" r:id="rId3" imgW="2108160" imgH="431640" progId="Equation.DSMT4">
                  <p:embed/>
                </p:oleObj>
              </mc:Choice>
              <mc:Fallback>
                <p:oleObj name="Equation" r:id="rId3" imgW="2108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113" y="2438400"/>
                        <a:ext cx="476408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0" y="15240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Root 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test</a:t>
            </a:r>
          </a:p>
          <a:p>
            <a:pPr algn="ctr"/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 smtClean="0">
                <a:latin typeface="Calibri" pitchFamily="34" charset="0"/>
                <a:cs typeface="Calibri" pitchFamily="34" charset="0"/>
              </a:rPr>
              <a:t>		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Suppose               and 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44057" name="Object 25"/>
          <p:cNvGraphicFramePr>
            <a:graphicFrameLocks noChangeAspect="1"/>
          </p:cNvGraphicFramePr>
          <p:nvPr/>
        </p:nvGraphicFramePr>
        <p:xfrm>
          <a:off x="3352800" y="1143000"/>
          <a:ext cx="8286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2" name="Equation" r:id="rId5" imgW="419040" imgH="228600" progId="Equation.DSMT4">
                  <p:embed/>
                </p:oleObj>
              </mc:Choice>
              <mc:Fallback>
                <p:oleObj name="Equation" r:id="rId5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143000"/>
                        <a:ext cx="828675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975617"/>
              </p:ext>
            </p:extLst>
          </p:nvPr>
        </p:nvGraphicFramePr>
        <p:xfrm>
          <a:off x="5048250" y="1038225"/>
          <a:ext cx="18669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3" name="Equation" r:id="rId7" imgW="825480" imgH="304560" progId="Equation.DSMT4">
                  <p:embed/>
                </p:oleObj>
              </mc:Choice>
              <mc:Fallback>
                <p:oleObj name="Equation" r:id="rId7" imgW="8254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0" y="1038225"/>
                        <a:ext cx="1866900" cy="684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0" name="Object 28"/>
          <p:cNvGraphicFramePr>
            <a:graphicFrameLocks noChangeAspect="1"/>
          </p:cNvGraphicFramePr>
          <p:nvPr/>
        </p:nvGraphicFramePr>
        <p:xfrm>
          <a:off x="2057400" y="3733800"/>
          <a:ext cx="4724400" cy="94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4" name="Equation" r:id="rId9" imgW="2006280" imgH="431640" progId="Equation.DSMT4">
                  <p:embed/>
                </p:oleObj>
              </mc:Choice>
              <mc:Fallback>
                <p:oleObj name="Equation" r:id="rId9" imgW="2006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733800"/>
                        <a:ext cx="4724400" cy="9454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1" name="Object 29"/>
          <p:cNvGraphicFramePr>
            <a:graphicFrameLocks noChangeAspect="1"/>
          </p:cNvGraphicFramePr>
          <p:nvPr/>
        </p:nvGraphicFramePr>
        <p:xfrm>
          <a:off x="1931770" y="5181600"/>
          <a:ext cx="523103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5" name="Equation" r:id="rId11" imgW="1879560" imgH="203040" progId="Equation.DSMT4">
                  <p:embed/>
                </p:oleObj>
              </mc:Choice>
              <mc:Fallback>
                <p:oleObj name="Equation" r:id="rId11" imgW="1879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770" y="5181600"/>
                        <a:ext cx="5231030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380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4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4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0" y="381000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Aside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The root test is little harder to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apply than the ratio test,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but it’s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more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powerful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74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5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58203"/>
              </p:ext>
            </p:extLst>
          </p:nvPr>
        </p:nvGraphicFramePr>
        <p:xfrm>
          <a:off x="292100" y="228600"/>
          <a:ext cx="13081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0" name="Equation" r:id="rId3" imgW="571320" imgH="431640" progId="Equation.DSMT4">
                  <p:embed/>
                </p:oleObj>
              </mc:Choice>
              <mc:Fallback>
                <p:oleObj name="Equation" r:id="rId3" imgW="571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" y="228600"/>
                        <a:ext cx="130810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500501"/>
              </p:ext>
            </p:extLst>
          </p:nvPr>
        </p:nvGraphicFramePr>
        <p:xfrm>
          <a:off x="2362200" y="1447800"/>
          <a:ext cx="18034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1" name="Equation" r:id="rId5" imgW="787320" imgH="330120" progId="Equation.DSMT4">
                  <p:embed/>
                </p:oleObj>
              </mc:Choice>
              <mc:Fallback>
                <p:oleObj name="Equation" r:id="rId5" imgW="7873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447800"/>
                        <a:ext cx="1803400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885950" y="394335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our series diverges by the root test.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4406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52724"/>
              </p:ext>
            </p:extLst>
          </p:nvPr>
        </p:nvGraphicFramePr>
        <p:xfrm>
          <a:off x="4471987" y="1371600"/>
          <a:ext cx="145256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2" name="Equation" r:id="rId7" imgW="634680" imgH="393480" progId="Equation.DSMT4">
                  <p:embed/>
                </p:oleObj>
              </mc:Choice>
              <mc:Fallback>
                <p:oleObj name="Equation" r:id="rId7" imgW="634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7" y="1371600"/>
                        <a:ext cx="1452563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314467"/>
              </p:ext>
            </p:extLst>
          </p:nvPr>
        </p:nvGraphicFramePr>
        <p:xfrm>
          <a:off x="6078537" y="1676400"/>
          <a:ext cx="7254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3" name="Equation" r:id="rId9" imgW="317160" imgH="164880" progId="Equation.DSMT4">
                  <p:embed/>
                </p:oleObj>
              </mc:Choice>
              <mc:Fallback>
                <p:oleObj name="Equation" r:id="rId9" imgW="317160" imgH="16488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8537" y="1676400"/>
                        <a:ext cx="725488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474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4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360988"/>
              </p:ext>
            </p:extLst>
          </p:nvPr>
        </p:nvGraphicFramePr>
        <p:xfrm>
          <a:off x="304800" y="152400"/>
          <a:ext cx="901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5" name="Equation" r:id="rId3" imgW="393480" imgH="444240" progId="Equation.DSMT4">
                  <p:embed/>
                </p:oleObj>
              </mc:Choice>
              <mc:Fallback>
                <p:oleObj name="Equation" r:id="rId3" imgW="393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52400"/>
                        <a:ext cx="901700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911475"/>
              </p:ext>
            </p:extLst>
          </p:nvPr>
        </p:nvGraphicFramePr>
        <p:xfrm>
          <a:off x="1828800" y="1676400"/>
          <a:ext cx="127952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6" name="Equation" r:id="rId5" imgW="558720" imgH="457200" progId="Equation.DSMT4">
                  <p:embed/>
                </p:oleObj>
              </mc:Choice>
              <mc:Fallback>
                <p:oleObj name="Equation" r:id="rId5" imgW="5587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676400"/>
                        <a:ext cx="1279525" cy="1046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209800" y="5638800"/>
            <a:ext cx="601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So our series converges by the root test.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462941"/>
              </p:ext>
            </p:extLst>
          </p:nvPr>
        </p:nvGraphicFramePr>
        <p:xfrm>
          <a:off x="3489325" y="1552575"/>
          <a:ext cx="214947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7" name="Equation" r:id="rId7" imgW="939600" imgH="520560" progId="Equation.DSMT4">
                  <p:embed/>
                </p:oleObj>
              </mc:Choice>
              <mc:Fallback>
                <p:oleObj name="Equation" r:id="rId7" imgW="9396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325" y="1552575"/>
                        <a:ext cx="2149475" cy="1190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897149"/>
              </p:ext>
            </p:extLst>
          </p:nvPr>
        </p:nvGraphicFramePr>
        <p:xfrm>
          <a:off x="5257800" y="3276600"/>
          <a:ext cx="360045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8" name="Equation" r:id="rId9" imgW="1574640" imgH="304560" progId="Equation.DSMT4">
                  <p:embed/>
                </p:oleObj>
              </mc:Choice>
              <mc:Fallback>
                <p:oleObj name="Equation" r:id="rId9" imgW="15746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276600"/>
                        <a:ext cx="3600450" cy="69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869126"/>
              </p:ext>
            </p:extLst>
          </p:nvPr>
        </p:nvGraphicFramePr>
        <p:xfrm>
          <a:off x="5867400" y="1828800"/>
          <a:ext cx="8128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9" name="Equation" r:id="rId11" imgW="355320" imgH="393480" progId="Equation.DSMT4">
                  <p:embed/>
                </p:oleObj>
              </mc:Choice>
              <mc:Fallback>
                <p:oleObj name="Equation" r:id="rId11" imgW="355320" imgH="39348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828800"/>
                        <a:ext cx="8128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474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1508</TotalTime>
  <Words>161</Words>
  <Application>Microsoft Office PowerPoint</Application>
  <PresentationFormat>On-screen Show (4:3)</PresentationFormat>
  <Paragraphs>36</Paragraphs>
  <Slides>13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theme</vt:lpstr>
      <vt:lpstr>Equation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522</cp:revision>
  <dcterms:created xsi:type="dcterms:W3CDTF">2006-08-16T00:00:00Z</dcterms:created>
  <dcterms:modified xsi:type="dcterms:W3CDTF">2011-03-30T05:12:24Z</dcterms:modified>
</cp:coreProperties>
</file>