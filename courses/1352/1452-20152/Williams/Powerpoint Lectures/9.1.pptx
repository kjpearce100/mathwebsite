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61" r:id="rId4"/>
    <p:sldId id="260" r:id="rId5"/>
    <p:sldId id="262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77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4/17/2011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371600" y="3136375"/>
            <a:ext cx="768870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Section 9.1: Vectors 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in </a:t>
            </a:r>
            <a:r>
              <a:rPr lang="en-US" sz="4400" b="1" dirty="0" smtClean="0">
                <a:latin typeface="Calibri" pitchFamily="34" charset="0"/>
                <a:cs typeface="Calibri" pitchFamily="34" charset="0"/>
              </a:rPr>
              <a:t>the Plane</a:t>
            </a:r>
            <a:endParaRPr lang="en-US" sz="4400" b="1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228600" y="609600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A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vector in R</a:t>
            </a:r>
            <a:r>
              <a:rPr lang="en-US" sz="3200" baseline="300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2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has two components. 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expresses magnitude and direction. 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Imagine an arrow with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terminal and initial points.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9441" y="2736542"/>
            <a:ext cx="8686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vector from (1,2) to (4,8)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is 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   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&lt; 3, 6 &gt;</a:t>
            </a:r>
            <a:endParaRPr lang="en-US" sz="3200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     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It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can a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lso be written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3</a:t>
            </a:r>
            <a:r>
              <a:rPr lang="en-US" sz="32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i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+ 6</a:t>
            </a:r>
            <a:r>
              <a:rPr lang="en-US" sz="3200" b="1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j</a:t>
            </a:r>
            <a:endParaRPr lang="en-US" sz="3200" b="1" dirty="0" smtClean="0">
              <a:solidFill>
                <a:schemeClr val="accent1"/>
              </a:solidFill>
              <a:latin typeface="Calibri" pitchFamily="34" charset="0"/>
              <a:cs typeface="Calibri" pitchFamily="34" charset="0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 rot="5400000">
            <a:off x="5155387" y="5638243"/>
            <a:ext cx="2132119" cy="2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98807" y="6094836"/>
            <a:ext cx="2490559" cy="31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595031" y="4876483"/>
            <a:ext cx="996224" cy="76147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591255" y="4419600"/>
            <a:ext cx="837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(4,8) </a:t>
            </a:r>
            <a:endParaRPr lang="en-US" sz="2400" b="1" dirty="0">
              <a:solidFill>
                <a:srgbClr val="00206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6221445" y="5725761"/>
            <a:ext cx="8370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002060"/>
                </a:solidFill>
                <a:latin typeface="Calibri" pitchFamily="34" charset="0"/>
                <a:cs typeface="Calibri" pitchFamily="34" charset="0"/>
              </a:rPr>
              <a:t>(1,2) </a:t>
            </a:r>
            <a:endParaRPr lang="en-US" sz="2400" b="1" dirty="0">
              <a:solidFill>
                <a:srgbClr val="00206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8" grpId="0" uiExpand="1" build="p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152400" y="228600"/>
            <a:ext cx="86868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A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“regular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old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number”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is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called a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scalar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.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We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can add vectors and multiply by scalars.</a:t>
            </a:r>
          </a:p>
        </p:txBody>
      </p:sp>
      <p:graphicFrame>
        <p:nvGraphicFramePr>
          <p:cNvPr id="2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0874310"/>
              </p:ext>
            </p:extLst>
          </p:nvPr>
        </p:nvGraphicFramePr>
        <p:xfrm>
          <a:off x="1219200" y="1957526"/>
          <a:ext cx="4076700" cy="6332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1" name="Equation" r:id="rId3" imgW="1307880" imgH="203040" progId="Equation.DSMT4">
                  <p:embed/>
                </p:oleObj>
              </mc:Choice>
              <mc:Fallback>
                <p:oleObj name="Equation" r:id="rId3" imgW="1307880" imgH="2030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1957526"/>
                        <a:ext cx="4076700" cy="63327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6421761"/>
              </p:ext>
            </p:extLst>
          </p:nvPr>
        </p:nvGraphicFramePr>
        <p:xfrm>
          <a:off x="5515992" y="1956924"/>
          <a:ext cx="2561207" cy="6020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2" name="Equation" r:id="rId5" imgW="863280" imgH="203040" progId="Equation.DSMT4">
                  <p:embed/>
                </p:oleObj>
              </mc:Choice>
              <mc:Fallback>
                <p:oleObj name="Equation" r:id="rId5" imgW="86328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5992" y="1956924"/>
                        <a:ext cx="2561207" cy="6020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990107"/>
              </p:ext>
            </p:extLst>
          </p:nvPr>
        </p:nvGraphicFramePr>
        <p:xfrm>
          <a:off x="2362200" y="4876800"/>
          <a:ext cx="181307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3" name="Equation" r:id="rId7" imgW="596880" imgH="203040" progId="Equation.DSMT4">
                  <p:embed/>
                </p:oleObj>
              </mc:Choice>
              <mc:Fallback>
                <p:oleObj name="Equation" r:id="rId7" imgW="596880" imgH="20304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4876800"/>
                        <a:ext cx="181307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4034334"/>
              </p:ext>
            </p:extLst>
          </p:nvPr>
        </p:nvGraphicFramePr>
        <p:xfrm>
          <a:off x="4495800" y="4876800"/>
          <a:ext cx="2585498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54" name="Equation" r:id="rId9" imgW="850680" imgH="203040" progId="Equation.DSMT4">
                  <p:embed/>
                </p:oleObj>
              </mc:Choice>
              <mc:Fallback>
                <p:oleObj name="Equation" r:id="rId9" imgW="850680" imgH="20304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5800" y="4876800"/>
                        <a:ext cx="2585498" cy="615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38200" y="2971800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(3</a:t>
            </a:r>
            <a:r>
              <a:rPr lang="en-US" sz="3200" b="1" dirty="0" smtClean="0"/>
              <a:t>i</a:t>
            </a:r>
            <a:r>
              <a:rPr lang="en-US" sz="3200" dirty="0" smtClean="0"/>
              <a:t>  +  6</a:t>
            </a:r>
            <a:r>
              <a:rPr lang="en-US" sz="3200" b="1" dirty="0" smtClean="0"/>
              <a:t>j</a:t>
            </a:r>
            <a:r>
              <a:rPr lang="en-US" sz="3200" dirty="0" smtClean="0"/>
              <a:t> )  -  (5</a:t>
            </a:r>
            <a:r>
              <a:rPr lang="en-US" sz="3200" b="1" dirty="0" smtClean="0"/>
              <a:t>i</a:t>
            </a:r>
            <a:r>
              <a:rPr lang="en-US" sz="3200" dirty="0" smtClean="0"/>
              <a:t>  - 7</a:t>
            </a:r>
            <a:r>
              <a:rPr lang="en-US" sz="3200" b="1" dirty="0" smtClean="0"/>
              <a:t>j</a:t>
            </a:r>
            <a:r>
              <a:rPr lang="en-US" sz="3200" dirty="0" smtClean="0"/>
              <a:t>)</a:t>
            </a:r>
            <a:endParaRPr lang="en-US" sz="3200" dirty="0"/>
          </a:p>
        </p:txBody>
      </p:sp>
      <p:sp>
        <p:nvSpPr>
          <p:cNvPr id="26" name="TextBox 25"/>
          <p:cNvSpPr txBox="1"/>
          <p:nvPr/>
        </p:nvSpPr>
        <p:spPr>
          <a:xfrm>
            <a:off x="5518212" y="2971800"/>
            <a:ext cx="3352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/>
              <a:t>=   -2</a:t>
            </a:r>
            <a:r>
              <a:rPr lang="en-US" sz="3200" b="1" dirty="0" smtClean="0"/>
              <a:t>i</a:t>
            </a:r>
            <a:r>
              <a:rPr lang="en-US" sz="3200" dirty="0" smtClean="0"/>
              <a:t>  +  13</a:t>
            </a:r>
            <a:r>
              <a:rPr lang="en-US" sz="3200" b="1" dirty="0" smtClean="0"/>
              <a:t>j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397755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57200" y="241012"/>
            <a:ext cx="762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The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norm</a:t>
            </a:r>
            <a:r>
              <a:rPr lang="en-US" sz="3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cs typeface="Calibri" pitchFamily="34" charset="0"/>
              </a:rPr>
              <a:t> of a vector is its length.</a:t>
            </a:r>
            <a:endParaRPr lang="en-US" sz="3200" u="sng" dirty="0" smtClean="0">
              <a:solidFill>
                <a:schemeClr val="tx1">
                  <a:lumMod val="75000"/>
                  <a:lumOff val="2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093062"/>
              </p:ext>
            </p:extLst>
          </p:nvPr>
        </p:nvGraphicFramePr>
        <p:xfrm>
          <a:off x="1371600" y="1295400"/>
          <a:ext cx="1981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1" name="Equation" r:id="rId3" imgW="660240" imgH="203040" progId="Equation.DSMT4">
                  <p:embed/>
                </p:oleObj>
              </mc:Choice>
              <mc:Fallback>
                <p:oleObj name="Equation" r:id="rId3" imgW="660240" imgH="203040" progId="Equation.DSMT4">
                  <p:embed/>
                  <p:pic>
                    <p:nvPicPr>
                      <p:cNvPr id="0" name="Picture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295400"/>
                        <a:ext cx="1981200" cy="609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4800" y="4022736"/>
            <a:ext cx="47244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Calibri" pitchFamily="34" charset="0"/>
                <a:cs typeface="Calibri" pitchFamily="34" charset="0"/>
              </a:rPr>
              <a:t>A </a:t>
            </a:r>
            <a:r>
              <a:rPr lang="en-US" sz="3200" dirty="0" smtClean="0">
                <a:solidFill>
                  <a:schemeClr val="accent1"/>
                </a:solidFill>
                <a:latin typeface="Calibri" pitchFamily="34" charset="0"/>
                <a:cs typeface="Calibri" pitchFamily="34" charset="0"/>
              </a:rPr>
              <a:t>unit vector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has length 1.</a:t>
            </a:r>
          </a:p>
        </p:txBody>
      </p:sp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8512584"/>
              </p:ext>
            </p:extLst>
          </p:nvPr>
        </p:nvGraphicFramePr>
        <p:xfrm>
          <a:off x="152400" y="4800600"/>
          <a:ext cx="8624888" cy="1101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2" name="Equation" r:id="rId5" imgW="3581280" imgH="457200" progId="Equation.DSMT4">
                  <p:embed/>
                </p:oleObj>
              </mc:Choice>
              <mc:Fallback>
                <p:oleObj name="Equation" r:id="rId5" imgW="3581280" imgH="457200" progId="Equation.DSMT4">
                  <p:embed/>
                  <p:pic>
                    <p:nvPicPr>
                      <p:cNvPr id="0" name="Picture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" y="4800600"/>
                        <a:ext cx="8624888" cy="11017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2965779"/>
              </p:ext>
            </p:extLst>
          </p:nvPr>
        </p:nvGraphicFramePr>
        <p:xfrm>
          <a:off x="3429000" y="1143000"/>
          <a:ext cx="22860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3" name="Equation" r:id="rId7" imgW="838080" imgH="279360" progId="Equation.DSMT4">
                  <p:embed/>
                </p:oleObj>
              </mc:Choice>
              <mc:Fallback>
                <p:oleObj name="Equation" r:id="rId7" imgW="838080" imgH="27936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29000" y="1143000"/>
                        <a:ext cx="2286000" cy="762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58221292"/>
              </p:ext>
            </p:extLst>
          </p:nvPr>
        </p:nvGraphicFramePr>
        <p:xfrm>
          <a:off x="5867400" y="1219200"/>
          <a:ext cx="1286043" cy="660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34" name="Equation" r:id="rId9" imgW="469800" imgH="241200" progId="Equation.DSMT4">
                  <p:embed/>
                </p:oleObj>
              </mc:Choice>
              <mc:Fallback>
                <p:oleObj name="Equation" r:id="rId9" imgW="469800" imgH="241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19200"/>
                        <a:ext cx="1286043" cy="660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0" name="Straight Connector 19"/>
          <p:cNvCxnSpPr/>
          <p:nvPr/>
        </p:nvCxnSpPr>
        <p:spPr>
          <a:xfrm rot="5400000">
            <a:off x="6133353" y="3048607"/>
            <a:ext cx="2132119" cy="259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576773" y="3505200"/>
            <a:ext cx="2490559" cy="317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7572997" y="2286847"/>
            <a:ext cx="996224" cy="761471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3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52400" y="152400"/>
            <a:ext cx="86868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In a scene from Muppet Treasure Island,</a:t>
            </a: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Clueless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Morgan &amp; Polly Lobster pull </a:t>
            </a:r>
            <a:r>
              <a:rPr lang="en-US" sz="3200" dirty="0" err="1" smtClean="0">
                <a:latin typeface="Calibri" pitchFamily="34" charset="0"/>
                <a:cs typeface="Calibri" pitchFamily="34" charset="0"/>
              </a:rPr>
              <a:t>Gonzo’s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arms with a force of &lt;3, 6&gt; N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and &lt;5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, -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9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&gt; N,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respectively.</a:t>
            </a:r>
          </a:p>
          <a:p>
            <a:pPr algn="ctr"/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The force  on Gonzo is 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 algn="ctr"/>
            <a:r>
              <a:rPr lang="en-US" sz="3200" dirty="0" smtClean="0">
                <a:latin typeface="Calibri" pitchFamily="34" charset="0"/>
                <a:cs typeface="Calibri" pitchFamily="34" charset="0"/>
              </a:rPr>
              <a:t>&lt;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, 6&gt; 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+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&lt;5, -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9&gt;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 =  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&lt;8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, -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3</a:t>
            </a:r>
            <a:r>
              <a:rPr lang="en-US" sz="3200" dirty="0" smtClean="0">
                <a:latin typeface="Calibri" pitchFamily="34" charset="0"/>
                <a:cs typeface="Calibri" pitchFamily="34" charset="0"/>
              </a:rPr>
              <a:t>&gt; N</a:t>
            </a: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485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NewsPrint">
      <a:dk1>
        <a:sysClr val="windowText" lastClr="000000"/>
      </a:dk1>
      <a:lt1>
        <a:sysClr val="window" lastClr="FFFFFF"/>
      </a:lt1>
      <a:dk2>
        <a:srgbClr val="303030"/>
      </a:dk2>
      <a:lt2>
        <a:srgbClr val="DEDEE0"/>
      </a:lt2>
      <a:accent1>
        <a:srgbClr val="AD0101"/>
      </a:accent1>
      <a:accent2>
        <a:srgbClr val="726056"/>
      </a:accent2>
      <a:accent3>
        <a:srgbClr val="AC956E"/>
      </a:accent3>
      <a:accent4>
        <a:srgbClr val="808DA9"/>
      </a:accent4>
      <a:accent5>
        <a:srgbClr val="424E5B"/>
      </a:accent5>
      <a:accent6>
        <a:srgbClr val="730E00"/>
      </a:accent6>
      <a:hlink>
        <a:srgbClr val="D26900"/>
      </a:hlink>
      <a:folHlink>
        <a:srgbClr val="D89243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</Template>
  <TotalTime>339</TotalTime>
  <Words>176</Words>
  <Application>Microsoft Office PowerPoint</Application>
  <PresentationFormat>On-screen Show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7" baseType="lpstr">
      <vt:lpstr>Concourse</vt:lpstr>
      <vt:lpstr>MathType 6.0 Equation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211</dc:creator>
  <cp:lastModifiedBy>Williams</cp:lastModifiedBy>
  <cp:revision>75</cp:revision>
  <dcterms:created xsi:type="dcterms:W3CDTF">2006-08-16T00:00:00Z</dcterms:created>
  <dcterms:modified xsi:type="dcterms:W3CDTF">2011-04-18T05:17:52Z</dcterms:modified>
</cp:coreProperties>
</file>