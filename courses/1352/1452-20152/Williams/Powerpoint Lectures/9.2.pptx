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7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4/18/2011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3099701"/>
            <a:ext cx="59718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9.2: Vectors in </a:t>
            </a:r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R</a:t>
            </a:r>
            <a:r>
              <a:rPr lang="en-US" sz="4400" b="1" baseline="30000" dirty="0" smtClean="0">
                <a:latin typeface="Calibri" pitchFamily="34" charset="0"/>
                <a:cs typeface="Calibri" pitchFamily="34" charset="0"/>
              </a:rPr>
              <a:t>3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609600"/>
            <a:ext cx="8686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 smtClean="0">
                <a:latin typeface="Calibri" pitchFamily="34" charset="0"/>
                <a:cs typeface="Calibri" pitchFamily="34" charset="0"/>
              </a:rPr>
              <a:t>The algebra of vectors in R</a:t>
            </a:r>
            <a:r>
              <a:rPr lang="en-US" sz="3600" baseline="300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 is the same as R</a:t>
            </a:r>
            <a:r>
              <a:rPr lang="en-US" sz="3600" baseline="30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 . 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3600" dirty="0" smtClean="0">
                <a:latin typeface="Calibri" pitchFamily="34" charset="0"/>
                <a:cs typeface="Calibri" pitchFamily="34" charset="0"/>
              </a:rPr>
              <a:t>Each 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vector has 3 components 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3600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, 6, -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4&gt; 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 =  3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i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 + 6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j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 - 4</a:t>
            </a:r>
            <a:r>
              <a:rPr lang="en-US" sz="3600" b="1" dirty="0" smtClean="0">
                <a:latin typeface="Calibri" pitchFamily="34" charset="0"/>
                <a:cs typeface="Calibri" pitchFamily="34" charset="0"/>
              </a:rPr>
              <a:t>k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150000"/>
              </a:lnSpc>
            </a:pPr>
            <a:endParaRPr lang="en-US" sz="36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3600" dirty="0" smtClean="0">
                <a:latin typeface="Calibri" pitchFamily="34" charset="0"/>
                <a:cs typeface="Calibri" pitchFamily="34" charset="0"/>
              </a:rPr>
              <a:t>These are the x, y &amp; z directions. </a:t>
            </a:r>
            <a:endParaRPr lang="en-US" sz="36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3600" dirty="0" smtClean="0">
                <a:latin typeface="Calibri" pitchFamily="34" charset="0"/>
                <a:cs typeface="Calibri" pitchFamily="34" charset="0"/>
              </a:rPr>
              <a:t>We </a:t>
            </a:r>
            <a:r>
              <a:rPr lang="en-US" sz="3600" dirty="0" smtClean="0">
                <a:latin typeface="Calibri" pitchFamily="34" charset="0"/>
                <a:cs typeface="Calibri" pitchFamily="34" charset="0"/>
              </a:rPr>
              <a:t>graph z as up + down.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041259"/>
              </p:ext>
            </p:extLst>
          </p:nvPr>
        </p:nvGraphicFramePr>
        <p:xfrm>
          <a:off x="3048000" y="533400"/>
          <a:ext cx="342029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3" imgW="914400" imgH="203040" progId="Equation.DSMT4">
                  <p:embed/>
                </p:oleObj>
              </mc:Choice>
              <mc:Fallback>
                <p:oleObj name="Equation" r:id="rId3" imgW="914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33400"/>
                        <a:ext cx="3420292" cy="76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149213"/>
              </p:ext>
            </p:extLst>
          </p:nvPr>
        </p:nvGraphicFramePr>
        <p:xfrm>
          <a:off x="2486025" y="2133600"/>
          <a:ext cx="4295775" cy="964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5" imgW="1244520" imgH="279360" progId="Equation.DSMT4">
                  <p:embed/>
                </p:oleObj>
              </mc:Choice>
              <mc:Fallback>
                <p:oleObj name="Equation" r:id="rId5" imgW="1244520" imgH="27936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2133600"/>
                        <a:ext cx="4295775" cy="964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691099"/>
              </p:ext>
            </p:extLst>
          </p:nvPr>
        </p:nvGraphicFramePr>
        <p:xfrm>
          <a:off x="4114800" y="4267200"/>
          <a:ext cx="1128184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7" imgW="304560" imgH="228600" progId="Equation.DSMT4">
                  <p:embed/>
                </p:oleObj>
              </mc:Choice>
              <mc:Fallback>
                <p:oleObj name="Equation" r:id="rId7" imgW="304560" imgH="2286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267200"/>
                        <a:ext cx="1128184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409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359171"/>
              </p:ext>
            </p:extLst>
          </p:nvPr>
        </p:nvGraphicFramePr>
        <p:xfrm>
          <a:off x="1828800" y="685800"/>
          <a:ext cx="609962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3" imgW="1981080" imgH="482400" progId="Equation.DSMT4">
                  <p:embed/>
                </p:oleObj>
              </mc:Choice>
              <mc:Fallback>
                <p:oleObj name="Equation" r:id="rId3" imgW="19810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685800"/>
                        <a:ext cx="6099620" cy="1485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409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3629700"/>
              </p:ext>
            </p:extLst>
          </p:nvPr>
        </p:nvGraphicFramePr>
        <p:xfrm>
          <a:off x="762000" y="152400"/>
          <a:ext cx="757575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3" imgW="2273040" imgH="228600" progId="Equation.DSMT4">
                  <p:embed/>
                </p:oleObj>
              </mc:Choice>
              <mc:Fallback>
                <p:oleObj name="Equation" r:id="rId3" imgW="227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2400"/>
                        <a:ext cx="7575758" cy="76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894474"/>
              </p:ext>
            </p:extLst>
          </p:nvPr>
        </p:nvGraphicFramePr>
        <p:xfrm>
          <a:off x="457200" y="1371600"/>
          <a:ext cx="8101357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5" imgW="2628720" imgH="469800" progId="Equation.DSMT4">
                  <p:embed/>
                </p:oleObj>
              </mc:Choice>
              <mc:Fallback>
                <p:oleObj name="Equation" r:id="rId5" imgW="262872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71600"/>
                        <a:ext cx="8101357" cy="1447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879081"/>
              </p:ext>
            </p:extLst>
          </p:nvPr>
        </p:nvGraphicFramePr>
        <p:xfrm>
          <a:off x="1794769" y="3124200"/>
          <a:ext cx="5105400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7" imgW="1777680" imgH="469800" progId="Equation.DSMT4">
                  <p:embed/>
                </p:oleObj>
              </mc:Choice>
              <mc:Fallback>
                <p:oleObj name="Equation" r:id="rId7" imgW="1777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769" y="3124200"/>
                        <a:ext cx="5105400" cy="123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4800600"/>
            <a:ext cx="6248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Center is at  ( -3, 0, 5/2)</a:t>
            </a:r>
          </a:p>
          <a:p>
            <a:endParaRPr lang="en-US" sz="3200" dirty="0" smtClean="0"/>
          </a:p>
          <a:p>
            <a:r>
              <a:rPr lang="en-US" sz="3200" dirty="0" smtClean="0"/>
              <a:t>Radius is </a:t>
            </a:r>
            <a:endParaRPr lang="en-US" sz="32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347991"/>
              </p:ext>
            </p:extLst>
          </p:nvPr>
        </p:nvGraphicFramePr>
        <p:xfrm>
          <a:off x="3962400" y="5410200"/>
          <a:ext cx="1103313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9" imgW="419040" imgH="444240" progId="Equation.DSMT4">
                  <p:embed/>
                </p:oleObj>
              </mc:Choice>
              <mc:Fallback>
                <p:oleObj name="Equation" r:id="rId9" imgW="419040" imgH="4442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410200"/>
                        <a:ext cx="1103313" cy="116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879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269</TotalTime>
  <Words>69</Words>
  <Application>Microsoft Office PowerPoint</Application>
  <PresentationFormat>On-screen Show (4:3)</PresentationFormat>
  <Paragraphs>10</Paragraphs>
  <Slides>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Concourse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83</cp:revision>
  <dcterms:created xsi:type="dcterms:W3CDTF">2006-08-16T00:00:00Z</dcterms:created>
  <dcterms:modified xsi:type="dcterms:W3CDTF">2011-04-18T05:33:17Z</dcterms:modified>
</cp:coreProperties>
</file>