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61" r:id="rId4"/>
    <p:sldId id="262" r:id="rId5"/>
    <p:sldId id="259" r:id="rId6"/>
    <p:sldId id="263" r:id="rId7"/>
    <p:sldId id="260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4/27/2011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5600" y="3116759"/>
            <a:ext cx="60832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9.3: Dot Products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145330"/>
              </p:ext>
            </p:extLst>
          </p:nvPr>
        </p:nvGraphicFramePr>
        <p:xfrm>
          <a:off x="2438400" y="2590800"/>
          <a:ext cx="3962401" cy="692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3" imgW="1307880" imgH="228600" progId="Equation.DSMT4">
                  <p:embed/>
                </p:oleObj>
              </mc:Choice>
              <mc:Fallback>
                <p:oleObj name="Equation" r:id="rId3" imgW="1307880" imgH="2286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90800"/>
                        <a:ext cx="3962401" cy="6924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200" y="298882"/>
            <a:ext cx="8991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Definition</a:t>
            </a:r>
          </a:p>
          <a:p>
            <a:endParaRPr lang="en-US" sz="3200" dirty="0">
              <a:latin typeface="Calibri" pitchFamily="34" charset="0"/>
              <a:cs typeface="Calibri" pitchFamily="34" charset="0"/>
            </a:endParaRPr>
          </a:p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dot product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of &lt; v1, v2, v3&gt; and &lt;w1, w2, w3&gt; 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936092"/>
              </p:ext>
            </p:extLst>
          </p:nvPr>
        </p:nvGraphicFramePr>
        <p:xfrm>
          <a:off x="2362200" y="304800"/>
          <a:ext cx="4724401" cy="657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name="Equation" r:id="rId3" imgW="1460160" imgH="203040" progId="Equation.DSMT4">
                  <p:embed/>
                </p:oleObj>
              </mc:Choice>
              <mc:Fallback>
                <p:oleObj name="Equation" r:id="rId3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4800"/>
                        <a:ext cx="4724401" cy="6579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624001"/>
              </p:ext>
            </p:extLst>
          </p:nvPr>
        </p:nvGraphicFramePr>
        <p:xfrm>
          <a:off x="2895600" y="1600200"/>
          <a:ext cx="3200400" cy="78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5" name="Equation" r:id="rId5" imgW="825480" imgH="203040" progId="Equation.DSMT4">
                  <p:embed/>
                </p:oleObj>
              </mc:Choice>
              <mc:Fallback>
                <p:oleObj name="Equation" r:id="rId5" imgW="82548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00200"/>
                        <a:ext cx="3200400" cy="788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707008"/>
              </p:ext>
            </p:extLst>
          </p:nvPr>
        </p:nvGraphicFramePr>
        <p:xfrm>
          <a:off x="4191000" y="3015576"/>
          <a:ext cx="838200" cy="733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Equation" r:id="rId7" imgW="203040" imgH="177480" progId="Equation.DSMT4">
                  <p:embed/>
                </p:oleObj>
              </mc:Choice>
              <mc:Fallback>
                <p:oleObj name="Equation" r:id="rId7" imgW="203040" imgH="177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015576"/>
                        <a:ext cx="838200" cy="733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331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83255"/>
              </p:ext>
            </p:extLst>
          </p:nvPr>
        </p:nvGraphicFramePr>
        <p:xfrm>
          <a:off x="2590800" y="457200"/>
          <a:ext cx="409489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Equation" r:id="rId3" imgW="1091880" imgH="203040" progId="Equation.DSMT4">
                  <p:embed/>
                </p:oleObj>
              </mc:Choice>
              <mc:Fallback>
                <p:oleObj name="Equation" r:id="rId3" imgW="1091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57200"/>
                        <a:ext cx="4094898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948172"/>
              </p:ext>
            </p:extLst>
          </p:nvPr>
        </p:nvGraphicFramePr>
        <p:xfrm>
          <a:off x="4343400" y="1905000"/>
          <a:ext cx="534987" cy="74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Equation" r:id="rId5" imgW="126720" imgH="177480" progId="Equation.DSMT4">
                  <p:embed/>
                </p:oleObj>
              </mc:Choice>
              <mc:Fallback>
                <p:oleObj name="Equation" r:id="rId5" imgW="126720" imgH="177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905000"/>
                        <a:ext cx="534987" cy="7479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40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461597"/>
              </p:ext>
            </p:extLst>
          </p:nvPr>
        </p:nvGraphicFramePr>
        <p:xfrm>
          <a:off x="3048000" y="1219200"/>
          <a:ext cx="3733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Equation" r:id="rId3" imgW="1523880" imgH="253800" progId="Equation.DSMT4">
                  <p:embed/>
                </p:oleObj>
              </mc:Choice>
              <mc:Fallback>
                <p:oleObj name="Equation" r:id="rId3" imgW="152388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219200"/>
                        <a:ext cx="373380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749032"/>
              </p:ext>
            </p:extLst>
          </p:nvPr>
        </p:nvGraphicFramePr>
        <p:xfrm>
          <a:off x="1600200" y="2082165"/>
          <a:ext cx="6934200" cy="52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tion" r:id="rId5" imgW="2400120" imgH="203040" progId="Equation.DSMT4">
                  <p:embed/>
                </p:oleObj>
              </mc:Choice>
              <mc:Fallback>
                <p:oleObj name="Equation" r:id="rId5" imgW="240012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82165"/>
                        <a:ext cx="6934200" cy="520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713362"/>
              </p:ext>
            </p:extLst>
          </p:nvPr>
        </p:nvGraphicFramePr>
        <p:xfrm>
          <a:off x="3429000" y="2819400"/>
          <a:ext cx="2174659" cy="747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7" imgW="812520" imgH="279360" progId="Equation.DSMT4">
                  <p:embed/>
                </p:oleObj>
              </mc:Choice>
              <mc:Fallback>
                <p:oleObj name="Equation" r:id="rId7" imgW="812520" imgH="2793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819400"/>
                        <a:ext cx="2174659" cy="747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365639"/>
              </p:ext>
            </p:extLst>
          </p:nvPr>
        </p:nvGraphicFramePr>
        <p:xfrm>
          <a:off x="3124200" y="4038600"/>
          <a:ext cx="2895600" cy="488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9" imgW="977760" imgH="164880" progId="Equation.DSMT4">
                  <p:embed/>
                </p:oleObj>
              </mc:Choice>
              <mc:Fallback>
                <p:oleObj name="Equation" r:id="rId9" imgW="977760" imgH="1648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2895600" cy="488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90328"/>
              </p:ext>
            </p:extLst>
          </p:nvPr>
        </p:nvGraphicFramePr>
        <p:xfrm>
          <a:off x="2209800" y="4876800"/>
          <a:ext cx="5029199" cy="596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9" name="Equation" r:id="rId11" imgW="1714320" imgH="203040" progId="Equation.DSMT4">
                  <p:embed/>
                </p:oleObj>
              </mc:Choice>
              <mc:Fallback>
                <p:oleObj name="Equation" r:id="rId11" imgW="171432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5029199" cy="596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60359" y="5758930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Here </a:t>
            </a:r>
            <a:r>
              <a:rPr lang="el-GR" sz="2800" dirty="0" smtClean="0"/>
              <a:t>θ</a:t>
            </a:r>
            <a:r>
              <a:rPr lang="en-US" sz="2800" dirty="0" smtClean="0"/>
              <a:t> is </a:t>
            </a:r>
            <a:r>
              <a:rPr lang="en-US" sz="2800" dirty="0" err="1" smtClean="0"/>
              <a:t>is</a:t>
            </a:r>
            <a:r>
              <a:rPr lang="en-US" sz="2800" dirty="0" smtClean="0"/>
              <a:t> the angle between </a:t>
            </a:r>
            <a:r>
              <a:rPr lang="en-US" sz="2800" i="1" dirty="0" smtClean="0"/>
              <a:t>v</a:t>
            </a:r>
            <a:r>
              <a:rPr lang="en-US" sz="2800" dirty="0" smtClean="0"/>
              <a:t> and </a:t>
            </a:r>
            <a:r>
              <a:rPr lang="en-US" sz="2800" i="1" dirty="0" smtClean="0"/>
              <a:t>w</a:t>
            </a:r>
            <a:endParaRPr lang="en-US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759875"/>
              </p:ext>
            </p:extLst>
          </p:nvPr>
        </p:nvGraphicFramePr>
        <p:xfrm>
          <a:off x="4724400" y="381000"/>
          <a:ext cx="4114800" cy="506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7" name="Equation" r:id="rId3" imgW="1650960" imgH="203040" progId="Equation.DSMT4">
                  <p:embed/>
                </p:oleObj>
              </mc:Choice>
              <mc:Fallback>
                <p:oleObj name="Equation" r:id="rId3" imgW="1650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81000"/>
                        <a:ext cx="4114800" cy="5068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381000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Find the angle between</a:t>
            </a:r>
            <a:endParaRPr 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626312"/>
              </p:ext>
            </p:extLst>
          </p:nvPr>
        </p:nvGraphicFramePr>
        <p:xfrm>
          <a:off x="1752600" y="1295400"/>
          <a:ext cx="59134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8" name="Equation" r:id="rId5" imgW="2247840" imgH="241200" progId="Equation.DSMT4">
                  <p:embed/>
                </p:oleObj>
              </mc:Choice>
              <mc:Fallback>
                <p:oleObj name="Equation" r:id="rId5" imgW="224784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95400"/>
                        <a:ext cx="59134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462241"/>
              </p:ext>
            </p:extLst>
          </p:nvPr>
        </p:nvGraphicFramePr>
        <p:xfrm>
          <a:off x="2634558" y="4191000"/>
          <a:ext cx="37750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9" name="Equation" r:id="rId7" imgW="1434960" imgH="241200" progId="Equation.DSMT4">
                  <p:embed/>
                </p:oleObj>
              </mc:Choice>
              <mc:Fallback>
                <p:oleObj name="Equation" r:id="rId7" imgW="143496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4558" y="4191000"/>
                        <a:ext cx="37750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94965"/>
              </p:ext>
            </p:extLst>
          </p:nvPr>
        </p:nvGraphicFramePr>
        <p:xfrm>
          <a:off x="2514600" y="2242572"/>
          <a:ext cx="3352799" cy="629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0" name="Equation" r:id="rId9" imgW="1282680" imgH="241200" progId="Equation.DSMT4">
                  <p:embed/>
                </p:oleObj>
              </mc:Choice>
              <mc:Fallback>
                <p:oleObj name="Equation" r:id="rId9" imgW="1282680" imgH="24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42572"/>
                        <a:ext cx="3352799" cy="629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249092"/>
              </p:ext>
            </p:extLst>
          </p:nvPr>
        </p:nvGraphicFramePr>
        <p:xfrm>
          <a:off x="838200" y="3200400"/>
          <a:ext cx="727531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1" name="Equation" r:id="rId11" imgW="2768400" imgH="203040" progId="Equation.DSMT4">
                  <p:embed/>
                </p:oleObj>
              </mc:Choice>
              <mc:Fallback>
                <p:oleObj name="Equation" r:id="rId11" imgW="276840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00400"/>
                        <a:ext cx="727531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833596"/>
              </p:ext>
            </p:extLst>
          </p:nvPr>
        </p:nvGraphicFramePr>
        <p:xfrm>
          <a:off x="2667000" y="5105400"/>
          <a:ext cx="35750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2" name="Equation" r:id="rId13" imgW="1358640" imgH="457200" progId="Equation.DSMT4">
                  <p:embed/>
                </p:oleObj>
              </mc:Choice>
              <mc:Fallback>
                <p:oleObj name="Equation" r:id="rId13" imgW="135864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105400"/>
                        <a:ext cx="3575050" cy="120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687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37241"/>
              </p:ext>
            </p:extLst>
          </p:nvPr>
        </p:nvGraphicFramePr>
        <p:xfrm>
          <a:off x="380999" y="1143000"/>
          <a:ext cx="3872346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9" name="Equation" r:id="rId3" imgW="1638000" imgH="419040" progId="Equation.DSMT4">
                  <p:embed/>
                </p:oleObj>
              </mc:Choice>
              <mc:Fallback>
                <p:oleObj name="Equation" r:id="rId3" imgW="163800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99" y="1143000"/>
                        <a:ext cx="3872346" cy="990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878662"/>
              </p:ext>
            </p:extLst>
          </p:nvPr>
        </p:nvGraphicFramePr>
        <p:xfrm>
          <a:off x="152400" y="5181600"/>
          <a:ext cx="4849091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0" name="Equation" r:id="rId5" imgW="1904760" imgH="419040" progId="Equation.DSMT4">
                  <p:embed/>
                </p:oleObj>
              </mc:Choice>
              <mc:Fallback>
                <p:oleObj name="Equation" r:id="rId5" imgW="1904760" imgH="419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181600"/>
                        <a:ext cx="4849091" cy="1066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371600" y="304800"/>
            <a:ext cx="61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Projection</a:t>
            </a:r>
            <a:endParaRPr lang="en-US" sz="3200" b="1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6172200" y="1371600"/>
            <a:ext cx="1905000" cy="1600200"/>
          </a:xfrm>
          <a:prstGeom prst="straightConnector1">
            <a:avLst/>
          </a:prstGeom>
          <a:ln w="76200">
            <a:solidFill>
              <a:schemeClr val="accent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270681"/>
              </p:ext>
            </p:extLst>
          </p:nvPr>
        </p:nvGraphicFramePr>
        <p:xfrm>
          <a:off x="6477000" y="203200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1" name="Equation" r:id="rId7" imgW="114120" imgH="139680" progId="Equation.DSMT4">
                  <p:embed/>
                </p:oleObj>
              </mc:Choice>
              <mc:Fallback>
                <p:oleObj name="Equation" r:id="rId7" imgW="114120" imgH="1396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032000"/>
                        <a:ext cx="228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6172200" y="2971800"/>
            <a:ext cx="952500" cy="0"/>
          </a:xfrm>
          <a:prstGeom prst="straightConnector1">
            <a:avLst/>
          </a:prstGeom>
          <a:ln w="5715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942549"/>
              </p:ext>
            </p:extLst>
          </p:nvPr>
        </p:nvGraphicFramePr>
        <p:xfrm>
          <a:off x="6496050" y="3124200"/>
          <a:ext cx="304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2" name="Equation" r:id="rId9" imgW="152280" imgH="139680" progId="Equation.DSMT4">
                  <p:embed/>
                </p:oleObj>
              </mc:Choice>
              <mc:Fallback>
                <p:oleObj name="Equation" r:id="rId9" imgW="152280" imgH="139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3124200"/>
                        <a:ext cx="3048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un 8"/>
          <p:cNvSpPr/>
          <p:nvPr/>
        </p:nvSpPr>
        <p:spPr>
          <a:xfrm>
            <a:off x="7691761" y="254573"/>
            <a:ext cx="685800" cy="634425"/>
          </a:xfrm>
          <a:prstGeom prst="sun">
            <a:avLst/>
          </a:prstGeom>
          <a:solidFill>
            <a:srgbClr val="FFC000"/>
          </a:solidFill>
          <a:ln>
            <a:solidFill>
              <a:schemeClr val="accent3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6172200" y="2971800"/>
            <a:ext cx="1828800" cy="0"/>
          </a:xfrm>
          <a:prstGeom prst="straightConnector1">
            <a:avLst/>
          </a:prstGeom>
          <a:ln w="762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8034661" y="1371600"/>
            <a:ext cx="42539" cy="1600200"/>
          </a:xfrm>
          <a:prstGeom prst="line">
            <a:avLst/>
          </a:prstGeom>
          <a:ln w="3810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813438"/>
              </p:ext>
            </p:extLst>
          </p:nvPr>
        </p:nvGraphicFramePr>
        <p:xfrm>
          <a:off x="7112000" y="3124200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3" name="Equation" r:id="rId11" imgW="469800" imgH="228600" progId="Equation.DSMT4">
                  <p:embed/>
                </p:oleObj>
              </mc:Choice>
              <mc:Fallback>
                <p:oleObj name="Equation" r:id="rId11" imgW="4698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0" y="3124200"/>
                        <a:ext cx="939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247257"/>
              </p:ext>
            </p:extLst>
          </p:nvPr>
        </p:nvGraphicFramePr>
        <p:xfrm>
          <a:off x="2590800" y="3886200"/>
          <a:ext cx="1524000" cy="1151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4" name="Equation" r:id="rId13" imgW="571320" imgH="431640" progId="Equation.DSMT4">
                  <p:embed/>
                </p:oleObj>
              </mc:Choice>
              <mc:Fallback>
                <p:oleObj name="Equation" r:id="rId13" imgW="57132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886200"/>
                        <a:ext cx="1524000" cy="1151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28194"/>
              </p:ext>
            </p:extLst>
          </p:nvPr>
        </p:nvGraphicFramePr>
        <p:xfrm>
          <a:off x="2438400" y="2514600"/>
          <a:ext cx="176348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5" name="Equation" r:id="rId15" imgW="685800" imgH="444240" progId="Equation.DSMT4">
                  <p:embed/>
                </p:oleObj>
              </mc:Choice>
              <mc:Fallback>
                <p:oleObj name="Equation" r:id="rId15" imgW="685800" imgH="4442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514600"/>
                        <a:ext cx="176348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7" presetClass="emph" presetSubtype="0" repeatCount="indefinite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34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27964"/>
              </p:ext>
            </p:extLst>
          </p:nvPr>
        </p:nvGraphicFramePr>
        <p:xfrm>
          <a:off x="228600" y="228600"/>
          <a:ext cx="29368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" name="Equation" r:id="rId3" imgW="939600" imgH="203040" progId="Equation.DSMT4">
                  <p:embed/>
                </p:oleObj>
              </mc:Choice>
              <mc:Fallback>
                <p:oleObj name="Equation" r:id="rId3" imgW="939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"/>
                        <a:ext cx="2936875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798657"/>
              </p:ext>
            </p:extLst>
          </p:nvPr>
        </p:nvGraphicFramePr>
        <p:xfrm>
          <a:off x="533400" y="1524000"/>
          <a:ext cx="2385469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8" name="Equation" r:id="rId5" imgW="901440" imgH="431640" progId="Equation.DSMT4">
                  <p:embed/>
                </p:oleObj>
              </mc:Choice>
              <mc:Fallback>
                <p:oleObj name="Equation" r:id="rId5" imgW="901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24000"/>
                        <a:ext cx="2385469" cy="1143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600176"/>
              </p:ext>
            </p:extLst>
          </p:nvPr>
        </p:nvGraphicFramePr>
        <p:xfrm>
          <a:off x="6324600" y="152400"/>
          <a:ext cx="27305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9" name="Equation" r:id="rId7" imgW="1155600" imgH="431640" progId="Equation.DSMT4">
                  <p:embed/>
                </p:oleObj>
              </mc:Choice>
              <mc:Fallback>
                <p:oleObj name="Equation" r:id="rId7" imgW="1155600" imgH="4316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52400"/>
                        <a:ext cx="2730500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109045"/>
              </p:ext>
            </p:extLst>
          </p:nvPr>
        </p:nvGraphicFramePr>
        <p:xfrm>
          <a:off x="457200" y="3352800"/>
          <a:ext cx="2438400" cy="72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0" name="Equation" r:id="rId9" imgW="812520" imgH="241200" progId="Equation.DSMT4">
                  <p:embed/>
                </p:oleObj>
              </mc:Choice>
              <mc:Fallback>
                <p:oleObj name="Equation" r:id="rId9" imgW="81252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352800"/>
                        <a:ext cx="2438400" cy="724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524607"/>
              </p:ext>
            </p:extLst>
          </p:nvPr>
        </p:nvGraphicFramePr>
        <p:xfrm>
          <a:off x="3124200" y="1600200"/>
          <a:ext cx="106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1" name="Equation" r:id="rId11" imgW="393480" imgH="393480" progId="Equation.DSMT4">
                  <p:embed/>
                </p:oleObj>
              </mc:Choice>
              <mc:Fallback>
                <p:oleObj name="Equation" r:id="rId11" imgW="39348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00200"/>
                        <a:ext cx="1066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078806"/>
              </p:ext>
            </p:extLst>
          </p:nvPr>
        </p:nvGraphicFramePr>
        <p:xfrm>
          <a:off x="5562600" y="1676400"/>
          <a:ext cx="3424237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2" name="Equation" r:id="rId13" imgW="1447560" imgH="228600" progId="Equation.DSMT4">
                  <p:embed/>
                </p:oleObj>
              </mc:Choice>
              <mc:Fallback>
                <p:oleObj name="Equation" r:id="rId13" imgW="144756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76400"/>
                        <a:ext cx="3424237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98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895337"/>
              </p:ext>
            </p:extLst>
          </p:nvPr>
        </p:nvGraphicFramePr>
        <p:xfrm>
          <a:off x="1543050" y="3886200"/>
          <a:ext cx="43656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Equation" r:id="rId3" imgW="1396800" imgH="253800" progId="Equation.DSMT4">
                  <p:embed/>
                </p:oleObj>
              </mc:Choice>
              <mc:Fallback>
                <p:oleObj name="Equation" r:id="rId3" imgW="1396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3886200"/>
                        <a:ext cx="4365625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152400"/>
            <a:ext cx="61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Work</a:t>
            </a:r>
            <a:endParaRPr 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993158"/>
            <a:ext cx="8839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Work was </a:t>
            </a:r>
            <a:br>
              <a:rPr lang="en-US" sz="2800" dirty="0" smtClean="0"/>
            </a:br>
            <a:r>
              <a:rPr lang="en-US" sz="2800" dirty="0" smtClean="0">
                <a:solidFill>
                  <a:schemeClr val="accent1"/>
                </a:solidFill>
              </a:rPr>
              <a:t>Force</a:t>
            </a:r>
            <a:r>
              <a:rPr lang="en-US" sz="2800" dirty="0" smtClean="0"/>
              <a:t> (in the direction of the motion)  *  </a:t>
            </a:r>
            <a:r>
              <a:rPr lang="en-US" sz="2800" dirty="0" smtClean="0">
                <a:solidFill>
                  <a:srgbClr val="008000"/>
                </a:solidFill>
              </a:rPr>
              <a:t>Distance</a:t>
            </a:r>
          </a:p>
          <a:p>
            <a:pPr algn="ctr"/>
            <a:endParaRPr lang="en-US" sz="2800" dirty="0">
              <a:solidFill>
                <a:schemeClr val="tx2"/>
              </a:solidFill>
            </a:endParaRPr>
          </a:p>
          <a:p>
            <a:pPr algn="ctr"/>
            <a:r>
              <a:rPr lang="en-US" sz="2800" dirty="0" smtClean="0">
                <a:solidFill>
                  <a:schemeClr val="tx2"/>
                </a:solidFill>
              </a:rPr>
              <a:t>If we have a force vector </a:t>
            </a:r>
            <a:r>
              <a:rPr lang="en-US" sz="2800" dirty="0" smtClean="0">
                <a:solidFill>
                  <a:schemeClr val="accent1"/>
                </a:solidFill>
              </a:rPr>
              <a:t>F</a:t>
            </a:r>
            <a:r>
              <a:rPr lang="en-US" sz="2800" dirty="0" smtClean="0">
                <a:solidFill>
                  <a:schemeClr val="tx2"/>
                </a:solidFill>
              </a:rPr>
              <a:t> moving a particle along a displacement vector </a:t>
            </a:r>
            <a:r>
              <a:rPr lang="en-US" sz="2800" dirty="0" smtClean="0">
                <a:solidFill>
                  <a:srgbClr val="008000"/>
                </a:solidFill>
              </a:rPr>
              <a:t>d</a:t>
            </a:r>
            <a:r>
              <a:rPr lang="en-US" sz="2800" dirty="0" smtClean="0">
                <a:solidFill>
                  <a:schemeClr val="tx2"/>
                </a:solidFill>
              </a:rPr>
              <a:t>, then</a:t>
            </a:r>
            <a:endParaRPr lang="en-US" sz="2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507087"/>
              </p:ext>
            </p:extLst>
          </p:nvPr>
        </p:nvGraphicFramePr>
        <p:xfrm>
          <a:off x="3352800" y="5181600"/>
          <a:ext cx="14287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Equation" r:id="rId5" imgW="457200" imgH="203040" progId="Equation.DSMT4">
                  <p:embed/>
                </p:oleObj>
              </mc:Choice>
              <mc:Fallback>
                <p:oleObj name="Equation" r:id="rId5" imgW="45720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81600"/>
                        <a:ext cx="142875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4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515197"/>
              </p:ext>
            </p:extLst>
          </p:nvPr>
        </p:nvGraphicFramePr>
        <p:xfrm>
          <a:off x="3241675" y="1928813"/>
          <a:ext cx="3214688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3" imgW="1028520" imgH="431640" progId="Equation.DSMT4">
                  <p:embed/>
                </p:oleObj>
              </mc:Choice>
              <mc:Fallback>
                <p:oleObj name="Equation" r:id="rId3" imgW="1028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1928813"/>
                        <a:ext cx="3214688" cy="1349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910788"/>
              </p:ext>
            </p:extLst>
          </p:nvPr>
        </p:nvGraphicFramePr>
        <p:xfrm>
          <a:off x="685800" y="4316721"/>
          <a:ext cx="2667000" cy="636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5" imgW="850680" imgH="203040" progId="Equation.DSMT4">
                  <p:embed/>
                </p:oleObj>
              </mc:Choice>
              <mc:Fallback>
                <p:oleObj name="Equation" r:id="rId5" imgW="850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16721"/>
                        <a:ext cx="2667000" cy="63627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52400" y="304800"/>
            <a:ext cx="883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tx2"/>
                </a:solidFill>
              </a:rPr>
              <a:t>A force vector </a:t>
            </a:r>
            <a:r>
              <a:rPr lang="en-US" sz="2800" dirty="0" smtClean="0">
                <a:solidFill>
                  <a:schemeClr val="accent1"/>
                </a:solidFill>
              </a:rPr>
              <a:t>F = &lt; 4, 5, 3&gt; </a:t>
            </a:r>
            <a:r>
              <a:rPr lang="en-US" sz="2800" i="1" dirty="0" smtClean="0"/>
              <a:t>N</a:t>
            </a:r>
            <a:r>
              <a:rPr lang="en-US" sz="2800" dirty="0" smtClean="0">
                <a:solidFill>
                  <a:schemeClr val="accent1"/>
                </a:solidFill>
              </a:rPr>
              <a:t> </a:t>
            </a:r>
            <a:r>
              <a:rPr lang="en-US" sz="2800" dirty="0" smtClean="0">
                <a:solidFill>
                  <a:schemeClr val="tx2"/>
                </a:solidFill>
              </a:rPr>
              <a:t> moves a particle from (5, -10, 0) to (15, </a:t>
            </a:r>
            <a:r>
              <a:rPr lang="en-US" sz="2800" dirty="0">
                <a:solidFill>
                  <a:schemeClr val="tx2"/>
                </a:solidFill>
              </a:rPr>
              <a:t>1</a:t>
            </a:r>
            <a:r>
              <a:rPr lang="en-US" sz="2800" dirty="0" smtClean="0">
                <a:solidFill>
                  <a:schemeClr val="tx2"/>
                </a:solidFill>
              </a:rPr>
              <a:t>0, 0).</a:t>
            </a:r>
            <a:endParaRPr 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413458"/>
              </p:ext>
            </p:extLst>
          </p:nvPr>
        </p:nvGraphicFramePr>
        <p:xfrm>
          <a:off x="3200400" y="4343400"/>
          <a:ext cx="5181600" cy="6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7" imgW="1663560" imgH="203040" progId="Equation.DSMT4">
                  <p:embed/>
                </p:oleObj>
              </mc:Choice>
              <mc:Fallback>
                <p:oleObj name="Equation" r:id="rId7" imgW="166356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5181600" cy="6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677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657</TotalTime>
  <Words>77</Words>
  <Application>Microsoft Office PowerPoint</Application>
  <PresentationFormat>On-screen Show (4:3)</PresentationFormat>
  <Paragraphs>12</Paragraphs>
  <Slides>10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Concourse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105</cp:revision>
  <dcterms:created xsi:type="dcterms:W3CDTF">2006-08-16T00:00:00Z</dcterms:created>
  <dcterms:modified xsi:type="dcterms:W3CDTF">2011-04-27T17:48:38Z</dcterms:modified>
</cp:coreProperties>
</file>