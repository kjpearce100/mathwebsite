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60" r:id="rId3"/>
    <p:sldId id="261" r:id="rId4"/>
    <p:sldId id="257" r:id="rId5"/>
    <p:sldId id="258" r:id="rId6"/>
    <p:sldId id="262" r:id="rId7"/>
    <p:sldId id="259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718" autoAdjust="0"/>
  </p:normalViewPr>
  <p:slideViewPr>
    <p:cSldViewPr>
      <p:cViewPr varScale="1">
        <p:scale>
          <a:sx n="107" d="100"/>
          <a:sy n="107" d="100"/>
        </p:scale>
        <p:origin x="-25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2/20/2011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82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2/20/2011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2/20/2011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2/20/2011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2/20/2011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2/20/2011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2/20/2011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2/20/2011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2/20/2011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2/20/2011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2/20/2011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2/20/2011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2/20/2011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2.wmf"/><Relationship Id="rId3" Type="http://schemas.openxmlformats.org/officeDocument/2006/relationships/oleObject" Target="../embeddings/oleObject16.bin"/><Relationship Id="rId7" Type="http://schemas.openxmlformats.org/officeDocument/2006/relationships/image" Target="../media/image23.png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11" Type="http://schemas.openxmlformats.org/officeDocument/2006/relationships/image" Target="../media/image21.wmf"/><Relationship Id="rId5" Type="http://schemas.openxmlformats.org/officeDocument/2006/relationships/oleObject" Target="../embeddings/oleObject17.bin"/><Relationship Id="rId10" Type="http://schemas.openxmlformats.org/officeDocument/2006/relationships/oleObject" Target="../embeddings/oleObject19.bin"/><Relationship Id="rId4" Type="http://schemas.openxmlformats.org/officeDocument/2006/relationships/image" Target="../media/image18.wmf"/><Relationship Id="rId9" Type="http://schemas.openxmlformats.org/officeDocument/2006/relationships/image" Target="../media/image2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3.png"/><Relationship Id="rId4" Type="http://schemas.openxmlformats.org/officeDocument/2006/relationships/image" Target="../media/image3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00200" y="3134008"/>
            <a:ext cx="73844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Section 7.7: Improper Integrals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931530" y="152400"/>
            <a:ext cx="6784230" cy="1022351"/>
            <a:chOff x="0" y="0"/>
            <a:chExt cx="6784230" cy="1022351"/>
          </a:xfrm>
        </p:grpSpPr>
        <p:sp>
          <p:nvSpPr>
            <p:cNvPr id="17" name="TextBox 16"/>
            <p:cNvSpPr txBox="1"/>
            <p:nvPr/>
          </p:nvSpPr>
          <p:spPr>
            <a:xfrm>
              <a:off x="0" y="228600"/>
              <a:ext cx="67842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cs typeface="Calibri" pitchFamily="34" charset="0"/>
                </a:rPr>
                <a:t>If                   makes sense, then what about                 ?</a:t>
              </a:r>
              <a:endPara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2576564"/>
                </p:ext>
              </p:extLst>
            </p:nvPr>
          </p:nvGraphicFramePr>
          <p:xfrm>
            <a:off x="381000" y="0"/>
            <a:ext cx="1049337" cy="1022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05" name="Equation" r:id="rId3" imgW="469800" imgH="457200" progId="Equation.DSMT4">
                    <p:embed/>
                  </p:oleObj>
                </mc:Choice>
                <mc:Fallback>
                  <p:oleObj name="Equation" r:id="rId3" imgW="4698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00" y="0"/>
                          <a:ext cx="1049337" cy="10223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2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2786391"/>
                </p:ext>
              </p:extLst>
            </p:nvPr>
          </p:nvGraphicFramePr>
          <p:xfrm>
            <a:off x="5381958" y="0"/>
            <a:ext cx="1106487" cy="1022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06" name="Equation" r:id="rId5" imgW="495000" imgH="457200" progId="Equation.DSMT4">
                    <p:embed/>
                  </p:oleObj>
                </mc:Choice>
                <mc:Fallback>
                  <p:oleObj name="Equation" r:id="rId5" imgW="4950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1958" y="0"/>
                          <a:ext cx="1106487" cy="1022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Box 20"/>
          <p:cNvSpPr txBox="1"/>
          <p:nvPr/>
        </p:nvSpPr>
        <p:spPr>
          <a:xfrm>
            <a:off x="609600" y="2590800"/>
            <a:ext cx="16696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Definition</a:t>
            </a:r>
            <a:endParaRPr lang="en-US" sz="2800" b="1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3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700884"/>
              </p:ext>
            </p:extLst>
          </p:nvPr>
        </p:nvGraphicFramePr>
        <p:xfrm>
          <a:off x="3124200" y="2341235"/>
          <a:ext cx="36861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7" name="Equation" r:id="rId7" imgW="1650960" imgH="457200" progId="Equation.DSMT4">
                  <p:embed/>
                </p:oleObj>
              </mc:Choice>
              <mc:Fallback>
                <p:oleObj name="Equation" r:id="rId7" imgW="16509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341235"/>
                        <a:ext cx="3686175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66235" y="4682719"/>
            <a:ext cx="7337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This is our first example of an </a:t>
            </a:r>
            <a:r>
              <a:rPr lang="en-US" sz="28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improper integral.</a:t>
            </a:r>
            <a:endParaRPr lang="en-US" sz="2800" b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99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304248"/>
              </p:ext>
            </p:extLst>
          </p:nvPr>
        </p:nvGraphicFramePr>
        <p:xfrm>
          <a:off x="384175" y="152400"/>
          <a:ext cx="1077913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1" name="Equation" r:id="rId3" imgW="482400" imgH="457200" progId="Equation.DSMT4">
                  <p:embed/>
                </p:oleObj>
              </mc:Choice>
              <mc:Fallback>
                <p:oleObj name="Equation" r:id="rId3" imgW="482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75" y="152400"/>
                        <a:ext cx="1077913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409262"/>
              </p:ext>
            </p:extLst>
          </p:nvPr>
        </p:nvGraphicFramePr>
        <p:xfrm>
          <a:off x="228600" y="2514600"/>
          <a:ext cx="990600" cy="1115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2" name="Equation" r:id="rId5" imgW="406080" imgH="457200" progId="Equation.DSMT4">
                  <p:embed/>
                </p:oleObj>
              </mc:Choice>
              <mc:Fallback>
                <p:oleObj name="Equation" r:id="rId5" imgW="406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514600"/>
                        <a:ext cx="990600" cy="111529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603041"/>
              </p:ext>
            </p:extLst>
          </p:nvPr>
        </p:nvGraphicFramePr>
        <p:xfrm>
          <a:off x="4208463" y="228600"/>
          <a:ext cx="24415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3" name="Equation" r:id="rId7" imgW="1091880" imgH="431640" progId="Equation.DSMT4">
                  <p:embed/>
                </p:oleObj>
              </mc:Choice>
              <mc:Fallback>
                <p:oleObj name="Equation" r:id="rId7" imgW="1091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8463" y="228600"/>
                        <a:ext cx="24415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096474"/>
              </p:ext>
            </p:extLst>
          </p:nvPr>
        </p:nvGraphicFramePr>
        <p:xfrm>
          <a:off x="1768475" y="180975"/>
          <a:ext cx="2217738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4" name="Equation" r:id="rId9" imgW="965160" imgH="457200" progId="Equation.DSMT4">
                  <p:embed/>
                </p:oleObj>
              </mc:Choice>
              <mc:Fallback>
                <p:oleObj name="Equation" r:id="rId9" imgW="965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475" y="180975"/>
                        <a:ext cx="2217738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455879"/>
              </p:ext>
            </p:extLst>
          </p:nvPr>
        </p:nvGraphicFramePr>
        <p:xfrm>
          <a:off x="3505200" y="2819400"/>
          <a:ext cx="3808412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5" name="Equation" r:id="rId11" imgW="1434960" imgH="279360" progId="Equation.DSMT4">
                  <p:embed/>
                </p:oleObj>
              </mc:Choice>
              <mc:Fallback>
                <p:oleObj name="Equation" r:id="rId11" imgW="14349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819400"/>
                        <a:ext cx="3808412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860562"/>
              </p:ext>
            </p:extLst>
          </p:nvPr>
        </p:nvGraphicFramePr>
        <p:xfrm>
          <a:off x="6934200" y="457200"/>
          <a:ext cx="6810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6" name="Equation" r:id="rId13" imgW="304560" imgH="203040" progId="Equation.DSMT4">
                  <p:embed/>
                </p:oleObj>
              </mc:Choice>
              <mc:Fallback>
                <p:oleObj name="Equation" r:id="rId13" imgW="304560" imgH="20304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57200"/>
                        <a:ext cx="68103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10775"/>
              </p:ext>
            </p:extLst>
          </p:nvPr>
        </p:nvGraphicFramePr>
        <p:xfrm>
          <a:off x="1277938" y="2590800"/>
          <a:ext cx="2100262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7" name="Equation" r:id="rId15" imgW="914400" imgH="457200" progId="Equation.DSMT4">
                  <p:embed/>
                </p:oleObj>
              </mc:Choice>
              <mc:Fallback>
                <p:oleObj name="Equation" r:id="rId15" imgW="914400" imgH="4572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2590800"/>
                        <a:ext cx="2100262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144342"/>
              </p:ext>
            </p:extLst>
          </p:nvPr>
        </p:nvGraphicFramePr>
        <p:xfrm>
          <a:off x="7467600" y="2914650"/>
          <a:ext cx="8429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8" name="Equation" r:id="rId17" imgW="317160" imgH="164880" progId="Equation.DSMT4">
                  <p:embed/>
                </p:oleObj>
              </mc:Choice>
              <mc:Fallback>
                <p:oleObj name="Equation" r:id="rId17" imgW="317160" imgH="16488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914650"/>
                        <a:ext cx="84296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000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152400" y="228600"/>
            <a:ext cx="882286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If the limit is finite then we say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that</a:t>
            </a:r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		the improper integral </a:t>
            </a:r>
            <a:r>
              <a:rPr lang="en-US" sz="28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converges</a:t>
            </a:r>
            <a:endParaRPr lang="en-US" sz="2800" b="1" dirty="0">
              <a:latin typeface="Calibri" pitchFamily="34" charset="0"/>
              <a:cs typeface="Calibri" pitchFamily="34" charset="0"/>
            </a:endParaRPr>
          </a:p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		otherwise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the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integral </a:t>
            </a:r>
            <a:r>
              <a:rPr lang="en-US" sz="28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diverges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Notice that if the integral is going to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converge,</a:t>
            </a:r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      Zero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must be a </a:t>
            </a:r>
            <a:r>
              <a:rPr lang="en-US" sz="2800" b="1" u="sng" dirty="0" smtClean="0">
                <a:latin typeface="Calibri" pitchFamily="34" charset="0"/>
                <a:cs typeface="Calibri" pitchFamily="34" charset="0"/>
              </a:rPr>
              <a:t>horizontal asymptote </a:t>
            </a:r>
            <a:endParaRPr lang="en-US" sz="2800" b="1" u="sng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800" b="1" dirty="0">
                <a:latin typeface="Calibri" pitchFamily="34" charset="0"/>
                <a:cs typeface="Calibri" pitchFamily="34" charset="0"/>
              </a:rPr>
              <a:t>	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and the function must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get small </a:t>
            </a: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quickly.</a:t>
            </a:r>
            <a:endParaRPr lang="en-US" sz="28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56" name="Picture 3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24600" y="4038600"/>
            <a:ext cx="2480752" cy="227483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381000"/>
            <a:ext cx="965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Fact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6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786902"/>
              </p:ext>
            </p:extLst>
          </p:nvPr>
        </p:nvGraphicFramePr>
        <p:xfrm>
          <a:off x="1981200" y="228600"/>
          <a:ext cx="4141788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4" name="Equation" r:id="rId3" imgW="1854000" imgH="457200" progId="Equation.DSMT4">
                  <p:embed/>
                </p:oleObj>
              </mc:Choice>
              <mc:Fallback>
                <p:oleObj name="Equation" r:id="rId3" imgW="1854000" imgH="4572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28600"/>
                        <a:ext cx="4141788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273899"/>
              </p:ext>
            </p:extLst>
          </p:nvPr>
        </p:nvGraphicFramePr>
        <p:xfrm>
          <a:off x="1981200" y="2833688"/>
          <a:ext cx="1163638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5" name="Equation" r:id="rId5" imgW="520560" imgH="457200" progId="Equation.DSMT4">
                  <p:embed/>
                </p:oleObj>
              </mc:Choice>
              <mc:Fallback>
                <p:oleObj name="Equation" r:id="rId5" imgW="520560" imgH="4572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833688"/>
                        <a:ext cx="1163638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775233"/>
              </p:ext>
            </p:extLst>
          </p:nvPr>
        </p:nvGraphicFramePr>
        <p:xfrm>
          <a:off x="3225800" y="2971800"/>
          <a:ext cx="35560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6" name="Equation" r:id="rId7" imgW="1231560" imgH="304560" progId="Equation.DSMT4">
                  <p:embed/>
                </p:oleObj>
              </mc:Choice>
              <mc:Fallback>
                <p:oleObj name="Equation" r:id="rId7" imgW="1231560" imgH="30456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2971800"/>
                        <a:ext cx="355600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278179"/>
              </p:ext>
            </p:extLst>
          </p:nvPr>
        </p:nvGraphicFramePr>
        <p:xfrm>
          <a:off x="6932613" y="3124200"/>
          <a:ext cx="91598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7" name="Equation" r:id="rId9" imgW="317160" imgH="164880" progId="Equation.DSMT4">
                  <p:embed/>
                </p:oleObj>
              </mc:Choice>
              <mc:Fallback>
                <p:oleObj name="Equation" r:id="rId9" imgW="317160" imgH="1648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2613" y="3124200"/>
                        <a:ext cx="915987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28600" y="228600"/>
            <a:ext cx="85328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Vertical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Asymptotes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provide another kind of improper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integral.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	You always have to check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that the function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is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continuous.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3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827352"/>
              </p:ext>
            </p:extLst>
          </p:nvPr>
        </p:nvGraphicFramePr>
        <p:xfrm>
          <a:off x="228600" y="1600200"/>
          <a:ext cx="1306513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2" name="Equation" r:id="rId3" imgW="583920" imgH="469800" progId="Equation.DSMT4">
                  <p:embed/>
                </p:oleObj>
              </mc:Choice>
              <mc:Fallback>
                <p:oleObj name="Equation" r:id="rId3" imgW="5839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600200"/>
                        <a:ext cx="1306513" cy="1050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228600" y="5029200"/>
            <a:ext cx="8745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Diverges,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but if we ignore the asymptote, we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get the wrong answer: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6635" name="Object 11"/>
          <p:cNvGraphicFramePr>
            <a:graphicFrameLocks noChangeAspect="1"/>
          </p:cNvGraphicFramePr>
          <p:nvPr/>
        </p:nvGraphicFramePr>
        <p:xfrm>
          <a:off x="1828800" y="5638800"/>
          <a:ext cx="215900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3" name="Equation" r:id="rId5" imgW="965160" imgH="241200" progId="Equation.DSMT4">
                  <p:embed/>
                </p:oleObj>
              </mc:Choice>
              <mc:Fallback>
                <p:oleObj name="Equation" r:id="rId5" imgW="965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638800"/>
                        <a:ext cx="2159000" cy="538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36" name="Picture 1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591861" y="1828800"/>
            <a:ext cx="2274110" cy="23050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graphicFrame>
        <p:nvGraphicFramePr>
          <p:cNvPr id="266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003620"/>
              </p:ext>
            </p:extLst>
          </p:nvPr>
        </p:nvGraphicFramePr>
        <p:xfrm>
          <a:off x="549965" y="3124200"/>
          <a:ext cx="40386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4" name="Equation" r:id="rId8" imgW="1574640" imgH="279360" progId="Equation.DSMT4">
                  <p:embed/>
                </p:oleObj>
              </mc:Choice>
              <mc:Fallback>
                <p:oleObj name="Equation" r:id="rId8" imgW="15746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65" y="3124200"/>
                        <a:ext cx="403860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7887665"/>
              </p:ext>
            </p:extLst>
          </p:nvPr>
        </p:nvGraphicFramePr>
        <p:xfrm>
          <a:off x="1676400" y="1676400"/>
          <a:ext cx="384175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5" name="Equation" r:id="rId10" imgW="1701720" imgH="469800" progId="Equation.DSMT4">
                  <p:embed/>
                </p:oleObj>
              </mc:Choice>
              <mc:Fallback>
                <p:oleObj name="Equation" r:id="rId10" imgW="17017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76400"/>
                        <a:ext cx="384175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067827"/>
              </p:ext>
            </p:extLst>
          </p:nvPr>
        </p:nvGraphicFramePr>
        <p:xfrm>
          <a:off x="529943" y="4038600"/>
          <a:ext cx="4071938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6" name="Equation" r:id="rId12" imgW="1587240" imgH="279360" progId="Equation.DSMT4">
                  <p:embed/>
                </p:oleObj>
              </mc:Choice>
              <mc:Fallback>
                <p:oleObj name="Equation" r:id="rId12" imgW="1587240" imgH="2793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43" y="4038600"/>
                        <a:ext cx="4071938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929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05200" y="152400"/>
            <a:ext cx="19300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Third Type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9425986"/>
              </p:ext>
            </p:extLst>
          </p:nvPr>
        </p:nvGraphicFramePr>
        <p:xfrm>
          <a:off x="1885950" y="1066800"/>
          <a:ext cx="155892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5" name="Equation" r:id="rId3" imgW="698400" imgH="457200" progId="Equation.DSMT4">
                  <p:embed/>
                </p:oleObj>
              </mc:Choice>
              <mc:Fallback>
                <p:oleObj name="Equation" r:id="rId3" imgW="698400" imgH="457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1066800"/>
                        <a:ext cx="1558925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51171"/>
              </p:ext>
            </p:extLst>
          </p:nvPr>
        </p:nvGraphicFramePr>
        <p:xfrm>
          <a:off x="3638550" y="1066800"/>
          <a:ext cx="38290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6" name="Equation" r:id="rId5" imgW="1714320" imgH="469800" progId="Equation.DSMT4">
                  <p:embed/>
                </p:oleObj>
              </mc:Choice>
              <mc:Fallback>
                <p:oleObj name="Equation" r:id="rId5" imgW="1714320" imgH="469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1066800"/>
                        <a:ext cx="382905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091873"/>
              </p:ext>
            </p:extLst>
          </p:nvPr>
        </p:nvGraphicFramePr>
        <p:xfrm>
          <a:off x="2339975" y="3886200"/>
          <a:ext cx="1701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7" name="Equation" r:id="rId7" imgW="761760" imgH="431640" progId="Equation.DSMT4">
                  <p:embed/>
                </p:oleObj>
              </mc:Choice>
              <mc:Fallback>
                <p:oleObj name="Equation" r:id="rId7" imgW="761760" imgH="4316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886200"/>
                        <a:ext cx="1701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4179"/>
              </p:ext>
            </p:extLst>
          </p:nvPr>
        </p:nvGraphicFramePr>
        <p:xfrm>
          <a:off x="533400" y="2895600"/>
          <a:ext cx="34893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8" name="Equation" r:id="rId9" imgW="1562040" imgH="291960" progId="Equation.DSMT4">
                  <p:embed/>
                </p:oleObj>
              </mc:Choice>
              <mc:Fallback>
                <p:oleObj name="Equation" r:id="rId9" imgW="1562040" imgH="2919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895600"/>
                        <a:ext cx="348932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399099"/>
              </p:ext>
            </p:extLst>
          </p:nvPr>
        </p:nvGraphicFramePr>
        <p:xfrm>
          <a:off x="4191000" y="2895600"/>
          <a:ext cx="374491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9" name="Equation" r:id="rId11" imgW="1676160" imgH="291960" progId="Equation.DSMT4">
                  <p:embed/>
                </p:oleObj>
              </mc:Choice>
              <mc:Fallback>
                <p:oleObj name="Equation" r:id="rId11" imgW="1676160" imgH="2919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895600"/>
                        <a:ext cx="3744913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999773"/>
              </p:ext>
            </p:extLst>
          </p:nvPr>
        </p:nvGraphicFramePr>
        <p:xfrm>
          <a:off x="4242867" y="5410200"/>
          <a:ext cx="45474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0" name="Equation" r:id="rId13" imgW="139680" imgH="139680" progId="Equation.DSMT4">
                  <p:embed/>
                </p:oleObj>
              </mc:Choice>
              <mc:Fallback>
                <p:oleObj name="Equation" r:id="rId13" imgW="139680" imgH="1396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867" y="5410200"/>
                        <a:ext cx="45474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001521"/>
              </p:ext>
            </p:extLst>
          </p:nvPr>
        </p:nvGraphicFramePr>
        <p:xfrm>
          <a:off x="4191000" y="3886200"/>
          <a:ext cx="195738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1" name="Equation" r:id="rId15" imgW="876240" imgH="431640" progId="Equation.DSMT4">
                  <p:embed/>
                </p:oleObj>
              </mc:Choice>
              <mc:Fallback>
                <p:oleObj name="Equation" r:id="rId15" imgW="876240" imgH="4316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886200"/>
                        <a:ext cx="1957388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4241" y="2050741"/>
            <a:ext cx="1524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Volume   =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855153"/>
              </p:ext>
            </p:extLst>
          </p:nvPr>
        </p:nvGraphicFramePr>
        <p:xfrm>
          <a:off x="2053983" y="1744952"/>
          <a:ext cx="2382838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6" name="Equation" r:id="rId3" imgW="1066680" imgH="482400" progId="Equation.DSMT4">
                  <p:embed/>
                </p:oleObj>
              </mc:Choice>
              <mc:Fallback>
                <p:oleObj name="Equation" r:id="rId3" imgW="10666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3983" y="1744952"/>
                        <a:ext cx="2382838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3400" y="5410200"/>
            <a:ext cx="77598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This is a paint can that can be filled with </a:t>
            </a:r>
            <a:r>
              <a:rPr lang="el-GR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π</a:t>
            </a:r>
            <a:r>
              <a:rPr lang="en-US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unit</a:t>
            </a:r>
            <a:r>
              <a:rPr lang="en-US" sz="2400" b="1" baseline="30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3</a:t>
            </a:r>
            <a:r>
              <a:rPr lang="en-US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of paint, </a:t>
            </a:r>
          </a:p>
          <a:p>
            <a:r>
              <a:rPr lang="en-US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	but the surface requires an infinite amount of </a:t>
            </a:r>
            <a:r>
              <a:rPr lang="en-US" sz="24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paint!</a:t>
            </a:r>
            <a:endParaRPr lang="en-US" sz="2400" b="1" baseline="30000" dirty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52099" y="1219200"/>
            <a:ext cx="2514600" cy="19335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2" name="Rectangle 1"/>
          <p:cNvSpPr/>
          <p:nvPr/>
        </p:nvSpPr>
        <p:spPr>
          <a:xfrm>
            <a:off x="3624150" y="152400"/>
            <a:ext cx="25677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Gabriel’s </a:t>
            </a:r>
            <a:r>
              <a:rPr lang="en-US" sz="3200" b="1" dirty="0" smtClean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horn</a:t>
            </a:r>
            <a:endParaRPr lang="en-US" sz="3200" b="1" dirty="0">
              <a:solidFill>
                <a:schemeClr val="accent3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" y="849334"/>
            <a:ext cx="4007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Rotate  f(x) = 1/x  about x-axis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9868" y="3688684"/>
            <a:ext cx="20936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Surface Area  =</a:t>
            </a:r>
            <a:endParaRPr lang="en-US" sz="2400" b="1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067450"/>
              </p:ext>
            </p:extLst>
          </p:nvPr>
        </p:nvGraphicFramePr>
        <p:xfrm>
          <a:off x="2263518" y="3351191"/>
          <a:ext cx="3176587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7" name="Equation" r:id="rId6" imgW="1422360" imgH="507960" progId="Equation.DSMT4">
                  <p:embed/>
                </p:oleObj>
              </mc:Choice>
              <mc:Fallback>
                <p:oleObj name="Equation" r:id="rId6" imgW="1422360" imgH="5079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518" y="3351191"/>
                        <a:ext cx="3176587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5715000" y="3710902"/>
            <a:ext cx="15398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Diverges!!</a:t>
            </a:r>
            <a:endParaRPr lang="en-US" sz="24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032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uiExpand="1" build="p"/>
      <p:bldP spid="11" grpId="0"/>
      <p:bldP spid="7" grpId="0"/>
      <p:bldP spid="1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987</TotalTime>
  <Words>92</Words>
  <Application>Microsoft Office PowerPoint</Application>
  <PresentationFormat>On-screen Show (4:3)</PresentationFormat>
  <Paragraphs>24</Paragraphs>
  <Slides>8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Concourse</vt:lpstr>
      <vt:lpstr>MathType 6.0 Equation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Williams</cp:lastModifiedBy>
  <cp:revision>308</cp:revision>
  <dcterms:created xsi:type="dcterms:W3CDTF">2006-08-16T00:00:00Z</dcterms:created>
  <dcterms:modified xsi:type="dcterms:W3CDTF">2011-02-21T07:00:42Z</dcterms:modified>
</cp:coreProperties>
</file>