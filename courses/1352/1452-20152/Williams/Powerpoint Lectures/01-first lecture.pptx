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3" r:id="rId2"/>
    <p:sldId id="306" r:id="rId3"/>
    <p:sldId id="307" r:id="rId4"/>
    <p:sldId id="308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9" r:id="rId17"/>
    <p:sldId id="271" r:id="rId18"/>
    <p:sldId id="272" r:id="rId19"/>
    <p:sldId id="273" r:id="rId20"/>
    <p:sldId id="296" r:id="rId21"/>
    <p:sldId id="297" r:id="rId22"/>
    <p:sldId id="298" r:id="rId23"/>
    <p:sldId id="299" r:id="rId24"/>
    <p:sldId id="300" r:id="rId25"/>
    <p:sldId id="301" r:id="rId26"/>
  </p:sldIdLst>
  <p:sldSz cx="9144000" cy="6858000" type="screen4x3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B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08" y="12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b="0" i="0" u="none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A1FF2A9-9830-4E2D-88A8-91FA8CDD535D}" type="datetimeFigureOut">
              <a:rPr lang="en-US" smtClean="0"/>
              <a:pPr/>
              <a:t>1/8/2015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4E6F31C-A2F6-46EA-81FD-E74D0431DE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i="0" u="none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Calculus II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Grading Scale</a:t>
            </a:r>
          </a:p>
          <a:p>
            <a:r>
              <a:rPr lang="en-US" dirty="0" smtClean="0"/>
              <a:t>Homework (WebWork &amp; Paper)</a:t>
            </a:r>
          </a:p>
          <a:p>
            <a:r>
              <a:rPr lang="en-US" dirty="0" smtClean="0"/>
              <a:t>Attendance</a:t>
            </a:r>
          </a:p>
          <a:p>
            <a:r>
              <a:rPr lang="en-US" dirty="0" smtClean="0"/>
              <a:t>Lecture and Discussion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Course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2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 of Calc</a:t>
            </a:r>
            <a:r>
              <a:rPr lang="en-US" dirty="0" smtClean="0"/>
              <a:t>ulus I – Chapter </a:t>
            </a:r>
            <a:r>
              <a:rPr lang="en-US" smtClean="0"/>
              <a:t>5 Highlights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Chapter </a:t>
            </a:r>
            <a:r>
              <a:rPr lang="en-US" dirty="0" smtClean="0"/>
              <a:t>6 – Applications of Integrals</a:t>
            </a:r>
          </a:p>
          <a:p>
            <a:endParaRPr lang="en-US" dirty="0" smtClean="0"/>
          </a:p>
          <a:p>
            <a:r>
              <a:rPr lang="en-US" dirty="0" smtClean="0"/>
              <a:t>Chapter 7 – Evaluating Integrals by Hand</a:t>
            </a:r>
          </a:p>
          <a:p>
            <a:endParaRPr lang="en-US" dirty="0" smtClean="0"/>
          </a:p>
          <a:p>
            <a:r>
              <a:rPr lang="en-US" dirty="0" smtClean="0"/>
              <a:t>Chapter 8 – Sequences and Series</a:t>
            </a:r>
          </a:p>
          <a:p>
            <a:endParaRPr lang="en-US" dirty="0" smtClean="0"/>
          </a:p>
          <a:p>
            <a:r>
              <a:rPr lang="en-US" dirty="0" smtClean="0"/>
              <a:t>Chapter 9 - Vectors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Nature of Calculus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91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610600" cy="4525963"/>
          </a:xfrm>
          <a:ln>
            <a:noFill/>
          </a:ln>
        </p:spPr>
        <p:txBody>
          <a:bodyPr/>
          <a:lstStyle/>
          <a:p>
            <a:r>
              <a:rPr lang="en-US" dirty="0" smtClean="0"/>
              <a:t>Inadequate Background</a:t>
            </a:r>
          </a:p>
          <a:p>
            <a:endParaRPr lang="en-US" dirty="0" smtClean="0"/>
          </a:p>
          <a:p>
            <a:r>
              <a:rPr lang="en-US" dirty="0" smtClean="0"/>
              <a:t>Personal Emergency</a:t>
            </a:r>
          </a:p>
          <a:p>
            <a:endParaRPr lang="en-US" dirty="0" smtClean="0"/>
          </a:p>
          <a:p>
            <a:r>
              <a:rPr lang="en-US" dirty="0" smtClean="0"/>
              <a:t>Lack of Discipline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Must spend at least 8 </a:t>
            </a:r>
            <a:r>
              <a:rPr lang="en-US" dirty="0" err="1" smtClean="0"/>
              <a:t>hrs</a:t>
            </a:r>
            <a:r>
              <a:rPr lang="en-US" dirty="0" smtClean="0"/>
              <a:t>/week studying and doing homework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Must learn derivative/integral rules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Must attend class and </a:t>
            </a:r>
            <a:r>
              <a:rPr lang="en-US" dirty="0" smtClean="0">
                <a:solidFill>
                  <a:srgbClr val="C00000"/>
                </a:solidFill>
              </a:rPr>
              <a:t>pay attention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/>
              <a:t>Must </a:t>
            </a:r>
            <a:r>
              <a:rPr lang="en-US" dirty="0" smtClean="0">
                <a:solidFill>
                  <a:srgbClr val="C00000"/>
                </a:solidFill>
              </a:rPr>
              <a:t>ask questions </a:t>
            </a:r>
            <a:r>
              <a:rPr lang="en-US" dirty="0" smtClean="0"/>
              <a:t>when confused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 Reasons Students Struggle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44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First Big Idea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804672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What’s math really all about?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Talk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Graphing Functions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Solving Equations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“Pushing Symbols Around”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Quantities That Don’t Change 	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What’s Algebra All About?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 train leaves Dallas traveling east at 60 mph.</a:t>
            </a:r>
          </a:p>
          <a:p>
            <a:pPr>
              <a:buNone/>
            </a:pPr>
            <a:r>
              <a:rPr lang="en-US" dirty="0" smtClean="0"/>
              <a:t>After 3 hours, how far has it traveled?</a:t>
            </a:r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Distance = </a:t>
            </a:r>
            <a:r>
              <a:rPr lang="en-US" dirty="0" smtClean="0">
                <a:solidFill>
                  <a:srgbClr val="FF0000"/>
                </a:solidFill>
              </a:rPr>
              <a:t>Rate</a:t>
            </a:r>
            <a:r>
              <a:rPr lang="en-US" dirty="0" smtClean="0"/>
              <a:t>* </a:t>
            </a:r>
            <a:r>
              <a:rPr lang="en-US" dirty="0" smtClean="0">
                <a:solidFill>
                  <a:srgbClr val="0070C0"/>
                </a:solidFill>
              </a:rPr>
              <a:t>Time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      = </a:t>
            </a:r>
            <a:r>
              <a:rPr lang="en-US" dirty="0" smtClean="0">
                <a:solidFill>
                  <a:srgbClr val="FF0000"/>
                </a:solidFill>
              </a:rPr>
              <a:t>60 mph </a:t>
            </a:r>
            <a:r>
              <a:rPr lang="en-US" dirty="0" smtClean="0"/>
              <a:t>* </a:t>
            </a:r>
            <a:r>
              <a:rPr lang="en-US" dirty="0" smtClean="0">
                <a:solidFill>
                  <a:srgbClr val="0070C0"/>
                </a:solidFill>
              </a:rPr>
              <a:t>3h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7030A0"/>
                </a:solidFill>
              </a:rPr>
              <a:t>180 miles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33800" y="4876800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030A0"/>
                </a:solidFill>
              </a:rPr>
              <a:t>y</a:t>
            </a:r>
            <a:r>
              <a:rPr lang="en-US" sz="3200" dirty="0" smtClean="0"/>
              <a:t> = </a:t>
            </a:r>
            <a:r>
              <a:rPr lang="en-US" sz="3200" dirty="0" smtClean="0">
                <a:solidFill>
                  <a:srgbClr val="FF0000"/>
                </a:solidFill>
              </a:rPr>
              <a:t>m</a:t>
            </a: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0070C0"/>
                </a:solidFill>
              </a:rPr>
              <a:t>x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 = 60 x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667000"/>
            <a:ext cx="4863672" cy="312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This is the kind of fake example that gets mathematics laughed at on sit-coms.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Trains never travel 3 hours without changing speed, stopping, etc.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Algebra Can’t Do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Consider a particle that moves at </a:t>
            </a:r>
            <a:br>
              <a:rPr lang="en-US" dirty="0" smtClean="0"/>
            </a:br>
            <a:r>
              <a:rPr lang="en-US" dirty="0" smtClean="0"/>
              <a:t>5 ft/sec for 3 seconds.  How far does it go?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Distance = Rate * Time</a:t>
            </a:r>
          </a:p>
          <a:p>
            <a:pPr algn="ctr">
              <a:buNone/>
            </a:pPr>
            <a:r>
              <a:rPr lang="en-US" dirty="0" smtClean="0"/>
              <a:t>Distance = 5 ft/sec  *  3 sec  =  15 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09600" y="4800600"/>
            <a:ext cx="304800" cy="3048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02706E-6 L 0.84167 -1.02706E-6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Now suppose the particle moves </a:t>
            </a:r>
            <a:br>
              <a:rPr lang="en-US" dirty="0" smtClean="0"/>
            </a:br>
            <a:r>
              <a:rPr lang="en-US" dirty="0" smtClean="0"/>
              <a:t>5 ft/sec for 1 second, then</a:t>
            </a:r>
          </a:p>
          <a:p>
            <a:pPr algn="ctr">
              <a:buNone/>
            </a:pPr>
            <a:r>
              <a:rPr lang="en-US" dirty="0" smtClean="0"/>
              <a:t>3 ft/sec for 2 seconds.  </a:t>
            </a:r>
          </a:p>
          <a:p>
            <a:pPr algn="ctr">
              <a:buNone/>
            </a:pPr>
            <a:r>
              <a:rPr lang="en-US" dirty="0" smtClean="0"/>
              <a:t>How far does it go?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Distance = Rate * Time</a:t>
            </a:r>
          </a:p>
          <a:p>
            <a:pPr algn="ctr">
              <a:buNone/>
            </a:pPr>
            <a:r>
              <a:rPr lang="en-US" dirty="0" smtClean="0"/>
              <a:t>Distance = 5(1)  +  3(2)  = 11 ft</a:t>
            </a:r>
          </a:p>
        </p:txBody>
      </p:sp>
      <p:sp>
        <p:nvSpPr>
          <p:cNvPr id="4" name="Oval 3"/>
          <p:cNvSpPr/>
          <p:nvPr/>
        </p:nvSpPr>
        <p:spPr>
          <a:xfrm>
            <a:off x="609600" y="4800600"/>
            <a:ext cx="304800" cy="3048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02706E-6 L 0.55834 -1.02706E-6 " pathEditMode="relative" rAng="0" ptsTypes="AA">
                                      <p:cBhvr>
                                        <p:cTn id="13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833 -1.02706E-6 L 0.80833 -1.02706E-6 " pathEditMode="relative" rAng="0" ptsTypes="AA">
                                      <p:cBhvr>
                                        <p:cTn id="24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4525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Next suppose the particle moves </a:t>
            </a:r>
            <a:br>
              <a:rPr lang="en-US" dirty="0" smtClean="0"/>
            </a:br>
            <a:r>
              <a:rPr lang="en-US" dirty="0" smtClean="0"/>
              <a:t>5 ft/sec for 1 second, then</a:t>
            </a:r>
          </a:p>
          <a:p>
            <a:pPr algn="ctr">
              <a:buNone/>
            </a:pPr>
            <a:r>
              <a:rPr lang="en-US" dirty="0" smtClean="0"/>
              <a:t>8 ft/sec for 1 second, then</a:t>
            </a:r>
          </a:p>
          <a:p>
            <a:pPr algn="ctr">
              <a:buNone/>
            </a:pPr>
            <a:r>
              <a:rPr lang="en-US" dirty="0" smtClean="0"/>
              <a:t>3 ft/sec for 1 second.  </a:t>
            </a:r>
          </a:p>
          <a:p>
            <a:pPr algn="ctr">
              <a:buNone/>
            </a:pPr>
            <a:r>
              <a:rPr lang="en-US" dirty="0" smtClean="0"/>
              <a:t>How far does it go?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Distance = Rate * Time</a:t>
            </a:r>
          </a:p>
          <a:p>
            <a:pPr algn="ctr">
              <a:buNone/>
            </a:pPr>
            <a:r>
              <a:rPr lang="en-US" dirty="0" smtClean="0"/>
              <a:t>Distance = 8(1) + 5(1)  +  3(1)  = 16 ft</a:t>
            </a:r>
          </a:p>
        </p:txBody>
      </p:sp>
      <p:sp>
        <p:nvSpPr>
          <p:cNvPr id="4" name="Oval 3"/>
          <p:cNvSpPr/>
          <p:nvPr/>
        </p:nvSpPr>
        <p:spPr>
          <a:xfrm>
            <a:off x="609600" y="4800600"/>
            <a:ext cx="304800" cy="3048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3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1.02706E-6 L 0.55834 -1.02706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833 -1.02706E-6 L 0.80833 -1.02706E-6 " pathEditMode="relative" rAng="0" ptsTypes="AA">
                                      <p:cBhvr>
                                        <p:cTn id="35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uiExpand="1" animBg="1"/>
      <p:bldP spid="4" grpId="1" uiExpand="1" animBg="1"/>
      <p:bldP spid="4" grpId="2" uiExpan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458200" cy="4525963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Suppose a particle is moving with velocity t</a:t>
            </a:r>
            <a:r>
              <a:rPr lang="en-US" baseline="30000" dirty="0" smtClean="0"/>
              <a:t>2</a:t>
            </a:r>
            <a:r>
              <a:rPr lang="en-US" dirty="0" smtClean="0"/>
              <a:t> + 1</a:t>
            </a:r>
          </a:p>
          <a:p>
            <a:pPr algn="ctr">
              <a:buNone/>
            </a:pPr>
            <a:r>
              <a:rPr lang="en-US" dirty="0" smtClean="0"/>
              <a:t>from t=0  to t=3 seconds.  </a:t>
            </a:r>
            <a:br>
              <a:rPr lang="en-US" dirty="0" smtClean="0"/>
            </a:br>
            <a:r>
              <a:rPr lang="en-US" dirty="0" smtClean="0"/>
              <a:t>How far does it go?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Distance = Rate * Time</a:t>
            </a:r>
          </a:p>
          <a:p>
            <a:pPr algn="ctr">
              <a:buNone/>
            </a:pPr>
            <a:r>
              <a:rPr lang="en-US" dirty="0" smtClean="0"/>
              <a:t>Doesn’t really help, does it?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Extend Our Experiment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Let’s divide the interval from 0 to 3 into small pieces like the last examples.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0 to 1</a:t>
            </a:r>
          </a:p>
          <a:p>
            <a:pPr algn="ctr">
              <a:buNone/>
            </a:pPr>
            <a:r>
              <a:rPr lang="en-US" dirty="0" smtClean="0"/>
              <a:t>1 to 2</a:t>
            </a:r>
          </a:p>
          <a:p>
            <a:pPr algn="ctr">
              <a:buNone/>
            </a:pPr>
            <a:r>
              <a:rPr lang="en-US" dirty="0" smtClean="0"/>
              <a:t>2 to 3.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l-GR" dirty="0" smtClean="0"/>
              <a:t>Δ</a:t>
            </a:r>
            <a:r>
              <a:rPr lang="en-US" dirty="0" smtClean="0"/>
              <a:t> t = 1 second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Break It Into Pieces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95672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When t = 0 sec, the speed is 1 ft/sec.</a:t>
            </a:r>
          </a:p>
          <a:p>
            <a:pPr>
              <a:buNone/>
            </a:pPr>
            <a:r>
              <a:rPr lang="en-US" dirty="0" smtClean="0"/>
              <a:t>When t = 1 sec, the speed is 2 ft/sec.</a:t>
            </a:r>
          </a:p>
          <a:p>
            <a:pPr>
              <a:buNone/>
            </a:pPr>
            <a:r>
              <a:rPr lang="en-US" dirty="0" smtClean="0"/>
              <a:t>When t = 2 sec, the speed is 5 ft/sec.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Let’s pretend the speed doesn’t change on each piece.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Pretend Speed Is Constant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481328"/>
            <a:ext cx="8991600" cy="4525963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dirty="0" smtClean="0"/>
              <a:t>Between 0 and 1 sec, </a:t>
            </a:r>
          </a:p>
          <a:p>
            <a:pPr algn="ctr">
              <a:buNone/>
            </a:pPr>
            <a:r>
              <a:rPr lang="en-US" dirty="0" smtClean="0"/>
              <a:t>Distance = (1 ft/sec)  * (1 sec) = 1 ft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Between 1 and 2 sec, </a:t>
            </a:r>
          </a:p>
          <a:p>
            <a:pPr algn="ctr">
              <a:buNone/>
            </a:pPr>
            <a:r>
              <a:rPr lang="en-US" dirty="0" smtClean="0"/>
              <a:t>Distance = (2 ft/sec)  * (1 sec) = 2 ft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Between 2 and 3 sec,</a:t>
            </a:r>
          </a:p>
          <a:p>
            <a:pPr algn="ctr">
              <a:buNone/>
            </a:pPr>
            <a:r>
              <a:rPr lang="en-US" dirty="0" smtClean="0"/>
              <a:t>Distance =  (5 ft/sec)  * (1 sec) = 5 ft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Use The Old Formula On Each Piece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Total Distance = </a:t>
            </a:r>
            <a:r>
              <a:rPr lang="en-US" sz="3200" dirty="0" smtClean="0"/>
              <a:t>Ʃ</a:t>
            </a:r>
            <a:r>
              <a:rPr lang="en-US" dirty="0" smtClean="0"/>
              <a:t> f(t) </a:t>
            </a:r>
            <a:r>
              <a:rPr lang="en-US" dirty="0"/>
              <a:t>∆</a:t>
            </a:r>
            <a:r>
              <a:rPr lang="en-US" dirty="0" smtClean="0"/>
              <a:t>t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      = (1  +   2   + 5)  ft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                  =  8 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Up The Pieces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867400"/>
          </a:xfrm>
        </p:spPr>
        <p:txBody>
          <a:bodyPr>
            <a:normAutofit/>
          </a:bodyPr>
          <a:lstStyle/>
          <a:p>
            <a:pPr marL="624078" indent="-514350" algn="ctr">
              <a:buNone/>
            </a:pPr>
            <a:r>
              <a:rPr lang="en-US" sz="3600" dirty="0" smtClean="0">
                <a:solidFill>
                  <a:srgbClr val="FF0000"/>
                </a:solidFill>
              </a:rPr>
              <a:t>Integration</a:t>
            </a:r>
            <a:endParaRPr lang="en-US" sz="700" dirty="0" smtClean="0">
              <a:solidFill>
                <a:srgbClr val="FF0000"/>
              </a:solidFill>
            </a:endParaRPr>
          </a:p>
          <a:p>
            <a:pPr marL="624078" indent="-514350">
              <a:buAutoNum type="arabicPeriod"/>
            </a:pPr>
            <a:r>
              <a:rPr lang="en-US" dirty="0" smtClean="0"/>
              <a:t>Something was changing, so we couldn’t use the old algebra formulas.</a:t>
            </a:r>
          </a:p>
          <a:p>
            <a:pPr marL="624078" indent="-514350">
              <a:buAutoNum type="arabicPeriod"/>
            </a:pPr>
            <a:endParaRPr lang="en-US" sz="1800" dirty="0" smtClean="0"/>
          </a:p>
          <a:p>
            <a:pPr marL="624078" indent="-514350">
              <a:buAutoNum type="arabicPeriod"/>
            </a:pPr>
            <a:r>
              <a:rPr lang="en-US" dirty="0" smtClean="0"/>
              <a:t>Break the problem into pieces.</a:t>
            </a:r>
          </a:p>
          <a:p>
            <a:pPr marL="624078" indent="-514350">
              <a:buAutoNum type="arabicPeriod"/>
            </a:pPr>
            <a:endParaRPr lang="en-US" sz="1800" dirty="0" smtClean="0"/>
          </a:p>
          <a:p>
            <a:pPr marL="624078" indent="-514350">
              <a:buAutoNum type="arabicPeriod"/>
            </a:pPr>
            <a:r>
              <a:rPr lang="en-US" dirty="0" smtClean="0"/>
              <a:t>Pretend everything is constant on each piece.</a:t>
            </a:r>
          </a:p>
          <a:p>
            <a:pPr marL="624078" indent="-514350">
              <a:buAutoNum type="arabicPeriod"/>
            </a:pPr>
            <a:endParaRPr lang="en-US" sz="1800" dirty="0" smtClean="0"/>
          </a:p>
          <a:p>
            <a:pPr marL="624078" indent="-514350">
              <a:buAutoNum type="arabicPeriod"/>
            </a:pPr>
            <a:r>
              <a:rPr lang="en-US" dirty="0" smtClean="0"/>
              <a:t>Add up the pieces. (This is called a </a:t>
            </a:r>
            <a:r>
              <a:rPr lang="en-US" dirty="0" smtClean="0">
                <a:solidFill>
                  <a:srgbClr val="FF0000"/>
                </a:solidFill>
              </a:rPr>
              <a:t>Riemann Sum</a:t>
            </a:r>
            <a:r>
              <a:rPr lang="en-US" dirty="0" smtClean="0"/>
              <a:t>)</a:t>
            </a:r>
          </a:p>
          <a:p>
            <a:pPr marL="624078" indent="-514350">
              <a:buAutoNum type="arabicPeriod"/>
            </a:pPr>
            <a:endParaRPr lang="en-US" sz="3600" dirty="0" smtClean="0"/>
          </a:p>
          <a:p>
            <a:pPr marL="624078" indent="-514350">
              <a:buAutoNum type="arabicPeriod"/>
            </a:pP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If we use more and more pieces, the limit is the right answer! (This limit is a </a:t>
            </a:r>
            <a:r>
              <a:rPr lang="en-US" dirty="0" smtClean="0">
                <a:solidFill>
                  <a:srgbClr val="FF0000"/>
                </a:solidFill>
              </a:rPr>
              <a:t>definite integral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.)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Big Idea</a:t>
            </a:r>
            <a:endParaRPr lang="en-US" sz="48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523822"/>
              </p:ext>
            </p:extLst>
          </p:nvPr>
        </p:nvGraphicFramePr>
        <p:xfrm>
          <a:off x="7441223" y="6052457"/>
          <a:ext cx="1397977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Equation" r:id="rId3" imgW="672840" imgH="330120" progId="Equation.DSMT4">
                  <p:embed/>
                </p:oleObj>
              </mc:Choice>
              <mc:Fallback>
                <p:oleObj name="Equation" r:id="rId3" imgW="6728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41223" y="6052457"/>
                        <a:ext cx="1397977" cy="685801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112678"/>
              </p:ext>
            </p:extLst>
          </p:nvPr>
        </p:nvGraphicFramePr>
        <p:xfrm>
          <a:off x="7391400" y="4604656"/>
          <a:ext cx="15303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tion" r:id="rId5" imgW="736560" imgH="266400" progId="Equation.DSMT4">
                  <p:embed/>
                </p:oleObj>
              </mc:Choice>
              <mc:Fallback>
                <p:oleObj name="Equation" r:id="rId5" imgW="736560" imgH="26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604656"/>
                        <a:ext cx="1530350" cy="5540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Finding area is exactly the same problem.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Area of a Rectangle = Height * Width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57600" y="3505200"/>
            <a:ext cx="1524000" cy="3048000"/>
          </a:xfrm>
          <a:prstGeom prst="rect">
            <a:avLst/>
          </a:prstGeom>
          <a:solidFill>
            <a:srgbClr val="00206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What if the height is changing?</a:t>
            </a:r>
          </a:p>
          <a:p>
            <a:pPr algn="ctr">
              <a:buNone/>
            </a:pPr>
            <a:r>
              <a:rPr lang="en-US" dirty="0" smtClean="0"/>
              <a:t>Area = Height * Width </a:t>
            </a:r>
          </a:p>
          <a:p>
            <a:pPr algn="ctr">
              <a:buNone/>
            </a:pPr>
            <a:r>
              <a:rPr lang="en-US" dirty="0" smtClean="0"/>
              <a:t>Isn’t much help!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Area Under a Curve</a:t>
            </a:r>
            <a:endParaRPr lang="en-US" dirty="0"/>
          </a:p>
        </p:txBody>
      </p:sp>
      <p:pic>
        <p:nvPicPr>
          <p:cNvPr id="2050" name="Picture 2" descr="C:\Users\williams\Desktop\plo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048000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534400" cy="4843272"/>
          </a:xfrm>
        </p:spPr>
        <p:txBody>
          <a:bodyPr>
            <a:normAutofit lnSpcReduction="10000"/>
          </a:bodyPr>
          <a:lstStyle/>
          <a:p>
            <a:pPr marL="624078" indent="-514350">
              <a:buAutoNum type="arabicPeriod"/>
            </a:pPr>
            <a:r>
              <a:rPr lang="en-US" dirty="0" smtClean="0"/>
              <a:t>Something was changing, so we couldn’t use the old algebra formulas.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Break the problem into pieces.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Pretend everything is constant on each piece.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AutoNum type="arabicPeriod"/>
            </a:pPr>
            <a:r>
              <a:rPr lang="en-US" dirty="0" smtClean="0"/>
              <a:t>Add up the pieces. (Riemann Sum)</a:t>
            </a:r>
          </a:p>
          <a:p>
            <a:pPr marL="624078" indent="-514350">
              <a:buAutoNum type="arabicPeriod"/>
            </a:pPr>
            <a:endParaRPr lang="en-US" dirty="0" smtClean="0"/>
          </a:p>
          <a:p>
            <a:pPr marL="624078" indent="-514350">
              <a:buFont typeface="Wingdings 3"/>
              <a:buAutoNum type="arabicPeriod"/>
            </a:pPr>
            <a:r>
              <a:rPr lang="en-US" dirty="0" smtClean="0">
                <a:solidFill>
                  <a:schemeClr val="accent2">
                    <a:lumMod val="50000"/>
                  </a:schemeClr>
                </a:solidFill>
              </a:rPr>
              <a:t>If we use more and more pieces, the limit is the right answer (definite integral)!</a:t>
            </a:r>
          </a:p>
          <a:p>
            <a:pPr marL="624078" indent="-514350">
              <a:buAutoNum type="arabicPeriod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We Just Do?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Left Endpoints</a:t>
            </a:r>
            <a:endParaRPr lang="en-US" dirty="0"/>
          </a:p>
        </p:txBody>
      </p:sp>
      <p:pic>
        <p:nvPicPr>
          <p:cNvPr id="3074" name="Picture 2" descr="C:\Users\williams\Desktop\leftbox-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057400"/>
            <a:ext cx="3810000" cy="3810000"/>
          </a:xfrm>
          <a:prstGeom prst="rect">
            <a:avLst/>
          </a:prstGeom>
          <a:noFill/>
        </p:spPr>
      </p:pic>
      <p:sp>
        <p:nvSpPr>
          <p:cNvPr id="5" name="Content Placeholder 1"/>
          <p:cNvSpPr txBox="1">
            <a:spLocks/>
          </p:cNvSpPr>
          <p:nvPr/>
        </p:nvSpPr>
        <p:spPr>
          <a:xfrm>
            <a:off x="6400800" y="1219200"/>
            <a:ext cx="2514600" cy="5148072"/>
          </a:xfrm>
          <a:prstGeom prst="rect">
            <a:avLst/>
          </a:prstGeom>
          <a:solidFill>
            <a:schemeClr val="accent5">
              <a:lumMod val="75000"/>
              <a:alpha val="47000"/>
            </a:schemeClr>
          </a:solidFill>
        </p:spPr>
        <p:txBody>
          <a:bodyPr vert="horz">
            <a:normAutofit/>
          </a:bodyPr>
          <a:lstStyle/>
          <a:p>
            <a:pPr marL="365760" marR="0" lvl="0" indent="-256032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     * 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1.25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2     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2.25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5     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7.25 *  0.5</a:t>
            </a:r>
          </a:p>
          <a:p>
            <a:pPr marL="365760" lvl="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    9.375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 dirty="0" smtClean="0"/>
          </a:p>
          <a:p>
            <a:pPr marL="365760" marR="0" lvl="0" indent="-256032" algn="l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400800" y="5208495"/>
            <a:ext cx="25146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24600" y="4724400"/>
            <a:ext cx="22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+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8" grpId="0" uiExpan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Right Endpoints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400800" y="5208495"/>
            <a:ext cx="25146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24600" y="4724400"/>
            <a:ext cx="22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+</a:t>
            </a:r>
            <a:endParaRPr lang="en-US" sz="2400" b="1" dirty="0"/>
          </a:p>
        </p:txBody>
      </p:sp>
      <p:pic>
        <p:nvPicPr>
          <p:cNvPr id="4098" name="Picture 2" descr="C:\Users\williams\Desktop\rightbox-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28800"/>
            <a:ext cx="3810000" cy="3810000"/>
          </a:xfrm>
          <a:prstGeom prst="rect">
            <a:avLst/>
          </a:prstGeom>
          <a:noFill/>
        </p:spPr>
      </p:pic>
      <p:sp>
        <p:nvSpPr>
          <p:cNvPr id="9" name="Content Placeholder 1"/>
          <p:cNvSpPr txBox="1">
            <a:spLocks/>
          </p:cNvSpPr>
          <p:nvPr/>
        </p:nvSpPr>
        <p:spPr>
          <a:xfrm>
            <a:off x="6400800" y="1219200"/>
            <a:ext cx="2514600" cy="5148072"/>
          </a:xfrm>
          <a:prstGeom prst="rect">
            <a:avLst/>
          </a:prstGeom>
          <a:solidFill>
            <a:schemeClr val="accent5">
              <a:lumMod val="75000"/>
              <a:alpha val="47000"/>
            </a:schemeClr>
          </a:solidFill>
        </p:spPr>
        <p:txBody>
          <a:bodyPr vert="horz">
            <a:normAutofit/>
          </a:bodyPr>
          <a:lstStyle/>
          <a:p>
            <a:pPr marL="365760" marR="0" lvl="0" indent="-256032" defTabSz="914400" rtl="0" eaLnBrk="1" fontAlgn="auto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700" dirty="0" smtClean="0"/>
              <a:t> 1.25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2     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2.25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5     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7.25 *  0.5</a:t>
            </a:r>
          </a:p>
          <a:p>
            <a:pPr marL="36576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 10   *  0.5</a:t>
            </a:r>
          </a:p>
          <a:p>
            <a:pPr marL="365760" lvl="0" indent="-256032">
              <a:lnSpc>
                <a:spcPct val="150000"/>
              </a:lnSpc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700" dirty="0" smtClean="0"/>
              <a:t>    13.875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/>
      <p:bldP spid="9" grpId="0" uiExpand="1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219201"/>
            <a:ext cx="8229600" cy="1371600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As we use more pieces, the sum </a:t>
            </a:r>
            <a:br>
              <a:rPr lang="en-US" dirty="0" smtClean="0"/>
            </a:br>
            <a:r>
              <a:rPr lang="en-US" dirty="0" smtClean="0"/>
              <a:t>gets closer and closer to </a:t>
            </a:r>
            <a:r>
              <a:rPr lang="en-US" dirty="0" smtClean="0">
                <a:solidFill>
                  <a:srgbClr val="FF0000"/>
                </a:solidFill>
              </a:rPr>
              <a:t>12</a:t>
            </a:r>
            <a:r>
              <a:rPr lang="en-US" dirty="0" smtClean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More Pieces</a:t>
            </a:r>
            <a:endParaRPr lang="en-US" dirty="0"/>
          </a:p>
        </p:txBody>
      </p:sp>
      <p:pic>
        <p:nvPicPr>
          <p:cNvPr id="5122" name="Picture 2" descr="C:\Users\williams\Desktop\rightbox-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2590800"/>
            <a:ext cx="3810000" cy="3810000"/>
          </a:xfrm>
          <a:prstGeom prst="rect">
            <a:avLst/>
          </a:prstGeom>
          <a:noFill/>
        </p:spPr>
      </p:pic>
      <p:pic>
        <p:nvPicPr>
          <p:cNvPr id="5123" name="Picture 3" descr="C:\Users\williams\Desktop\leftbox-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514600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1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 - &amp;quot;Welcome to Calculus II&amp;quot;&quot;/&gt;&lt;property id=&quot;20307&quot; value=&quot;303&quot;/&gt;&lt;/object&gt;&lt;object type=&quot;3&quot; unique_id=&quot;10004&quot;&gt;&lt;property id=&quot;20148&quot; value=&quot;5&quot;/&gt;&lt;property id=&quot;20300&quot; value=&quot;Slide 2 - &amp;quot;Basic Course Information&amp;quot;&quot;/&gt;&lt;property id=&quot;20307&quot; value=&quot;306&quot;/&gt;&lt;/object&gt;&lt;object type=&quot;3&quot; unique_id=&quot;10005&quot;&gt;&lt;property id=&quot;20148&quot; value=&quot;5&quot;/&gt;&lt;property id=&quot;20300&quot; value=&quot;Slide 3 - &amp;quot;The Nature of Calculus II&amp;quot;&quot;/&gt;&lt;property id=&quot;20307&quot; value=&quot;307&quot;/&gt;&lt;/object&gt;&lt;object type=&quot;3&quot; unique_id=&quot;10006&quot;&gt;&lt;property id=&quot;20148&quot; value=&quot;5&quot;/&gt;&lt;property id=&quot;20300&quot; value=&quot;Slide 4 - &amp;quot;Top Reasons Students Struggle&amp;quot;&quot;/&gt;&lt;property id=&quot;20307&quot; value=&quot;308&quot;/&gt;&lt;/object&gt;&lt;object type=&quot;3&quot; unique_id=&quot;10007&quot;&gt;&lt;property id=&quot;20148&quot; value=&quot;5&quot;/&gt;&lt;property id=&quot;20300&quot; value=&quot;Slide 5 - &amp;quot;The First Big Idea&amp;quot;&quot;/&gt;&lt;property id=&quot;20307&quot; value=&quot;256&quot;/&gt;&lt;/object&gt;&lt;object type=&quot;3&quot; unique_id=&quot;10008&quot;&gt;&lt;property id=&quot;20148&quot; value=&quot;5&quot;/&gt;&lt;property id=&quot;20300&quot; value=&quot;Slide 6 - &amp;quot;Let’s Talk&amp;quot;&quot;/&gt;&lt;property id=&quot;20307&quot; value=&quot;257&quot;/&gt;&lt;/object&gt;&lt;object type=&quot;3&quot; unique_id=&quot;10009&quot;&gt;&lt;property id=&quot;20148&quot; value=&quot;5&quot;/&gt;&lt;property id=&quot;20300&quot; value=&quot;Slide 7 - &amp;quot;What’s Algebra All About?&amp;quot;&quot;/&gt;&lt;property id=&quot;20307&quot; value=&quot;258&quot;/&gt;&lt;/object&gt;&lt;object type=&quot;3&quot; unique_id=&quot;10010&quot;&gt;&lt;property id=&quot;20148&quot; value=&quot;5&quot;/&gt;&lt;property id=&quot;20300&quot; value=&quot;Slide 8 - &amp;quot;Example&amp;quot;&quot;/&gt;&lt;property id=&quot;20307&quot; value=&quot;259&quot;/&gt;&lt;/object&gt;&lt;object type=&quot;3&quot; unique_id=&quot;10011&quot;&gt;&lt;property id=&quot;20148&quot; value=&quot;5&quot;/&gt;&lt;property id=&quot;20300&quot; value=&quot;Slide 9 - &amp;quot;y = 60 x&amp;quot;&quot;/&gt;&lt;property id=&quot;20307&quot; value=&quot;260&quot;/&gt;&lt;/object&gt;&lt;object type=&quot;3&quot; unique_id=&quot;10012&quot;&gt;&lt;property id=&quot;20148&quot; value=&quot;5&quot;/&gt;&lt;property id=&quot;20300&quot; value=&quot;Slide 10 - &amp;quot;What Algebra Can’t Do&amp;quot;&quot;/&gt;&lt;property id=&quot;20307&quot; value=&quot;261&quot;/&gt;&lt;/object&gt;&lt;object type=&quot;3&quot; unique_id=&quot;10013&quot;&gt;&lt;property id=&quot;20148&quot; value=&quot;5&quot;/&gt;&lt;property id=&quot;20300&quot; value=&quot;Slide 11 - &amp;quot;Experiment&amp;quot;&quot;/&gt;&lt;property id=&quot;20307&quot; value=&quot;262&quot;/&gt;&lt;/object&gt;&lt;object type=&quot;3&quot; unique_id=&quot;10014&quot;&gt;&lt;property id=&quot;20148&quot; value=&quot;5&quot;/&gt;&lt;property id=&quot;20300&quot; value=&quot;Slide 12&quot;/&gt;&lt;property id=&quot;20307&quot; value=&quot;263&quot;/&gt;&lt;/object&gt;&lt;object type=&quot;3&quot; unique_id=&quot;10015&quot;&gt;&lt;property id=&quot;20148&quot; value=&quot;5&quot;/&gt;&lt;property id=&quot;20300&quot; value=&quot;Slide 13&quot;/&gt;&lt;property id=&quot;20307&quot; value=&quot;264&quot;/&gt;&lt;/object&gt;&lt;object type=&quot;3&quot; unique_id=&quot;10016&quot;&gt;&lt;property id=&quot;20148&quot; value=&quot;5&quot;/&gt;&lt;property id=&quot;20300&quot; value=&quot;Slide 14 - &amp;quot;Extend Our Experiment&amp;quot;&quot;/&gt;&lt;property id=&quot;20307&quot; value=&quot;265&quot;/&gt;&lt;/object&gt;&lt;object type=&quot;3&quot; unique_id=&quot;10017&quot;&gt;&lt;property id=&quot;20148&quot; value=&quot;5&quot;/&gt;&lt;property id=&quot;20300&quot; value=&quot;Slide 15 - &amp;quot;Break It Into Pieces&amp;quot;&quot;/&gt;&lt;property id=&quot;20307&quot; value=&quot;266&quot;/&gt;&lt;/object&gt;&lt;object type=&quot;3&quot; unique_id=&quot;10018&quot;&gt;&lt;property id=&quot;20148&quot; value=&quot;5&quot;/&gt;&lt;property id=&quot;20300&quot; value=&quot;Slide 16 - &amp;quot;Pretend Speed Is Constant&amp;quot;&quot;/&gt;&lt;property id=&quot;20307&quot; value=&quot;269&quot;/&gt;&lt;/object&gt;&lt;object type=&quot;3&quot; unique_id=&quot;10019&quot;&gt;&lt;property id=&quot;20148&quot; value=&quot;5&quot;/&gt;&lt;property id=&quot;20300&quot; value=&quot;Slide 17 - &amp;quot;Use The Old Formula On Each Piece&amp;quot;&quot;/&gt;&lt;property id=&quot;20307&quot; value=&quot;271&quot;/&gt;&lt;/object&gt;&lt;object type=&quot;3&quot; unique_id=&quot;10020&quot;&gt;&lt;property id=&quot;20148&quot; value=&quot;5&quot;/&gt;&lt;property id=&quot;20300&quot; value=&quot;Slide 18 - &amp;quot;Add Up The Pieces&amp;quot;&quot;/&gt;&lt;property id=&quot;20307&quot; value=&quot;272&quot;/&gt;&lt;/object&gt;&lt;object type=&quot;3&quot; unique_id=&quot;10021&quot;&gt;&lt;property id=&quot;20148&quot; value=&quot;5&quot;/&gt;&lt;property id=&quot;20300&quot; value=&quot;Slide 19 - &amp;quot;Big Idea&amp;quot;&quot;/&gt;&lt;property id=&quot;20307&quot; value=&quot;273&quot;/&gt;&lt;/object&gt;&lt;object type=&quot;3&quot; unique_id=&quot;10022&quot;&gt;&lt;property id=&quot;20148&quot; value=&quot;5&quot;/&gt;&lt;property id=&quot;20300&quot; value=&quot;Slide 20 - &amp;quot;Area&amp;quot;&quot;/&gt;&lt;property id=&quot;20307&quot; value=&quot;296&quot;/&gt;&lt;/object&gt;&lt;object type=&quot;3&quot; unique_id=&quot;10023&quot;&gt;&lt;property id=&quot;20148&quot; value=&quot;5&quot;/&gt;&lt;property id=&quot;20300&quot; value=&quot;Slide 21 - &amp;quot;Area Under a Curve&amp;quot;&quot;/&gt;&lt;property id=&quot;20307&quot; value=&quot;297&quot;/&gt;&lt;/object&gt;&lt;object type=&quot;3&quot; unique_id=&quot;10024&quot;&gt;&lt;property id=&quot;20148&quot; value=&quot;5&quot;/&gt;&lt;property id=&quot;20300&quot; value=&quot;Slide 22 - &amp;quot;What Did We Just Do?&amp;quot;&quot;/&gt;&lt;property id=&quot;20307&quot; value=&quot;298&quot;/&gt;&lt;/object&gt;&lt;object type=&quot;3&quot; unique_id=&quot;10025&quot;&gt;&lt;property id=&quot;20148&quot; value=&quot;5&quot;/&gt;&lt;property id=&quot;20300&quot; value=&quot;Slide 23 - &amp;quot;Use Left Endpoints&amp;quot;&quot;/&gt;&lt;property id=&quot;20307&quot; value=&quot;299&quot;/&gt;&lt;/object&gt;&lt;object type=&quot;3&quot; unique_id=&quot;10026&quot;&gt;&lt;property id=&quot;20148&quot; value=&quot;5&quot;/&gt;&lt;property id=&quot;20300&quot; value=&quot;Slide 24 - &amp;quot;Use Right Endpoints&amp;quot;&quot;/&gt;&lt;property id=&quot;20307&quot; value=&quot;300&quot;/&gt;&lt;/object&gt;&lt;object type=&quot;3&quot; unique_id=&quot;10027&quot;&gt;&lt;property id=&quot;20148&quot; value=&quot;5&quot;/&gt;&lt;property id=&quot;20300&quot; value=&quot;Slide 25 - &amp;quot;Use More Pieces&amp;quot;&quot;/&gt;&lt;property id=&quot;20307&quot; value=&quot;301&quot;/&gt;&lt;/object&gt;&lt;/object&gt;&lt;object type=&quot;8&quot; unique_id=&quot;10054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627</TotalTime>
  <Words>567</Words>
  <Application>Microsoft Office PowerPoint</Application>
  <PresentationFormat>On-screen Show (4:3)</PresentationFormat>
  <Paragraphs>154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Lucida Sans Unicode</vt:lpstr>
      <vt:lpstr>Verdana</vt:lpstr>
      <vt:lpstr>Wingdings 2</vt:lpstr>
      <vt:lpstr>Wingdings 3</vt:lpstr>
      <vt:lpstr>Concourse</vt:lpstr>
      <vt:lpstr>Equation</vt:lpstr>
      <vt:lpstr>Welcome to Calculus II</vt:lpstr>
      <vt:lpstr>Basic Course Information</vt:lpstr>
      <vt:lpstr>The Nature of Calculus II</vt:lpstr>
      <vt:lpstr>Top Reasons Students Struggle</vt:lpstr>
      <vt:lpstr>The First Big Idea</vt:lpstr>
      <vt:lpstr>Let’s Talk</vt:lpstr>
      <vt:lpstr>What’s Algebra All About?</vt:lpstr>
      <vt:lpstr>Example</vt:lpstr>
      <vt:lpstr>y = 60 x</vt:lpstr>
      <vt:lpstr>What Algebra Can’t Do</vt:lpstr>
      <vt:lpstr>Experiment</vt:lpstr>
      <vt:lpstr>PowerPoint Presentation</vt:lpstr>
      <vt:lpstr>PowerPoint Presentation</vt:lpstr>
      <vt:lpstr>Extend Our Experiment</vt:lpstr>
      <vt:lpstr>Break It Into Pieces</vt:lpstr>
      <vt:lpstr>Pretend Speed Is Constant</vt:lpstr>
      <vt:lpstr>Use The Old Formula On Each Piece</vt:lpstr>
      <vt:lpstr>Add Up The Pieces</vt:lpstr>
      <vt:lpstr>Big Idea</vt:lpstr>
      <vt:lpstr>Area</vt:lpstr>
      <vt:lpstr>Area Under a Curve</vt:lpstr>
      <vt:lpstr>What Did We Just Do?</vt:lpstr>
      <vt:lpstr>Use Left Endpoints</vt:lpstr>
      <vt:lpstr>Use Right Endpoints</vt:lpstr>
      <vt:lpstr>Use More Pieces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What’s Calculus  Really All About?</dc:title>
  <dc:creator>williams</dc:creator>
  <cp:lastModifiedBy>Pearce, Kent</cp:lastModifiedBy>
  <cp:revision>73</cp:revision>
  <dcterms:created xsi:type="dcterms:W3CDTF">2010-05-06T04:36:06Z</dcterms:created>
  <dcterms:modified xsi:type="dcterms:W3CDTF">2015-01-08T15:09:33Z</dcterms:modified>
</cp:coreProperties>
</file>