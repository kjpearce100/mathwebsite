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1" r:id="rId4"/>
    <p:sldId id="263" r:id="rId5"/>
    <p:sldId id="262" r:id="rId6"/>
    <p:sldId id="264" r:id="rId7"/>
    <p:sldId id="265" r:id="rId8"/>
    <p:sldId id="257" r:id="rId9"/>
    <p:sldId id="266" r:id="rId10"/>
    <p:sldId id="260" r:id="rId11"/>
    <p:sldId id="267" r:id="rId12"/>
    <p:sldId id="268" r:id="rId13"/>
    <p:sldId id="270" r:id="rId14"/>
    <p:sldId id="269" r:id="rId15"/>
    <p:sldId id="258" r:id="rId16"/>
    <p:sldId id="272" r:id="rId17"/>
    <p:sldId id="273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-99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31728E-F396-4E41-8BE5-FE935B625B63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6AED236-9FF5-4AF0-A046-6E23774FC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31728E-F396-4E41-8BE5-FE935B625B63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AED236-9FF5-4AF0-A046-6E23774FC4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31728E-F396-4E41-8BE5-FE935B625B63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AED236-9FF5-4AF0-A046-6E23774FC4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31728E-F396-4E41-8BE5-FE935B625B63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AED236-9FF5-4AF0-A046-6E23774FC4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31728E-F396-4E41-8BE5-FE935B625B63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AED236-9FF5-4AF0-A046-6E23774FC42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31728E-F396-4E41-8BE5-FE935B625B63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AED236-9FF5-4AF0-A046-6E23774FC42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31728E-F396-4E41-8BE5-FE935B625B63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AED236-9FF5-4AF0-A046-6E23774FC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B431728E-F396-4E41-8BE5-FE935B625B63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AED236-9FF5-4AF0-A046-6E23774FC42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31728E-F396-4E41-8BE5-FE935B625B63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6AED236-9FF5-4AF0-A046-6E23774FC42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31728E-F396-4E41-8BE5-FE935B625B63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AED236-9FF5-4AF0-A046-6E23774FC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31728E-F396-4E41-8BE5-FE935B625B63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AED236-9FF5-4AF0-A046-6E23774FC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31728E-F396-4E41-8BE5-FE935B625B63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36AED236-9FF5-4AF0-A046-6E23774FC42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oleObject" Target="../embeddings/oleObject1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oleObject" Target="../embeddings/oleObject19.bin"/><Relationship Id="rId4" Type="http://schemas.openxmlformats.org/officeDocument/2006/relationships/oleObject" Target="../embeddings/oleObject1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3.bin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Section 7.5: Review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209800"/>
            <a:ext cx="8229600" cy="1130491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473450" y="395288"/>
          <a:ext cx="2336257" cy="1204912"/>
        </p:xfrm>
        <a:graphic>
          <a:graphicData uri="http://schemas.openxmlformats.org/presentationml/2006/ole">
            <p:oleObj spid="_x0000_s3074" name="Equation" r:id="rId3" imgW="838080" imgH="431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209800"/>
            <a:ext cx="8229600" cy="1130491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Substitution with u = x</a:t>
            </a:r>
            <a:r>
              <a:rPr lang="en-US" baseline="30000" dirty="0" smtClean="0"/>
              <a:t>2</a:t>
            </a:r>
            <a:r>
              <a:rPr lang="en-US" dirty="0" smtClean="0"/>
              <a:t> +4</a:t>
            </a:r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473450" y="395288"/>
          <a:ext cx="2336257" cy="1204912"/>
        </p:xfrm>
        <a:graphic>
          <a:graphicData uri="http://schemas.openxmlformats.org/presentationml/2006/ole">
            <p:oleObj spid="_x0000_s5122" name="Equation" r:id="rId3" imgW="838080" imgH="431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209800"/>
            <a:ext cx="8229600" cy="1130491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Substitution with u = x</a:t>
            </a:r>
            <a:r>
              <a:rPr lang="en-US" baseline="30000" dirty="0" smtClean="0"/>
              <a:t>2</a:t>
            </a:r>
            <a:r>
              <a:rPr lang="en-US" dirty="0" smtClean="0"/>
              <a:t> +4</a:t>
            </a:r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473450" y="395288"/>
          <a:ext cx="2336257" cy="1204912"/>
        </p:xfrm>
        <a:graphic>
          <a:graphicData uri="http://schemas.openxmlformats.org/presentationml/2006/ole">
            <p:oleObj spid="_x0000_s8194" name="Equation" r:id="rId3" imgW="838080" imgH="431640" progId="Equation.DSMT4">
              <p:embed/>
            </p:oleObj>
          </a:graphicData>
        </a:graphic>
      </p:graphicFrame>
      <p:sp>
        <p:nvSpPr>
          <p:cNvPr id="4" name="Content Placeholder 1"/>
          <p:cNvSpPr txBox="1">
            <a:spLocks/>
          </p:cNvSpPr>
          <p:nvPr/>
        </p:nvSpPr>
        <p:spPr>
          <a:xfrm>
            <a:off x="685800" y="3212909"/>
            <a:ext cx="8229600" cy="1130491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/>
          <a:p>
            <a:pPr marL="365760" marR="0" lvl="0" indent="-256032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endParaRPr lang="en-US" sz="2700" dirty="0"/>
          </a:p>
          <a:p>
            <a:pPr marL="365760" marR="0" lvl="0" indent="-256032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Trig Substitution</a:t>
            </a:r>
            <a:r>
              <a:rPr kumimoji="0" lang="en-US" sz="27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with x = 2 tan</a:t>
            </a:r>
            <a:r>
              <a:rPr kumimoji="0" lang="el-GR" sz="27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θ</a:t>
            </a:r>
            <a:endParaRPr kumimoji="0" lang="en-US" sz="27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209800"/>
            <a:ext cx="8229600" cy="1130491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597274" y="608012"/>
          <a:ext cx="2455071" cy="915987"/>
        </p:xfrm>
        <a:graphic>
          <a:graphicData uri="http://schemas.openxmlformats.org/presentationml/2006/ole">
            <p:oleObj spid="_x0000_s6146" name="Equation" r:id="rId3" imgW="749160" imgH="2793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209800"/>
            <a:ext cx="8229600" cy="1130491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Integration by Parts</a:t>
            </a:r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597274" y="608012"/>
          <a:ext cx="2455071" cy="915987"/>
        </p:xfrm>
        <a:graphic>
          <a:graphicData uri="http://schemas.openxmlformats.org/presentationml/2006/ole">
            <p:oleObj spid="_x0000_s9218" name="Equation" r:id="rId3" imgW="749160" imgH="2793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209800"/>
            <a:ext cx="8229600" cy="29718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 smtClean="0"/>
              <a:t>Integration by Parts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u=</a:t>
            </a:r>
            <a:r>
              <a:rPr lang="en-US" dirty="0" err="1" smtClean="0"/>
              <a:t>ln</a:t>
            </a:r>
            <a:r>
              <a:rPr lang="en-US" dirty="0" smtClean="0"/>
              <a:t> x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err="1" smtClean="0"/>
              <a:t>dv</a:t>
            </a:r>
            <a:r>
              <a:rPr lang="en-US" dirty="0" smtClean="0"/>
              <a:t> = x</a:t>
            </a:r>
            <a:r>
              <a:rPr lang="en-US" baseline="30000" dirty="0" smtClean="0"/>
              <a:t>3</a:t>
            </a:r>
            <a:r>
              <a:rPr lang="en-US" dirty="0" smtClean="0"/>
              <a:t> </a:t>
            </a:r>
            <a:r>
              <a:rPr lang="en-US" dirty="0" err="1" smtClean="0"/>
              <a:t>dx</a:t>
            </a:r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597274" y="608012"/>
          <a:ext cx="2455071" cy="915987"/>
        </p:xfrm>
        <a:graphic>
          <a:graphicData uri="http://schemas.openxmlformats.org/presentationml/2006/ole">
            <p:oleObj spid="_x0000_s10242" name="Equation" r:id="rId3" imgW="749160" imgH="2793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1130491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206750" y="381000"/>
          <a:ext cx="2401888" cy="990600"/>
        </p:xfrm>
        <a:graphic>
          <a:graphicData uri="http://schemas.openxmlformats.org/presentationml/2006/ole">
            <p:oleObj spid="_x0000_s1026" name="Equation" r:id="rId3" imgW="1079280" imgH="4442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2133600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Long Division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Then Partial Fractions</a:t>
            </a:r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206750" y="381000"/>
          <a:ext cx="2401888" cy="990600"/>
        </p:xfrm>
        <a:graphic>
          <a:graphicData uri="http://schemas.openxmlformats.org/presentationml/2006/ole">
            <p:oleObj spid="_x0000_s11266" name="Equation" r:id="rId3" imgW="1079280" imgH="4442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229600" cy="3492691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417888" y="395288"/>
          <a:ext cx="1978025" cy="962025"/>
        </p:xfrm>
        <a:graphic>
          <a:graphicData uri="http://schemas.openxmlformats.org/presentationml/2006/ole">
            <p:oleObj spid="_x0000_s4098" name="Equation" r:id="rId3" imgW="888840" imgH="431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229600" cy="3492691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Known Formula:   3 sec</a:t>
            </a:r>
            <a:r>
              <a:rPr lang="en-US" baseline="30000" dirty="0" smtClean="0"/>
              <a:t>-1 </a:t>
            </a:r>
            <a:r>
              <a:rPr lang="en-US" dirty="0" smtClean="0"/>
              <a:t>x + C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417888" y="395288"/>
          <a:ext cx="1978025" cy="962025"/>
        </p:xfrm>
        <a:graphic>
          <a:graphicData uri="http://schemas.openxmlformats.org/presentationml/2006/ole">
            <p:oleObj spid="_x0000_s12290" name="Equation" r:id="rId3" imgW="888840" imgH="431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229600" cy="3492691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Known Formula:   3 sec</a:t>
            </a:r>
            <a:r>
              <a:rPr lang="en-US" baseline="30000" dirty="0" smtClean="0"/>
              <a:t>-1 </a:t>
            </a:r>
            <a:r>
              <a:rPr lang="en-US" dirty="0" smtClean="0"/>
              <a:t>x + C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OR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Trig </a:t>
            </a:r>
            <a:r>
              <a:rPr lang="en-US" dirty="0" err="1" smtClean="0"/>
              <a:t>Substition</a:t>
            </a:r>
            <a:endParaRPr lang="en-US" dirty="0" smtClean="0"/>
          </a:p>
          <a:p>
            <a:pPr algn="ctr">
              <a:buNone/>
            </a:pPr>
            <a:r>
              <a:rPr lang="en-US" dirty="0" smtClean="0"/>
              <a:t>x = sec </a:t>
            </a:r>
            <a:r>
              <a:rPr lang="el-GR" dirty="0" smtClean="0"/>
              <a:t>θ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417888" y="395288"/>
          <a:ext cx="1978025" cy="962025"/>
        </p:xfrm>
        <a:graphic>
          <a:graphicData uri="http://schemas.openxmlformats.org/presentationml/2006/ole">
            <p:oleObj spid="_x0000_s13314" name="Equation" r:id="rId3" imgW="888840" imgH="431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403600" y="381000"/>
          <a:ext cx="2006600" cy="990600"/>
        </p:xfrm>
        <a:graphic>
          <a:graphicData uri="http://schemas.openxmlformats.org/presentationml/2006/ole">
            <p:oleObj spid="_x0000_s16386" name="Equation" r:id="rId3" imgW="901440" imgH="444240" progId="Equation.DSMT4">
              <p:embed/>
            </p:oleObj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438400"/>
            <a:ext cx="8229600" cy="1130491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Partial Fractions</a:t>
            </a:r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403600" y="381000"/>
          <a:ext cx="2006600" cy="990600"/>
        </p:xfrm>
        <a:graphic>
          <a:graphicData uri="http://schemas.openxmlformats.org/presentationml/2006/ole">
            <p:oleObj spid="_x0000_s14338" name="Equation" r:id="rId3" imgW="901440" imgH="4442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163888" y="395288"/>
          <a:ext cx="2487612" cy="962025"/>
        </p:xfrm>
        <a:graphic>
          <a:graphicData uri="http://schemas.openxmlformats.org/presentationml/2006/ole">
            <p:oleObj spid="_x0000_s2050" name="Equation" r:id="rId3" imgW="1117440" imgH="431640" progId="Equation.DSMT4">
              <p:embed/>
            </p:oleObj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163888" y="395288"/>
          <a:ext cx="2487612" cy="962025"/>
        </p:xfrm>
        <a:graphic>
          <a:graphicData uri="http://schemas.openxmlformats.org/presentationml/2006/ole">
            <p:oleObj spid="_x0000_s18434" name="Equation" r:id="rId3" imgW="1117440" imgH="431640" progId="Equation.DSMT4">
              <p:embed/>
            </p:oleObj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492691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Complete the Square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3429000" y="2819400"/>
          <a:ext cx="1951037" cy="622300"/>
        </p:xfrm>
        <a:graphic>
          <a:graphicData uri="http://schemas.openxmlformats.org/presentationml/2006/ole">
            <p:oleObj spid="_x0000_s18435" name="Equation" r:id="rId4" imgW="876240" imgH="2793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163888" y="395288"/>
          <a:ext cx="2487612" cy="962025"/>
        </p:xfrm>
        <a:graphic>
          <a:graphicData uri="http://schemas.openxmlformats.org/presentationml/2006/ole">
            <p:oleObj spid="_x0000_s19458" name="Equation" r:id="rId3" imgW="1117440" imgH="431640" progId="Equation.DSMT4">
              <p:embed/>
            </p:oleObj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492691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Complete the Square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Then Substitution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3429000" y="2819400"/>
          <a:ext cx="1951037" cy="622300"/>
        </p:xfrm>
        <a:graphic>
          <a:graphicData uri="http://schemas.openxmlformats.org/presentationml/2006/ole">
            <p:oleObj spid="_x0000_s19459" name="Equation" r:id="rId4" imgW="876240" imgH="279360" progId="Equation.DSMT4">
              <p:embed/>
            </p:oleObj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3962400" y="4572000"/>
          <a:ext cx="1233487" cy="458934"/>
        </p:xfrm>
        <a:graphic>
          <a:graphicData uri="http://schemas.openxmlformats.org/presentationml/2006/ole">
            <p:oleObj spid="_x0000_s19460" name="Equation" r:id="rId5" imgW="545760" imgH="2030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163888" y="395288"/>
          <a:ext cx="2487612" cy="962025"/>
        </p:xfrm>
        <a:graphic>
          <a:graphicData uri="http://schemas.openxmlformats.org/presentationml/2006/ole">
            <p:oleObj spid="_x0000_s22530" name="Equation" r:id="rId3" imgW="1117440" imgH="431640" progId="Equation.DSMT4">
              <p:embed/>
            </p:oleObj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4196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 smtClean="0"/>
              <a:t>Complete the Square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Then Substitution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Then Trig </a:t>
            </a:r>
            <a:r>
              <a:rPr lang="en-US" dirty="0" err="1" smtClean="0"/>
              <a:t>Substition</a:t>
            </a: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3429000" y="2819400"/>
          <a:ext cx="1951037" cy="622300"/>
        </p:xfrm>
        <a:graphic>
          <a:graphicData uri="http://schemas.openxmlformats.org/presentationml/2006/ole">
            <p:oleObj spid="_x0000_s22531" name="Equation" r:id="rId4" imgW="876240" imgH="279360" progId="Equation.DSMT4">
              <p:embed/>
            </p:oleObj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3962400" y="4495800"/>
          <a:ext cx="1233487" cy="458934"/>
        </p:xfrm>
        <a:graphic>
          <a:graphicData uri="http://schemas.openxmlformats.org/presentationml/2006/ole">
            <p:oleObj spid="_x0000_s22532" name="Equation" r:id="rId5" imgW="545760" imgH="203040" progId="Equation.DSMT4">
              <p:embed/>
            </p:oleObj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3724275" y="6053138"/>
          <a:ext cx="1863725" cy="544512"/>
        </p:xfrm>
        <a:graphic>
          <a:graphicData uri="http://schemas.openxmlformats.org/presentationml/2006/ole">
            <p:oleObj spid="_x0000_s22533" name="Equation" r:id="rId6" imgW="825480" imgH="2412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74</TotalTime>
  <Words>85</Words>
  <Application>Microsoft Office PowerPoint</Application>
  <PresentationFormat>On-screen Show (4:3)</PresentationFormat>
  <Paragraphs>37</Paragraphs>
  <Slides>18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theme</vt:lpstr>
      <vt:lpstr>MathType 6.0 Equation</vt:lpstr>
      <vt:lpstr>Section 7.5: Review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7.5: Review</dc:title>
  <dc:creator>Brock Williams</dc:creator>
  <cp:lastModifiedBy>Brock Williams</cp:lastModifiedBy>
  <cp:revision>9</cp:revision>
  <dcterms:created xsi:type="dcterms:W3CDTF">2011-02-17T15:46:41Z</dcterms:created>
  <dcterms:modified xsi:type="dcterms:W3CDTF">2011-02-17T17:00:46Z</dcterms:modified>
</cp:coreProperties>
</file>