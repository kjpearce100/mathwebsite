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0"/>
  </p:notesMasterIdLst>
  <p:sldIdLst>
    <p:sldId id="256" r:id="rId2"/>
    <p:sldId id="257" r:id="rId3"/>
    <p:sldId id="259" r:id="rId4"/>
    <p:sldId id="262" r:id="rId5"/>
    <p:sldId id="261" r:id="rId6"/>
    <p:sldId id="258" r:id="rId7"/>
    <p:sldId id="263" r:id="rId8"/>
    <p:sldId id="265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04" autoAdjust="0"/>
    <p:restoredTop sz="94718" autoAdjust="0"/>
  </p:normalViewPr>
  <p:slideViewPr>
    <p:cSldViewPr>
      <p:cViewPr varScale="1">
        <p:scale>
          <a:sx n="107" d="100"/>
          <a:sy n="107" d="100"/>
        </p:scale>
        <p:origin x="-228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85276-4348-4BFB-9B63-AF9E9308948B}" type="datetimeFigureOut">
              <a:rPr lang="en-US" smtClean="0"/>
              <a:pPr/>
              <a:t>3/14/2011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A0A9C-EF98-4743-B4E5-7BB3700F86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324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A0A9C-EF98-4743-B4E5-7BB3700F861F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64209EF-4DC6-44A9-BAAE-1F8B8035F6AE}" type="datetime1">
              <a:rPr lang="en-US" smtClean="0"/>
              <a:pPr/>
              <a:t>3/14/2011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234BD95-98E8-4734-9974-37C1D765B88C}" type="datetime1">
              <a:rPr lang="en-US" smtClean="0"/>
              <a:pPr/>
              <a:t>3/14/2011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034D968-7D26-4366-9831-D4B854822173}" type="datetime1">
              <a:rPr lang="en-US" smtClean="0"/>
              <a:pPr/>
              <a:t>3/14/2011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A2D4892-F3B6-4B89-BAE5-177089BFE8F6}" type="datetime1">
              <a:rPr lang="en-US" smtClean="0"/>
              <a:pPr/>
              <a:t>3/14/2011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993100-9B0A-4074-ACF2-147E6CC84FB9}" type="datetime1">
              <a:rPr lang="en-US" smtClean="0"/>
              <a:pPr/>
              <a:t>3/14/2011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6531E0D-A74B-4F68-BF77-3FB64E60CF19}" type="datetime1">
              <a:rPr lang="en-US" smtClean="0"/>
              <a:pPr/>
              <a:t>3/14/2011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7F5C82F-B5B4-4C51-830A-456FEAE1A573}" type="datetime1">
              <a:rPr lang="en-US" smtClean="0"/>
              <a:pPr/>
              <a:t>3/14/2011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D16AA0AE-4D0A-495C-A0C9-D86839E64676}" type="datetime1">
              <a:rPr lang="en-US" smtClean="0"/>
              <a:pPr/>
              <a:t>3/14/2011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C46CFDD-C88B-4216-B04F-A0B7D94C3C32}" type="datetime1">
              <a:rPr lang="en-US" smtClean="0"/>
              <a:pPr/>
              <a:t>3/14/2011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0861479-A97F-41B4-A8A3-37CABFF7D618}" type="datetime1">
              <a:rPr lang="en-US" smtClean="0"/>
              <a:pPr/>
              <a:t>3/14/2011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68FDBC3-02E6-4FAC-A7D1-2A1295A64F79}" type="datetime1">
              <a:rPr lang="en-US" smtClean="0"/>
              <a:pPr/>
              <a:t>3/14/2011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4D0119D1-034A-4000-A2CB-3EDD362C4136}" type="datetime1">
              <a:rPr lang="en-US" smtClean="0"/>
              <a:pPr/>
              <a:t>3/14/2011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6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13" Type="http://schemas.openxmlformats.org/officeDocument/2006/relationships/oleObject" Target="../embeddings/oleObject13.bin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0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2.wmf"/><Relationship Id="rId4" Type="http://schemas.openxmlformats.org/officeDocument/2006/relationships/image" Target="../media/image9.wmf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14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5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oleObject" Target="../embeddings/oleObject20.bin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2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7.w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6.bin"/><Relationship Id="rId10" Type="http://schemas.openxmlformats.org/officeDocument/2006/relationships/image" Target="../media/image19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2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286000" y="3124200"/>
            <a:ext cx="670559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>
                <a:latin typeface="Calibri" pitchFamily="34" charset="0"/>
                <a:cs typeface="Calibri" pitchFamily="34" charset="0"/>
              </a:rPr>
              <a:t>Section 8.3: </a:t>
            </a:r>
            <a:r>
              <a:rPr lang="en-US" sz="4400" b="1" dirty="0">
                <a:latin typeface="Calibri" pitchFamily="34" charset="0"/>
                <a:cs typeface="Calibri" pitchFamily="34" charset="0"/>
              </a:rPr>
              <a:t>Divergence </a:t>
            </a:r>
            <a:r>
              <a:rPr lang="en-US" sz="4400" b="1" dirty="0" smtClean="0">
                <a:latin typeface="Calibri" pitchFamily="34" charset="0"/>
                <a:cs typeface="Calibri" pitchFamily="34" charset="0"/>
              </a:rPr>
              <a:t>Test </a:t>
            </a:r>
            <a:br>
              <a:rPr lang="en-US" sz="4400" b="1" dirty="0" smtClean="0">
                <a:latin typeface="Calibri" pitchFamily="34" charset="0"/>
                <a:cs typeface="Calibri" pitchFamily="34" charset="0"/>
              </a:rPr>
            </a:br>
            <a:r>
              <a:rPr lang="en-US" sz="4400" b="1" dirty="0" smtClean="0">
                <a:latin typeface="Calibri" pitchFamily="34" charset="0"/>
                <a:cs typeface="Calibri" pitchFamily="34" charset="0"/>
              </a:rPr>
              <a:t>			 &amp; Integral Test</a:t>
            </a:r>
            <a:r>
              <a:rPr lang="en-US" sz="4400" b="1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 </a:t>
            </a:r>
            <a:endParaRPr lang="en-US" sz="4400" b="1" dirty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80"/>
          <p:cNvSpPr txBox="1"/>
          <p:nvPr/>
        </p:nvSpPr>
        <p:spPr>
          <a:xfrm>
            <a:off x="-25893" y="304800"/>
            <a:ext cx="9144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latin typeface="Calibri" pitchFamily="34" charset="0"/>
                <a:cs typeface="Calibri" pitchFamily="34" charset="0"/>
              </a:rPr>
              <a:t>Divergence </a:t>
            </a:r>
            <a:r>
              <a:rPr lang="en-US" sz="3600" b="1" dirty="0" smtClean="0">
                <a:latin typeface="Calibri" pitchFamily="34" charset="0"/>
                <a:cs typeface="Calibri" pitchFamily="34" charset="0"/>
              </a:rPr>
              <a:t>T</a:t>
            </a:r>
            <a:r>
              <a:rPr lang="en-US" sz="3600" b="1" dirty="0" smtClean="0">
                <a:latin typeface="Calibri" pitchFamily="34" charset="0"/>
                <a:cs typeface="Calibri" pitchFamily="34" charset="0"/>
              </a:rPr>
              <a:t>est</a:t>
            </a:r>
          </a:p>
          <a:p>
            <a:pPr algn="ctr"/>
            <a:endParaRPr lang="en-US" sz="4000" b="1" dirty="0" smtClean="0"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If the </a:t>
            </a:r>
            <a:r>
              <a:rPr lang="en-US" sz="2800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sequence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{a</a:t>
            </a:r>
            <a:r>
              <a:rPr lang="en-US" sz="2800" baseline="-25000" dirty="0" smtClean="0">
                <a:latin typeface="Calibri" pitchFamily="34" charset="0"/>
                <a:cs typeface="Calibri" pitchFamily="34" charset="0"/>
              </a:rPr>
              <a:t>n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} does not converge to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zero,</a:t>
            </a:r>
            <a:br>
              <a:rPr lang="en-US" sz="2800" dirty="0" smtClean="0">
                <a:latin typeface="Calibri" pitchFamily="34" charset="0"/>
                <a:cs typeface="Calibri" pitchFamily="34" charset="0"/>
              </a:rPr>
            </a:br>
            <a:endParaRPr lang="en-US" sz="2800" dirty="0" smtClean="0"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then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the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series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          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must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diverge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.</a:t>
            </a:r>
          </a:p>
        </p:txBody>
      </p:sp>
      <p:graphicFrame>
        <p:nvGraphicFramePr>
          <p:cNvPr id="49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754605"/>
              </p:ext>
            </p:extLst>
          </p:nvPr>
        </p:nvGraphicFramePr>
        <p:xfrm>
          <a:off x="4278574" y="2172133"/>
          <a:ext cx="656648" cy="7706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06" name="Equation" r:id="rId3" imgW="368280" imgH="431640" progId="Equation.DSMT4">
                  <p:embed/>
                </p:oleObj>
              </mc:Choice>
              <mc:Fallback>
                <p:oleObj name="Equation" r:id="rId3" imgW="368280" imgH="43164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8574" y="2172133"/>
                        <a:ext cx="656648" cy="7706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/>
          <p:cNvSpPr txBox="1"/>
          <p:nvPr/>
        </p:nvSpPr>
        <p:spPr>
          <a:xfrm>
            <a:off x="3581400" y="609601"/>
            <a:ext cx="1752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D</a:t>
            </a:r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iverges</a:t>
            </a:r>
            <a:endParaRPr lang="en-US" sz="2800" b="1" dirty="0" smtClean="0">
              <a:solidFill>
                <a:schemeClr val="accent1">
                  <a:lumMod val="75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2766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6465483"/>
              </p:ext>
            </p:extLst>
          </p:nvPr>
        </p:nvGraphicFramePr>
        <p:xfrm>
          <a:off x="332620" y="381000"/>
          <a:ext cx="1369031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84" name="Equation" r:id="rId3" imgW="596880" imgH="431640" progId="Equation.DSMT4">
                  <p:embed/>
                </p:oleObj>
              </mc:Choice>
              <mc:Fallback>
                <p:oleObj name="Equation" r:id="rId3" imgW="5968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620" y="381000"/>
                        <a:ext cx="1369031" cy="990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0666618"/>
              </p:ext>
            </p:extLst>
          </p:nvPr>
        </p:nvGraphicFramePr>
        <p:xfrm>
          <a:off x="304800" y="2442865"/>
          <a:ext cx="1346246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85" name="Equation" r:id="rId5" imgW="596880" imgH="444240" progId="Equation.DSMT4">
                  <p:embed/>
                </p:oleObj>
              </mc:Choice>
              <mc:Fallback>
                <p:oleObj name="Equation" r:id="rId5" imgW="596880" imgH="44424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442865"/>
                        <a:ext cx="1346246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3581400" y="2743200"/>
            <a:ext cx="16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D</a:t>
            </a:r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iverges</a:t>
            </a:r>
            <a:endParaRPr lang="en-US" sz="2400" b="1" dirty="0" smtClean="0">
              <a:solidFill>
                <a:schemeClr val="accent1">
                  <a:lumMod val="75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679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/>
          <p:cNvSpPr txBox="1"/>
          <p:nvPr/>
        </p:nvSpPr>
        <p:spPr>
          <a:xfrm>
            <a:off x="2973280" y="457200"/>
            <a:ext cx="5332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latin typeface="Calibri" pitchFamily="34" charset="0"/>
                <a:cs typeface="Calibri" pitchFamily="34" charset="0"/>
              </a:rPr>
              <a:t>Divergence Test Tells Us </a:t>
            </a:r>
            <a:r>
              <a:rPr lang="en-US" sz="3600" b="1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NOTHING!</a:t>
            </a:r>
            <a:endParaRPr lang="en-US" sz="3600" b="1" dirty="0" smtClean="0">
              <a:solidFill>
                <a:schemeClr val="accent1"/>
              </a:solidFill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2766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502885"/>
              </p:ext>
            </p:extLst>
          </p:nvPr>
        </p:nvGraphicFramePr>
        <p:xfrm>
          <a:off x="304800" y="375939"/>
          <a:ext cx="1016555" cy="11525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11" name="Equation" r:id="rId3" imgW="380880" imgH="431640" progId="Equation.DSMT4">
                  <p:embed/>
                </p:oleObj>
              </mc:Choice>
              <mc:Fallback>
                <p:oleObj name="Equation" r:id="rId3" imgW="3808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75939"/>
                        <a:ext cx="1016555" cy="115252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1828800" y="2895600"/>
            <a:ext cx="6662914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Warning: </a:t>
            </a:r>
            <a:endParaRPr lang="en-US" sz="4000" b="1" dirty="0" smtClean="0">
              <a:solidFill>
                <a:schemeClr val="accent1"/>
              </a:solidFill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3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dirty="0" smtClean="0">
                <a:latin typeface="Calibri" pitchFamily="34" charset="0"/>
                <a:cs typeface="Calibri" pitchFamily="34" charset="0"/>
              </a:rPr>
              <a:t>You can never </a:t>
            </a:r>
            <a:r>
              <a:rPr lang="en-US" sz="3200" dirty="0" smtClean="0">
                <a:latin typeface="Calibri" pitchFamily="34" charset="0"/>
                <a:cs typeface="Calibri" pitchFamily="34" charset="0"/>
              </a:rPr>
              <a:t>say a series </a:t>
            </a:r>
            <a:r>
              <a:rPr lang="en-US" sz="3200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converges</a:t>
            </a:r>
            <a:r>
              <a:rPr lang="en-US" sz="3200" dirty="0" smtClean="0">
                <a:latin typeface="Calibri" pitchFamily="34" charset="0"/>
                <a:cs typeface="Calibri" pitchFamily="34" charset="0"/>
              </a:rPr>
              <a:t> </a:t>
            </a:r>
          </a:p>
          <a:p>
            <a:pPr algn="ctr"/>
            <a:r>
              <a:rPr lang="en-US" sz="3200" dirty="0" smtClean="0">
                <a:latin typeface="Calibri" pitchFamily="34" charset="0"/>
                <a:cs typeface="Calibri" pitchFamily="34" charset="0"/>
              </a:rPr>
              <a:t>because </a:t>
            </a:r>
            <a:r>
              <a:rPr lang="en-US" sz="3200" dirty="0" smtClean="0">
                <a:latin typeface="Calibri" pitchFamily="34" charset="0"/>
                <a:cs typeface="Calibri" pitchFamily="34" charset="0"/>
              </a:rPr>
              <a:t>of </a:t>
            </a:r>
            <a:r>
              <a:rPr lang="en-US" sz="3200" dirty="0" smtClean="0">
                <a:latin typeface="Calibri" pitchFamily="34" charset="0"/>
                <a:cs typeface="Calibri" pitchFamily="34" charset="0"/>
              </a:rPr>
              <a:t>the </a:t>
            </a:r>
            <a:r>
              <a:rPr lang="en-US" sz="3200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divergence test</a:t>
            </a:r>
            <a:r>
              <a:rPr lang="en-US" sz="3200" dirty="0" smtClean="0">
                <a:latin typeface="Calibri" pitchFamily="34" charset="0"/>
                <a:cs typeface="Calibri" pitchFamily="34" charset="0"/>
              </a:rPr>
              <a:t>.</a:t>
            </a:r>
            <a:endParaRPr lang="en-US" sz="3200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0" y="4953000"/>
            <a:ext cx="17900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Never!!</a:t>
            </a:r>
            <a:endParaRPr lang="en-US" sz="3200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19800" y="4953000"/>
            <a:ext cx="28203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Never Ever!!</a:t>
            </a:r>
            <a:endParaRPr lang="en-US" sz="3200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54383" y="6139913"/>
            <a:ext cx="26364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  <a:latin typeface="Calibri" pitchFamily="34" charset="0"/>
                <a:cs typeface="Calibri" pitchFamily="34" charset="0"/>
              </a:rPr>
              <a:t>(I really mean it)</a:t>
            </a:r>
            <a:endParaRPr lang="en-US" sz="2000" dirty="0" smtClean="0">
              <a:solidFill>
                <a:srgbClr val="002060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336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5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6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51" grpId="0"/>
      <p:bldP spid="8" grpId="0"/>
      <p:bldP spid="9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/>
          <p:cNvSpPr/>
          <p:nvPr/>
        </p:nvSpPr>
        <p:spPr>
          <a:xfrm>
            <a:off x="152400" y="304800"/>
            <a:ext cx="88392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latin typeface="Calibri" pitchFamily="34" charset="0"/>
                <a:cs typeface="Calibri" pitchFamily="34" charset="0"/>
              </a:rPr>
              <a:t>Integral </a:t>
            </a:r>
            <a:r>
              <a:rPr lang="en-US" sz="3200" b="1" dirty="0" smtClean="0">
                <a:latin typeface="Calibri" pitchFamily="34" charset="0"/>
                <a:cs typeface="Calibri" pitchFamily="34" charset="0"/>
              </a:rPr>
              <a:t>Test</a:t>
            </a:r>
            <a:br>
              <a:rPr lang="en-US" sz="3200" b="1" dirty="0" smtClean="0">
                <a:latin typeface="Calibri" pitchFamily="34" charset="0"/>
                <a:cs typeface="Calibri" pitchFamily="34" charset="0"/>
              </a:rPr>
            </a:br>
            <a:endParaRPr lang="en-US" sz="3200" b="1" dirty="0" smtClean="0"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 Suppose                  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for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k = 1, 2,…  </a:t>
            </a: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and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f is a positive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decreasing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function. </a:t>
            </a:r>
            <a:endParaRPr lang="en-US" sz="2800" dirty="0" smtClean="0">
              <a:latin typeface="Calibri" pitchFamily="34" charset="0"/>
              <a:cs typeface="Calibri" pitchFamily="34" charset="0"/>
            </a:endParaRPr>
          </a:p>
          <a:p>
            <a:pPr algn="ctr"/>
            <a:endParaRPr lang="en-US" sz="2800" dirty="0" smtClean="0"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/>
            </a:r>
            <a:br>
              <a:rPr lang="en-US" sz="2800" dirty="0" smtClean="0">
                <a:latin typeface="Calibri" pitchFamily="34" charset="0"/>
                <a:cs typeface="Calibri" pitchFamily="34" charset="0"/>
              </a:rPr>
            </a:br>
            <a:r>
              <a:rPr lang="en-US" sz="2800" dirty="0" smtClean="0">
                <a:latin typeface="Calibri" pitchFamily="34" charset="0"/>
                <a:cs typeface="Calibri" pitchFamily="34" charset="0"/>
              </a:rPr>
              <a:t>Then          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and                 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either</a:t>
            </a:r>
            <a:endParaRPr lang="en-US" sz="2800" dirty="0">
              <a:latin typeface="Calibri" pitchFamily="34" charset="0"/>
              <a:cs typeface="Calibri" pitchFamily="34" charset="0"/>
            </a:endParaRPr>
          </a:p>
          <a:p>
            <a:pPr algn="ctr"/>
            <a:endParaRPr lang="en-US" sz="2800" dirty="0" smtClean="0">
              <a:solidFill>
                <a:srgbClr val="336600"/>
              </a:solidFill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3200" dirty="0" smtClean="0">
                <a:solidFill>
                  <a:srgbClr val="336600"/>
                </a:solidFill>
                <a:latin typeface="Calibri" pitchFamily="34" charset="0"/>
                <a:cs typeface="Calibri" pitchFamily="34" charset="0"/>
              </a:rPr>
              <a:t>both </a:t>
            </a:r>
            <a:r>
              <a:rPr lang="en-US" sz="3200" dirty="0" smtClean="0">
                <a:solidFill>
                  <a:srgbClr val="336600"/>
                </a:solidFill>
                <a:latin typeface="Calibri" pitchFamily="34" charset="0"/>
                <a:cs typeface="Calibri" pitchFamily="34" charset="0"/>
              </a:rPr>
              <a:t>converge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or 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both diverge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.  </a:t>
            </a:r>
            <a:endParaRPr lang="en-US" sz="2800" u="sng" dirty="0" smtClean="0"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2765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1618813"/>
              </p:ext>
            </p:extLst>
          </p:nvPr>
        </p:nvGraphicFramePr>
        <p:xfrm>
          <a:off x="3710868" y="1322034"/>
          <a:ext cx="120967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55" name="Equation" r:id="rId3" imgW="634680" imgH="228600" progId="Equation.DSMT4">
                  <p:embed/>
                </p:oleObj>
              </mc:Choice>
              <mc:Fallback>
                <p:oleObj name="Equation" r:id="rId3" imgW="634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0868" y="1322034"/>
                        <a:ext cx="1209675" cy="434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9689081"/>
              </p:ext>
            </p:extLst>
          </p:nvPr>
        </p:nvGraphicFramePr>
        <p:xfrm>
          <a:off x="3200399" y="2819400"/>
          <a:ext cx="720726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56" name="Equation" r:id="rId5" imgW="368280" imgH="431640" progId="Equation.DSMT4">
                  <p:embed/>
                </p:oleObj>
              </mc:Choice>
              <mc:Fallback>
                <p:oleObj name="Equation" r:id="rId5" imgW="3682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399" y="2819400"/>
                        <a:ext cx="720726" cy="847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3863543"/>
              </p:ext>
            </p:extLst>
          </p:nvPr>
        </p:nvGraphicFramePr>
        <p:xfrm>
          <a:off x="4561878" y="2774553"/>
          <a:ext cx="1313180" cy="9866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57" name="Equation" r:id="rId7" imgW="609480" imgH="457200" progId="Equation.DSMT4">
                  <p:embed/>
                </p:oleObj>
              </mc:Choice>
              <mc:Fallback>
                <p:oleObj name="Equation" r:id="rId7" imgW="6094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1878" y="2774553"/>
                        <a:ext cx="1313180" cy="98663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23777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7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80"/>
          <p:cNvSpPr txBox="1"/>
          <p:nvPr/>
        </p:nvSpPr>
        <p:spPr>
          <a:xfrm>
            <a:off x="7772400" y="2057400"/>
            <a:ext cx="129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Diverges</a:t>
            </a:r>
            <a:endParaRPr lang="en-US" sz="2400" b="1" dirty="0" smtClean="0">
              <a:solidFill>
                <a:schemeClr val="accent1">
                  <a:lumMod val="75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49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1587288"/>
              </p:ext>
            </p:extLst>
          </p:nvPr>
        </p:nvGraphicFramePr>
        <p:xfrm>
          <a:off x="849894" y="3915707"/>
          <a:ext cx="609600" cy="7935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31" name="Equation" r:id="rId3" imgW="330120" imgH="431640" progId="Equation.DSMT4">
                  <p:embed/>
                </p:oleObj>
              </mc:Choice>
              <mc:Fallback>
                <p:oleObj name="Equation" r:id="rId3" imgW="330120" imgH="43164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9894" y="3915707"/>
                        <a:ext cx="609600" cy="79351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8376243"/>
              </p:ext>
            </p:extLst>
          </p:nvPr>
        </p:nvGraphicFramePr>
        <p:xfrm>
          <a:off x="609600" y="1828799"/>
          <a:ext cx="914400" cy="9973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32" name="Equation" r:id="rId5" imgW="419040" imgH="457200" progId="Equation.DSMT4">
                  <p:embed/>
                </p:oleObj>
              </mc:Choice>
              <mc:Fallback>
                <p:oleObj name="Equation" r:id="rId5" imgW="419040" imgH="457200" progId="Equation.DSMT4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828799"/>
                        <a:ext cx="914400" cy="99736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6574686"/>
              </p:ext>
            </p:extLst>
          </p:nvPr>
        </p:nvGraphicFramePr>
        <p:xfrm>
          <a:off x="1676400" y="1828800"/>
          <a:ext cx="2032044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33" name="Equation" r:id="rId7" imgW="939600" imgH="457200" progId="Equation.DSMT4">
                  <p:embed/>
                </p:oleObj>
              </mc:Choice>
              <mc:Fallback>
                <p:oleObj name="Equation" r:id="rId7" imgW="939600" imgH="4572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828800"/>
                        <a:ext cx="2032044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1489539"/>
              </p:ext>
            </p:extLst>
          </p:nvPr>
        </p:nvGraphicFramePr>
        <p:xfrm>
          <a:off x="3810000" y="2057400"/>
          <a:ext cx="281719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34" name="Equation" r:id="rId9" imgW="1295280" imgH="279360" progId="Equation.DSMT4">
                  <p:embed/>
                </p:oleObj>
              </mc:Choice>
              <mc:Fallback>
                <p:oleObj name="Equation" r:id="rId9" imgW="1295280" imgH="27936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2057400"/>
                        <a:ext cx="2817198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9437299"/>
              </p:ext>
            </p:extLst>
          </p:nvPr>
        </p:nvGraphicFramePr>
        <p:xfrm>
          <a:off x="6858000" y="2133600"/>
          <a:ext cx="644339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35" name="Equation" r:id="rId11" imgW="279360" imgH="164880" progId="Equation.DSMT4">
                  <p:embed/>
                </p:oleObj>
              </mc:Choice>
              <mc:Fallback>
                <p:oleObj name="Equation" r:id="rId11" imgW="279360" imgH="16488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2133600"/>
                        <a:ext cx="644339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228600" y="4050856"/>
            <a:ext cx="62778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Calibri" pitchFamily="34" charset="0"/>
                <a:cs typeface="Calibri" pitchFamily="34" charset="0"/>
              </a:rPr>
              <a:t>So        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Diverges by the Integral Test  </a:t>
            </a:r>
            <a:endParaRPr lang="en-US" sz="2800" dirty="0" smtClean="0">
              <a:solidFill>
                <a:schemeClr val="accent1">
                  <a:lumMod val="75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881612" y="381000"/>
            <a:ext cx="2971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Harmonic </a:t>
            </a:r>
            <a:r>
              <a:rPr lang="en-US" sz="3200" b="1" dirty="0" smtClean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Series</a:t>
            </a:r>
            <a:endParaRPr lang="en-US" sz="3200" b="1" dirty="0" smtClean="0">
              <a:solidFill>
                <a:srgbClr val="7030A0"/>
              </a:solidFill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6448822"/>
              </p:ext>
            </p:extLst>
          </p:nvPr>
        </p:nvGraphicFramePr>
        <p:xfrm>
          <a:off x="247650" y="152400"/>
          <a:ext cx="877888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36" name="Equation" r:id="rId13" imgW="380880" imgH="431640" progId="Equation.DSMT4">
                  <p:embed/>
                </p:oleObj>
              </mc:Choice>
              <mc:Fallback>
                <p:oleObj name="Equation" r:id="rId13" imgW="380880" imgH="431640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" y="152400"/>
                        <a:ext cx="877888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  <p:bldP spid="27" grpId="0"/>
      <p:bldP spid="3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/>
          <p:cNvSpPr txBox="1"/>
          <p:nvPr/>
        </p:nvSpPr>
        <p:spPr>
          <a:xfrm>
            <a:off x="3329311" y="1692678"/>
            <a:ext cx="49999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Calibri" pitchFamily="34" charset="0"/>
                <a:cs typeface="Calibri" pitchFamily="34" charset="0"/>
              </a:rPr>
              <a:t>Converges  if and only if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p&gt;1</a:t>
            </a:r>
          </a:p>
        </p:txBody>
      </p:sp>
      <p:graphicFrame>
        <p:nvGraphicFramePr>
          <p:cNvPr id="2766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3998425"/>
              </p:ext>
            </p:extLst>
          </p:nvPr>
        </p:nvGraphicFramePr>
        <p:xfrm>
          <a:off x="2133600" y="1514148"/>
          <a:ext cx="798512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65" name="Equation" r:id="rId3" imgW="406080" imgH="431640" progId="Equation.DSMT4">
                  <p:embed/>
                </p:oleObj>
              </mc:Choice>
              <mc:Fallback>
                <p:oleObj name="Equation" r:id="rId3" imgW="4060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514148"/>
                        <a:ext cx="798512" cy="847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4000500" y="304799"/>
            <a:ext cx="182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latin typeface="Calibri" pitchFamily="34" charset="0"/>
                <a:cs typeface="Calibri" pitchFamily="34" charset="0"/>
              </a:rPr>
              <a:t>P-Series</a:t>
            </a:r>
            <a:endParaRPr lang="en-US" sz="3200" b="1" dirty="0" smtClean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2597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5715482"/>
              </p:ext>
            </p:extLst>
          </p:nvPr>
        </p:nvGraphicFramePr>
        <p:xfrm>
          <a:off x="271509" y="304800"/>
          <a:ext cx="1119187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0" name="Equation" r:id="rId3" imgW="571320" imgH="431640" progId="Equation.DSMT4">
                  <p:embed/>
                </p:oleObj>
              </mc:Choice>
              <mc:Fallback>
                <p:oleObj name="Equation" r:id="rId3" imgW="5713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509" y="304800"/>
                        <a:ext cx="1119187" cy="847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2743200" y="5332532"/>
            <a:ext cx="411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accent6"/>
                </a:solidFill>
                <a:latin typeface="Calibri" pitchFamily="34" charset="0"/>
                <a:cs typeface="Calibri" pitchFamily="34" charset="0"/>
              </a:rPr>
              <a:t>Diverges</a:t>
            </a:r>
            <a:r>
              <a:rPr 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by th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e Integral Test</a:t>
            </a:r>
            <a:endParaRPr lang="en-US" sz="2400" b="1" u="sng" dirty="0" smtClean="0"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2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3919187"/>
              </p:ext>
            </p:extLst>
          </p:nvPr>
        </p:nvGraphicFramePr>
        <p:xfrm>
          <a:off x="838200" y="1905000"/>
          <a:ext cx="1619025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1" name="Equation" r:id="rId5" imgW="761760" imgH="457200" progId="Equation.DSMT4">
                  <p:embed/>
                </p:oleObj>
              </mc:Choice>
              <mc:Fallback>
                <p:oleObj name="Equation" r:id="rId5" imgW="7617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905000"/>
                        <a:ext cx="1619025" cy="9731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5554140"/>
              </p:ext>
            </p:extLst>
          </p:nvPr>
        </p:nvGraphicFramePr>
        <p:xfrm>
          <a:off x="2362200" y="3733800"/>
          <a:ext cx="3724978" cy="646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2" name="Equation" r:id="rId7" imgW="1612800" imgH="279360" progId="Equation.DSMT4">
                  <p:embed/>
                </p:oleObj>
              </mc:Choice>
              <mc:Fallback>
                <p:oleObj name="Equation" r:id="rId7" imgW="1612800" imgH="27936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3733800"/>
                        <a:ext cx="3724978" cy="646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6247182"/>
              </p:ext>
            </p:extLst>
          </p:nvPr>
        </p:nvGraphicFramePr>
        <p:xfrm>
          <a:off x="5486400" y="1946163"/>
          <a:ext cx="2286000" cy="1051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3" name="Equation" r:id="rId9" imgW="1079280" imgH="495000" progId="Equation.DSMT4">
                  <p:embed/>
                </p:oleObj>
              </mc:Choice>
              <mc:Fallback>
                <p:oleObj name="Equation" r:id="rId9" imgW="1079280" imgH="4950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1946163"/>
                        <a:ext cx="2286000" cy="1051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785246"/>
              </p:ext>
            </p:extLst>
          </p:nvPr>
        </p:nvGraphicFramePr>
        <p:xfrm>
          <a:off x="2667000" y="1981200"/>
          <a:ext cx="2697226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4" name="Equation" r:id="rId11" imgW="1269720" imgH="457200" progId="Equation.DSMT4">
                  <p:embed/>
                </p:oleObj>
              </mc:Choice>
              <mc:Fallback>
                <p:oleObj name="Equation" r:id="rId11" imgW="1269720" imgH="457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1981200"/>
                        <a:ext cx="2697226" cy="973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9055291"/>
              </p:ext>
            </p:extLst>
          </p:nvPr>
        </p:nvGraphicFramePr>
        <p:xfrm>
          <a:off x="6248400" y="3810000"/>
          <a:ext cx="620713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5" name="Equation" r:id="rId13" imgW="317160" imgH="164880" progId="Equation.DSMT4">
                  <p:embed/>
                </p:oleObj>
              </mc:Choice>
              <mc:Fallback>
                <p:oleObj name="Equation" r:id="rId13" imgW="317160" imgH="16488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3810000"/>
                        <a:ext cx="620713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42597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">
  <a:themeElements>
    <a:clrScheme name="Custom 1">
      <a:dk1>
        <a:sysClr val="windowText" lastClr="000000"/>
      </a:dk1>
      <a:lt1>
        <a:sysClr val="window" lastClr="FFFFFF"/>
      </a:lt1>
      <a:dk2>
        <a:srgbClr val="00000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10398</TotalTime>
  <Words>79</Words>
  <Application>Microsoft Office PowerPoint</Application>
  <PresentationFormat>On-screen Show (4:3)</PresentationFormat>
  <Paragraphs>28</Paragraphs>
  <Slides>8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theme</vt:lpstr>
      <vt:lpstr>MathType 6.0 Equation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211</dc:creator>
  <cp:lastModifiedBy>Williams</cp:lastModifiedBy>
  <cp:revision>417</cp:revision>
  <dcterms:created xsi:type="dcterms:W3CDTF">2006-08-16T00:00:00Z</dcterms:created>
  <dcterms:modified xsi:type="dcterms:W3CDTF">2011-03-21T04:58:43Z</dcterms:modified>
</cp:coreProperties>
</file>