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64" r:id="rId3"/>
    <p:sldId id="269" r:id="rId4"/>
    <p:sldId id="258" r:id="rId5"/>
    <p:sldId id="261" r:id="rId6"/>
    <p:sldId id="259" r:id="rId7"/>
    <p:sldId id="265" r:id="rId8"/>
    <p:sldId id="266" r:id="rId9"/>
    <p:sldId id="267" r:id="rId10"/>
    <p:sldId id="260" r:id="rId11"/>
    <p:sldId id="271" r:id="rId12"/>
    <p:sldId id="270" r:id="rId13"/>
    <p:sldId id="268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-15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12" Type="http://schemas.openxmlformats.org/officeDocument/2006/relationships/image" Target="../media/image15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12" Type="http://schemas.openxmlformats.org/officeDocument/2006/relationships/image" Target="../media/image15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7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11/4/2012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3" Type="http://schemas.openxmlformats.org/officeDocument/2006/relationships/oleObject" Target="../embeddings/oleObject3.bin"/><Relationship Id="rId21" Type="http://schemas.openxmlformats.org/officeDocument/2006/relationships/oleObject" Target="../embeddings/oleObject12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16.wmf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14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16.wmf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49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43887" y="3276599"/>
            <a:ext cx="72001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8.6: Alternating Series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0" y="3886200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-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-30192" y="427857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An Alternating Series is of the form</a:t>
            </a:r>
          </a:p>
        </p:txBody>
      </p:sp>
      <p:graphicFrame>
        <p:nvGraphicFramePr>
          <p:cNvPr id="44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609911"/>
              </p:ext>
            </p:extLst>
          </p:nvPr>
        </p:nvGraphicFramePr>
        <p:xfrm>
          <a:off x="457200" y="1981200"/>
          <a:ext cx="2883294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6" name="Equation" r:id="rId3" imgW="685800" imgH="431640" progId="Equation.DSMT4">
                  <p:embed/>
                </p:oleObj>
              </mc:Choice>
              <mc:Fallback>
                <p:oleObj name="Equation" r:id="rId3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81200"/>
                        <a:ext cx="2883294" cy="1524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061893"/>
              </p:ext>
            </p:extLst>
          </p:nvPr>
        </p:nvGraphicFramePr>
        <p:xfrm>
          <a:off x="6172199" y="2057400"/>
          <a:ext cx="2590801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7" name="Equation" r:id="rId5" imgW="774360" imgH="431640" progId="Equation.DSMT4">
                  <p:embed/>
                </p:oleObj>
              </mc:Choice>
              <mc:Fallback>
                <p:oleObj name="Equation" r:id="rId5" imgW="774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199" y="2057400"/>
                        <a:ext cx="2590801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191286" y="2514600"/>
            <a:ext cx="701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or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22608" y="43434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Calibri" pitchFamily="34" charset="0"/>
                <a:cs typeface="Calibri" pitchFamily="34" charset="0"/>
              </a:rPr>
              <a:t>(with  </a:t>
            </a:r>
            <a:r>
              <a:rPr lang="en-US" sz="3600" i="1" dirty="0" err="1" smtClean="0">
                <a:latin typeface="Calibri" pitchFamily="34" charset="0"/>
                <a:cs typeface="Calibri" pitchFamily="34" charset="0"/>
              </a:rPr>
              <a:t>a</a:t>
            </a:r>
            <a:r>
              <a:rPr lang="en-US" sz="3600" i="1" baseline="-25000" dirty="0" err="1" smtClean="0">
                <a:latin typeface="Calibri" pitchFamily="34" charset="0"/>
                <a:cs typeface="Calibri" pitchFamily="34" charset="0"/>
              </a:rPr>
              <a:t>k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&gt;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0)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99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7439523" y="1861066"/>
            <a:ext cx="14492" cy="469119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8500" y="1981200"/>
            <a:ext cx="215153" cy="22771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477615"/>
              </p:ext>
            </p:extLst>
          </p:nvPr>
        </p:nvGraphicFramePr>
        <p:xfrm>
          <a:off x="122237" y="76200"/>
          <a:ext cx="7573963" cy="116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75" name="Equation" r:id="rId3" imgW="2793960" imgH="431640" progId="Equation.DSMT4">
                  <p:embed/>
                </p:oleObj>
              </mc:Choice>
              <mc:Fallback>
                <p:oleObj name="Equation" r:id="rId3" imgW="2793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" y="76200"/>
                        <a:ext cx="7573963" cy="11666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527210"/>
              </p:ext>
            </p:extLst>
          </p:nvPr>
        </p:nvGraphicFramePr>
        <p:xfrm>
          <a:off x="80962" y="4343400"/>
          <a:ext cx="42624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76" name="Equation" r:id="rId5" imgW="2222280" imgH="393480" progId="Equation.DSMT4">
                  <p:embed/>
                </p:oleObj>
              </mc:Choice>
              <mc:Fallback>
                <p:oleObj name="Equation" r:id="rId5" imgW="2222280" imgH="3934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" y="4343400"/>
                        <a:ext cx="42624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862071"/>
              </p:ext>
            </p:extLst>
          </p:nvPr>
        </p:nvGraphicFramePr>
        <p:xfrm>
          <a:off x="76200" y="3429000"/>
          <a:ext cx="37750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77" name="Equation" r:id="rId7" imgW="1968480" imgH="393480" progId="Equation.DSMT4">
                  <p:embed/>
                </p:oleObj>
              </mc:Choice>
              <mc:Fallback>
                <p:oleObj name="Equation" r:id="rId7" imgW="196848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429000"/>
                        <a:ext cx="37750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648749"/>
              </p:ext>
            </p:extLst>
          </p:nvPr>
        </p:nvGraphicFramePr>
        <p:xfrm>
          <a:off x="76200" y="2590800"/>
          <a:ext cx="33131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78" name="Equation" r:id="rId9" imgW="1726920" imgH="393480" progId="Equation.DSMT4">
                  <p:embed/>
                </p:oleObj>
              </mc:Choice>
              <mc:Fallback>
                <p:oleObj name="Equation" r:id="rId9" imgW="172692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590800"/>
                        <a:ext cx="33131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728528"/>
              </p:ext>
            </p:extLst>
          </p:nvPr>
        </p:nvGraphicFramePr>
        <p:xfrm>
          <a:off x="76200" y="1752600"/>
          <a:ext cx="16319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79" name="Equation" r:id="rId11" imgW="850680" imgH="393480" progId="Equation.DSMT4">
                  <p:embed/>
                </p:oleObj>
              </mc:Choice>
              <mc:Fallback>
                <p:oleObj name="Equation" r:id="rId11" imgW="85068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752600"/>
                        <a:ext cx="16319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816618"/>
              </p:ext>
            </p:extLst>
          </p:nvPr>
        </p:nvGraphicFramePr>
        <p:xfrm>
          <a:off x="69850" y="1287462"/>
          <a:ext cx="3175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0" name="Equation" r:id="rId13" imgW="164880" imgH="203040" progId="Equation.DSMT4">
                  <p:embed/>
                </p:oleObj>
              </mc:Choice>
              <mc:Fallback>
                <p:oleObj name="Equation" r:id="rId13" imgW="16488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" y="1287462"/>
                        <a:ext cx="3175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84680"/>
              </p:ext>
            </p:extLst>
          </p:nvPr>
        </p:nvGraphicFramePr>
        <p:xfrm>
          <a:off x="60325" y="5191125"/>
          <a:ext cx="49688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1" name="Equation" r:id="rId15" imgW="2590560" imgH="393480" progId="Equation.DSMT4">
                  <p:embed/>
                </p:oleObj>
              </mc:Choice>
              <mc:Fallback>
                <p:oleObj name="Equation" r:id="rId15" imgW="259056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" y="5191125"/>
                        <a:ext cx="49688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Oval 14"/>
          <p:cNvSpPr/>
          <p:nvPr/>
        </p:nvSpPr>
        <p:spPr>
          <a:xfrm>
            <a:off x="7331946" y="1959677"/>
            <a:ext cx="215153" cy="22771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339192" y="6181165"/>
            <a:ext cx="215153" cy="22771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324322" y="2598115"/>
            <a:ext cx="215153" cy="22771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15200" y="5279745"/>
            <a:ext cx="215153" cy="22771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318384" y="3505200"/>
            <a:ext cx="215153" cy="22771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45635"/>
              </p:ext>
            </p:extLst>
          </p:nvPr>
        </p:nvGraphicFramePr>
        <p:xfrm>
          <a:off x="7924800" y="1904555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2" name="Equation" r:id="rId17" imgW="164880" imgH="203040" progId="Equation.DSMT4">
                  <p:embed/>
                </p:oleObj>
              </mc:Choice>
              <mc:Fallback>
                <p:oleObj name="Equation" r:id="rId17" imgW="1648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904555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537229"/>
              </p:ext>
            </p:extLst>
          </p:nvPr>
        </p:nvGraphicFramePr>
        <p:xfrm>
          <a:off x="7807792" y="6172200"/>
          <a:ext cx="4397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3" name="Equation" r:id="rId19" imgW="228600" imgH="177480" progId="Equation.DSMT4">
                  <p:embed/>
                </p:oleObj>
              </mc:Choice>
              <mc:Fallback>
                <p:oleObj name="Equation" r:id="rId19" imgW="228600" imgH="177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7792" y="6172200"/>
                        <a:ext cx="43973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370"/>
              </p:ext>
            </p:extLst>
          </p:nvPr>
        </p:nvGraphicFramePr>
        <p:xfrm>
          <a:off x="7851775" y="2598738"/>
          <a:ext cx="10969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4" name="Equation" r:id="rId21" imgW="571320" imgH="177480" progId="Equation.DSMT4">
                  <p:embed/>
                </p:oleObj>
              </mc:Choice>
              <mc:Fallback>
                <p:oleObj name="Equation" r:id="rId21" imgW="571320" imgH="177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775" y="2598738"/>
                        <a:ext cx="109696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47105"/>
              </p:ext>
            </p:extLst>
          </p:nvPr>
        </p:nvGraphicFramePr>
        <p:xfrm>
          <a:off x="7821612" y="5257800"/>
          <a:ext cx="124618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5" name="Equation" r:id="rId23" imgW="647640" imgH="177480" progId="Equation.DSMT4">
                  <p:embed/>
                </p:oleObj>
              </mc:Choice>
              <mc:Fallback>
                <p:oleObj name="Equation" r:id="rId23" imgW="647640" imgH="177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1612" y="5257800"/>
                        <a:ext cx="124618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887951"/>
              </p:ext>
            </p:extLst>
          </p:nvPr>
        </p:nvGraphicFramePr>
        <p:xfrm>
          <a:off x="7900987" y="3470275"/>
          <a:ext cx="12430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6" name="Equation" r:id="rId25" imgW="647640" imgH="177480" progId="Equation.DSMT4">
                  <p:embed/>
                </p:oleObj>
              </mc:Choice>
              <mc:Fallback>
                <p:oleObj name="Equation" r:id="rId25" imgW="647640" imgH="1774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0987" y="3470275"/>
                        <a:ext cx="124301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275616"/>
              </p:ext>
            </p:extLst>
          </p:nvPr>
        </p:nvGraphicFramePr>
        <p:xfrm>
          <a:off x="7848600" y="4343400"/>
          <a:ext cx="12461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87" name="Equation" r:id="rId27" imgW="647640" imgH="177480" progId="Equation.DSMT4">
                  <p:embed/>
                </p:oleObj>
              </mc:Choice>
              <mc:Fallback>
                <p:oleObj name="Equation" r:id="rId27" imgW="647640" imgH="17748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343400"/>
                        <a:ext cx="124618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1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139 L 0.00295 0.6169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30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53494E-6 L -0.00174 -0.52522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262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7037E-7 L -0.00035 0.39514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9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44 L 0.00087 -0.26759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879 L 0.00226 0.14144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5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-9144" y="53340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Alternating Series test</a:t>
            </a:r>
          </a:p>
          <a:p>
            <a:endParaRPr lang="en-US" sz="3600" u="sng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latin typeface="Calibri" pitchFamily="34" charset="0"/>
                <a:cs typeface="Calibri" pitchFamily="34" charset="0"/>
              </a:rPr>
              <a:t>If                 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is an alternating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series, </a:t>
            </a:r>
            <a:endParaRPr lang="en-US" sz="40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713326"/>
              </p:ext>
            </p:extLst>
          </p:nvPr>
        </p:nvGraphicFramePr>
        <p:xfrm>
          <a:off x="1660827" y="1573566"/>
          <a:ext cx="1617246" cy="1015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5" name="Equation" r:id="rId3" imgW="685800" imgH="431640" progId="Equation.DSMT4">
                  <p:embed/>
                </p:oleObj>
              </mc:Choice>
              <mc:Fallback>
                <p:oleObj name="Equation" r:id="rId3" imgW="685800" imgH="431640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827" y="1573566"/>
                        <a:ext cx="1617246" cy="10152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1629776" y="2714822"/>
            <a:ext cx="7438024" cy="919361"/>
            <a:chOff x="334774" y="1733290"/>
            <a:chExt cx="3780026" cy="705775"/>
          </a:xfrm>
        </p:grpSpPr>
        <p:sp>
          <p:nvSpPr>
            <p:cNvPr id="30" name="TextBox 29"/>
            <p:cNvSpPr txBox="1"/>
            <p:nvPr/>
          </p:nvSpPr>
          <p:spPr>
            <a:xfrm>
              <a:off x="838200" y="1752600"/>
              <a:ext cx="3276600" cy="543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latin typeface="Calibri" pitchFamily="34" charset="0"/>
                  <a:cs typeface="Calibri" pitchFamily="34" charset="0"/>
                </a:rPr>
                <a:t>i</a:t>
              </a:r>
              <a:r>
                <a:rPr lang="en-US" sz="4000" dirty="0" smtClean="0">
                  <a:latin typeface="Calibri" pitchFamily="34" charset="0"/>
                  <a:cs typeface="Calibri" pitchFamily="34" charset="0"/>
                </a:rPr>
                <a:t>s </a:t>
              </a:r>
              <a:r>
                <a:rPr lang="en-US" sz="4000" dirty="0" smtClean="0">
                  <a:latin typeface="Calibri" pitchFamily="34" charset="0"/>
                  <a:cs typeface="Calibri" pitchFamily="34" charset="0"/>
                </a:rPr>
                <a:t>a </a:t>
              </a:r>
              <a:r>
                <a:rPr lang="en-US" sz="4000" dirty="0" smtClean="0">
                  <a:solidFill>
                    <a:schemeClr val="accent1"/>
                  </a:solidFill>
                  <a:latin typeface="Calibri" pitchFamily="34" charset="0"/>
                  <a:cs typeface="Calibri" pitchFamily="34" charset="0"/>
                </a:rPr>
                <a:t>decreasing </a:t>
              </a:r>
              <a:r>
                <a:rPr lang="en-US" sz="4000" dirty="0" smtClean="0">
                  <a:solidFill>
                    <a:schemeClr val="accent1"/>
                  </a:solidFill>
                  <a:latin typeface="Calibri" pitchFamily="34" charset="0"/>
                  <a:cs typeface="Calibri" pitchFamily="34" charset="0"/>
                </a:rPr>
                <a:t>sequence</a:t>
              </a:r>
              <a:r>
                <a:rPr lang="en-US" sz="4000" dirty="0" smtClean="0">
                  <a:latin typeface="Calibri" pitchFamily="34" charset="0"/>
                  <a:cs typeface="Calibri" pitchFamily="34" charset="0"/>
                </a:rPr>
                <a:t>, </a:t>
              </a:r>
              <a:r>
                <a:rPr lang="en-US" sz="4000" dirty="0" smtClean="0">
                  <a:latin typeface="Calibri" pitchFamily="34" charset="0"/>
                  <a:cs typeface="Calibri" pitchFamily="34" charset="0"/>
                </a:rPr>
                <a:t>and</a:t>
              </a:r>
            </a:p>
          </p:txBody>
        </p:sp>
        <p:graphicFrame>
          <p:nvGraphicFramePr>
            <p:cNvPr id="31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2727375"/>
                </p:ext>
              </p:extLst>
            </p:nvPr>
          </p:nvGraphicFramePr>
          <p:xfrm>
            <a:off x="334774" y="1733290"/>
            <a:ext cx="503426" cy="70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96" name="Equation" r:id="rId5" imgW="304560" imgH="253800" progId="Equation.DSMT4">
                    <p:embed/>
                  </p:oleObj>
                </mc:Choice>
                <mc:Fallback>
                  <p:oleObj name="Equation" r:id="rId5" imgW="304560" imgH="253800" progId="Equation.DSMT4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74" y="1733290"/>
                          <a:ext cx="503426" cy="7057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Box 32"/>
          <p:cNvSpPr txBox="1"/>
          <p:nvPr/>
        </p:nvSpPr>
        <p:spPr>
          <a:xfrm>
            <a:off x="1133856" y="5051394"/>
            <a:ext cx="685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itchFamily="34" charset="0"/>
                <a:cs typeface="Calibri" pitchFamily="34" charset="0"/>
              </a:rPr>
              <a:t>Then                   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converges</a:t>
            </a:r>
            <a:endParaRPr lang="en-US" sz="40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925745"/>
              </p:ext>
            </p:extLst>
          </p:nvPr>
        </p:nvGraphicFramePr>
        <p:xfrm>
          <a:off x="1752600" y="3810000"/>
          <a:ext cx="2028444" cy="891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7" name="Equation" r:id="rId7" imgW="634680" imgH="279360" progId="Equation.DSMT4">
                  <p:embed/>
                </p:oleObj>
              </mc:Choice>
              <mc:Fallback>
                <p:oleObj name="Equation" r:id="rId7" imgW="634680" imgH="27936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10000"/>
                        <a:ext cx="2028444" cy="8916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362180"/>
              </p:ext>
            </p:extLst>
          </p:nvPr>
        </p:nvGraphicFramePr>
        <p:xfrm>
          <a:off x="2743200" y="4872294"/>
          <a:ext cx="1701896" cy="106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8" name="Equation" r:id="rId9" imgW="685800" imgH="431640" progId="Equation.DSMT4">
                  <p:embed/>
                </p:oleObj>
              </mc:Choice>
              <mc:Fallback>
                <p:oleObj name="Equation" r:id="rId9" imgW="685800" imgH="431640" progId="Equation.DSMT4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872294"/>
                        <a:ext cx="1701896" cy="106608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216437"/>
              </p:ext>
            </p:extLst>
          </p:nvPr>
        </p:nvGraphicFramePr>
        <p:xfrm>
          <a:off x="231933" y="237763"/>
          <a:ext cx="1901667" cy="1194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0" name="Equation" r:id="rId3" imgW="685800" imgH="431640" progId="Equation.DSMT4">
                  <p:embed/>
                </p:oleObj>
              </mc:Choice>
              <mc:Fallback>
                <p:oleObj name="Equation" r:id="rId3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" y="237763"/>
                        <a:ext cx="1901667" cy="11947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505200" y="457200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Converges by the </a:t>
            </a:r>
            <a:br>
              <a:rPr lang="en-US" sz="3600" b="1" dirty="0" smtClean="0">
                <a:latin typeface="Calibri" pitchFamily="34" charset="0"/>
                <a:cs typeface="Calibri" pitchFamily="34" charset="0"/>
              </a:rPr>
            </a:b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Alternating Series Test</a:t>
            </a:r>
          </a:p>
        </p:txBody>
      </p:sp>
      <p:graphicFrame>
        <p:nvGraphicFramePr>
          <p:cNvPr id="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009727"/>
              </p:ext>
            </p:extLst>
          </p:nvPr>
        </p:nvGraphicFramePr>
        <p:xfrm>
          <a:off x="84457" y="2174475"/>
          <a:ext cx="2865178" cy="1314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1" name="Equation" r:id="rId5" imgW="939600" imgH="431640" progId="Equation.DSMT4">
                  <p:embed/>
                </p:oleObj>
              </mc:Choice>
              <mc:Fallback>
                <p:oleObj name="Equation" r:id="rId5" imgW="93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7" y="2174475"/>
                        <a:ext cx="2865178" cy="1314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3543300" y="2290352"/>
            <a:ext cx="464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Diverges by the </a:t>
            </a:r>
          </a:p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Divergence 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T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est</a:t>
            </a:r>
          </a:p>
        </p:txBody>
      </p:sp>
      <p:graphicFrame>
        <p:nvGraphicFramePr>
          <p:cNvPr id="4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397449"/>
              </p:ext>
            </p:extLst>
          </p:nvPr>
        </p:nvGraphicFramePr>
        <p:xfrm>
          <a:off x="297189" y="4286504"/>
          <a:ext cx="2903211" cy="1352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2" name="Equation" r:id="rId7" imgW="952200" imgH="444240" progId="Equation.DSMT4">
                  <p:embed/>
                </p:oleObj>
              </mc:Choice>
              <mc:Fallback>
                <p:oleObj name="Equation" r:id="rId7" imgW="952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9" y="4286504"/>
                        <a:ext cx="2903211" cy="13522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3619500" y="4362271"/>
            <a:ext cx="5219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Converges by the </a:t>
            </a:r>
          </a:p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Alternating Series 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T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est</a:t>
            </a:r>
          </a:p>
        </p:txBody>
      </p:sp>
    </p:spTree>
    <p:extLst>
      <p:ext uri="{BB962C8B-B14F-4D97-AF65-F5344CB8AC3E}">
        <p14:creationId xmlns:p14="http://schemas.microsoft.com/office/powerpoint/2010/main" val="200582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3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17929" y="304800"/>
            <a:ext cx="91440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Definition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   </a:t>
            </a: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converges </a:t>
            </a: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absolutely  </a:t>
            </a: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</a:br>
            <a:endParaRPr lang="en-US" sz="4000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latin typeface="Calibri" pitchFamily="34" charset="0"/>
                <a:cs typeface="Calibri" pitchFamily="34" charset="0"/>
              </a:rPr>
              <a:t>if                 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converges</a:t>
            </a:r>
          </a:p>
        </p:txBody>
      </p:sp>
      <p:graphicFrame>
        <p:nvGraphicFramePr>
          <p:cNvPr id="3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109757"/>
              </p:ext>
            </p:extLst>
          </p:nvPr>
        </p:nvGraphicFramePr>
        <p:xfrm>
          <a:off x="1447800" y="990600"/>
          <a:ext cx="1174808" cy="1373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4" name="Equation" r:id="rId3" imgW="368280" imgH="431640" progId="Equation.DSMT4">
                  <p:embed/>
                </p:oleObj>
              </mc:Choice>
              <mc:Fallback>
                <p:oleObj name="Equation" r:id="rId3" imgW="368280" imgH="43164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990600"/>
                        <a:ext cx="1174808" cy="13734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697027"/>
              </p:ext>
            </p:extLst>
          </p:nvPr>
        </p:nvGraphicFramePr>
        <p:xfrm>
          <a:off x="2819400" y="2286000"/>
          <a:ext cx="1705161" cy="1373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5" name="Equation" r:id="rId5" imgW="533160" imgH="431640" progId="Equation.DSMT4">
                  <p:embed/>
                </p:oleObj>
              </mc:Choice>
              <mc:Fallback>
                <p:oleObj name="Equation" r:id="rId5" imgW="533160" imgH="4316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286000"/>
                        <a:ext cx="1705161" cy="13734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8669" y="4191000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If          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converges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 but not absolutely,</a:t>
            </a: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then it </a:t>
            </a: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converges conditionally.</a:t>
            </a:r>
          </a:p>
        </p:txBody>
      </p:sp>
      <p:graphicFrame>
        <p:nvGraphicFramePr>
          <p:cNvPr id="4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518864"/>
              </p:ext>
            </p:extLst>
          </p:nvPr>
        </p:nvGraphicFramePr>
        <p:xfrm>
          <a:off x="1132690" y="3919889"/>
          <a:ext cx="996933" cy="1163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6" name="Equation" r:id="rId7" imgW="368280" imgH="431640" progId="Equation.DSMT4">
                  <p:embed/>
                </p:oleObj>
              </mc:Choice>
              <mc:Fallback>
                <p:oleObj name="Equation" r:id="rId7" imgW="368280" imgH="43164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690" y="3919889"/>
                        <a:ext cx="996933" cy="116338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091526"/>
              </p:ext>
            </p:extLst>
          </p:nvPr>
        </p:nvGraphicFramePr>
        <p:xfrm>
          <a:off x="114063" y="154510"/>
          <a:ext cx="2514849" cy="1445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7" name="Equation" r:id="rId3" imgW="749160" imgH="431640" progId="Equation.DSMT4">
                  <p:embed/>
                </p:oleObj>
              </mc:Choice>
              <mc:Fallback>
                <p:oleObj name="Equation" r:id="rId3" imgW="749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63" y="154510"/>
                        <a:ext cx="2514849" cy="14456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850340" y="533400"/>
            <a:ext cx="5065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Converges absolutely</a:t>
            </a:r>
            <a:endParaRPr lang="en-US" sz="4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227931"/>
              </p:ext>
            </p:extLst>
          </p:nvPr>
        </p:nvGraphicFramePr>
        <p:xfrm>
          <a:off x="213583" y="3126310"/>
          <a:ext cx="2301017" cy="1445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8" name="Equation" r:id="rId5" imgW="685800" imgH="431640" progId="Equation.DSMT4">
                  <p:embed/>
                </p:oleObj>
              </mc:Choice>
              <mc:Fallback>
                <p:oleObj name="Equation" r:id="rId5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83" y="3126310"/>
                        <a:ext cx="2301017" cy="14456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200401" y="3505200"/>
            <a:ext cx="5867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Converges conditionally</a:t>
            </a:r>
          </a:p>
        </p:txBody>
      </p:sp>
    </p:spTree>
    <p:extLst>
      <p:ext uri="{BB962C8B-B14F-4D97-AF65-F5344CB8AC3E}">
        <p14:creationId xmlns:p14="http://schemas.microsoft.com/office/powerpoint/2010/main" val="24032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219495"/>
              </p:ext>
            </p:extLst>
          </p:nvPr>
        </p:nvGraphicFramePr>
        <p:xfrm>
          <a:off x="75109" y="65180"/>
          <a:ext cx="1703049" cy="1314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5" name="Equation" r:id="rId3" imgW="558720" imgH="431640" progId="Equation.DSMT4">
                  <p:embed/>
                </p:oleObj>
              </mc:Choice>
              <mc:Fallback>
                <p:oleObj name="Equation" r:id="rId3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9" y="65180"/>
                        <a:ext cx="1703049" cy="1314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267200" y="5506448"/>
            <a:ext cx="487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itchFamily="34" charset="0"/>
                <a:cs typeface="Calibri" pitchFamily="34" charset="0"/>
              </a:rPr>
              <a:t>Thus                  </a:t>
            </a: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Converges </a:t>
            </a:r>
            <a:r>
              <a:rPr lang="en-US" sz="4000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A</a:t>
            </a: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bsolutely</a:t>
            </a:r>
          </a:p>
        </p:txBody>
      </p:sp>
      <p:graphicFrame>
        <p:nvGraphicFramePr>
          <p:cNvPr id="5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898654"/>
              </p:ext>
            </p:extLst>
          </p:nvPr>
        </p:nvGraphicFramePr>
        <p:xfrm>
          <a:off x="152400" y="1676400"/>
          <a:ext cx="2051686" cy="1314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6" name="Equation" r:id="rId5" imgW="672840" imgH="431640" progId="Equation.DSMT4">
                  <p:embed/>
                </p:oleObj>
              </mc:Choice>
              <mc:Fallback>
                <p:oleObj name="Equation" r:id="rId5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2051686" cy="1314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775825"/>
              </p:ext>
            </p:extLst>
          </p:nvPr>
        </p:nvGraphicFramePr>
        <p:xfrm>
          <a:off x="5486400" y="1752600"/>
          <a:ext cx="2851866" cy="1445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7" name="Equation" r:id="rId7" imgW="850680" imgH="431640" progId="Equation.DSMT4">
                  <p:embed/>
                </p:oleObj>
              </mc:Choice>
              <mc:Fallback>
                <p:oleObj name="Equation" r:id="rId7" imgW="85068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752600"/>
                        <a:ext cx="2851866" cy="1445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52400" y="3505200"/>
            <a:ext cx="8839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itchFamily="34" charset="0"/>
                <a:cs typeface="Calibri" pitchFamily="34" charset="0"/>
              </a:rPr>
              <a:t>So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		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   converges 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Calibri" pitchFamily="34" charset="0"/>
                <a:cs typeface="Calibri" pitchFamily="34" charset="0"/>
              </a:rPr>
              <a:t>by Direct Comparison Test</a:t>
            </a:r>
            <a:endParaRPr lang="en-US" sz="40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672287"/>
              </p:ext>
            </p:extLst>
          </p:nvPr>
        </p:nvGraphicFramePr>
        <p:xfrm>
          <a:off x="838200" y="3333432"/>
          <a:ext cx="1695609" cy="108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8" name="Equation" r:id="rId9" imgW="672840" imgH="431640" progId="Equation.DSMT4">
                  <p:embed/>
                </p:oleObj>
              </mc:Choice>
              <mc:Fallback>
                <p:oleObj name="Equation" r:id="rId9" imgW="67284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333432"/>
                        <a:ext cx="1695609" cy="1086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9458"/>
              </p:ext>
            </p:extLst>
          </p:nvPr>
        </p:nvGraphicFramePr>
        <p:xfrm>
          <a:off x="5410200" y="5244786"/>
          <a:ext cx="1407478" cy="108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9" name="Equation" r:id="rId11" imgW="558558" imgH="431613" progId="Equation.DSMT4">
                  <p:embed/>
                </p:oleObj>
              </mc:Choice>
              <mc:Fallback>
                <p:oleObj name="Equation" r:id="rId11" imgW="558558" imgH="431613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244786"/>
                        <a:ext cx="1407478" cy="1086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32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197224" y="457200"/>
            <a:ext cx="8915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Generalized  Ratio Test</a:t>
            </a:r>
          </a:p>
          <a:p>
            <a:endParaRPr lang="en-US" sz="3600" dirty="0">
              <a:latin typeface="Calibri" pitchFamily="34" charset="0"/>
              <a:cs typeface="Calibri" pitchFamily="34" charset="0"/>
            </a:endParaRPr>
          </a:p>
          <a:p>
            <a:r>
              <a:rPr lang="en-US" sz="3600" dirty="0" smtClean="0">
                <a:latin typeface="Calibri" pitchFamily="34" charset="0"/>
                <a:cs typeface="Calibri" pitchFamily="34" charset="0"/>
              </a:rPr>
              <a:t>  	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Recall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the Ratio test required          </a:t>
            </a:r>
          </a:p>
          <a:p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endParaRPr lang="en-US" sz="3600" dirty="0">
              <a:latin typeface="Calibri" pitchFamily="34" charset="0"/>
              <a:cs typeface="Calibri" pitchFamily="34" charset="0"/>
            </a:endParaRPr>
          </a:p>
          <a:p>
            <a:r>
              <a:rPr lang="en-US" sz="36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but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we could just check</a:t>
            </a:r>
          </a:p>
          <a:p>
            <a:r>
              <a:rPr lang="en-US" sz="3600" dirty="0" smtClean="0">
                <a:latin typeface="Calibri" pitchFamily="34" charset="0"/>
                <a:cs typeface="Calibri" pitchFamily="34" charset="0"/>
              </a:rPr>
              <a:t>                    </a:t>
            </a:r>
          </a:p>
          <a:p>
            <a:pPr algn="ctr"/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600" dirty="0" smtClean="0">
                <a:latin typeface="Calibri" pitchFamily="34" charset="0"/>
                <a:cs typeface="Calibri" pitchFamily="34" charset="0"/>
              </a:rPr>
              <a:t>and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see if           converges </a:t>
            </a:r>
            <a:r>
              <a:rPr lang="en-US" sz="36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absolutely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3200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04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522949"/>
              </p:ext>
            </p:extLst>
          </p:nvPr>
        </p:nvGraphicFramePr>
        <p:xfrm>
          <a:off x="6629400" y="1600200"/>
          <a:ext cx="1295400" cy="60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6" name="Equation" r:id="rId3" imgW="419040" imgH="228600" progId="Equation.DSMT4">
                  <p:embed/>
                </p:oleObj>
              </mc:Choice>
              <mc:Fallback>
                <p:oleObj name="Equation" r:id="rId3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00200"/>
                        <a:ext cx="1295400" cy="608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735999"/>
              </p:ext>
            </p:extLst>
          </p:nvPr>
        </p:nvGraphicFramePr>
        <p:xfrm>
          <a:off x="5638800" y="2819400"/>
          <a:ext cx="2459883" cy="1360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7" name="Equation" r:id="rId5" imgW="609480" imgH="482400" progId="Equation.DSMT4">
                  <p:embed/>
                </p:oleObj>
              </mc:Choice>
              <mc:Fallback>
                <p:oleObj name="Equation" r:id="rId5" imgW="609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819400"/>
                        <a:ext cx="2459883" cy="1360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704473"/>
              </p:ext>
            </p:extLst>
          </p:nvPr>
        </p:nvGraphicFramePr>
        <p:xfrm>
          <a:off x="3124200" y="4637099"/>
          <a:ext cx="922020" cy="1077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8" name="Equation" r:id="rId7" imgW="368280" imgH="431640" progId="Equation.DSMT4">
                  <p:embed/>
                </p:oleObj>
              </mc:Choice>
              <mc:Fallback>
                <p:oleObj name="Equation" r:id="rId7" imgW="368280" imgH="4316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637099"/>
                        <a:ext cx="922020" cy="1077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817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0" y="304800"/>
            <a:ext cx="9144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Error Estimates</a:t>
            </a:r>
            <a:endParaRPr lang="en-US" sz="4000" b="1" dirty="0">
              <a:latin typeface="Calibri" pitchFamily="34" charset="0"/>
              <a:cs typeface="Calibri" pitchFamily="34" charset="0"/>
            </a:endParaRPr>
          </a:p>
          <a:p>
            <a:pPr algn="ctr"/>
            <a:endParaRPr lang="en-US" sz="4000" b="1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4000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otice if               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satisfies the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latin typeface="Calibri" pitchFamily="34" charset="0"/>
                <a:cs typeface="Calibri" pitchFamily="34" charset="0"/>
              </a:rPr>
              <a:t>Alternating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Series </a:t>
            </a:r>
            <a:r>
              <a:rPr lang="en-US" sz="4000" dirty="0">
                <a:latin typeface="Calibri" pitchFamily="34" charset="0"/>
                <a:cs typeface="Calibri" pitchFamily="34" charset="0"/>
              </a:rPr>
              <a:t>T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est,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endParaRPr lang="en-US" sz="40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latin typeface="Calibri" pitchFamily="34" charset="0"/>
                <a:cs typeface="Calibri" pitchFamily="34" charset="0"/>
              </a:rPr>
              <a:t>then it is a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“</a:t>
            </a: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1 step forward, half step back” 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latin typeface="Calibri" pitchFamily="34" charset="0"/>
                <a:cs typeface="Calibri" pitchFamily="34" charset="0"/>
              </a:rPr>
              <a:t>kind </a:t>
            </a:r>
            <a:r>
              <a:rPr lang="en-US" sz="4000" dirty="0" smtClean="0">
                <a:latin typeface="Calibri" pitchFamily="34" charset="0"/>
                <a:cs typeface="Calibri" pitchFamily="34" charset="0"/>
              </a:rPr>
              <a:t>of sum.</a:t>
            </a:r>
          </a:p>
        </p:txBody>
      </p:sp>
      <p:graphicFrame>
        <p:nvGraphicFramePr>
          <p:cNvPr id="3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679178"/>
              </p:ext>
            </p:extLst>
          </p:nvPr>
        </p:nvGraphicFramePr>
        <p:xfrm>
          <a:off x="3429000" y="1295400"/>
          <a:ext cx="1762211" cy="1105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2" name="Equation" r:id="rId3" imgW="685800" imgH="431640" progId="Equation.DSMT4">
                  <p:embed/>
                </p:oleObj>
              </mc:Choice>
              <mc:Fallback>
                <p:oleObj name="Equation" r:id="rId3" imgW="68580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295400"/>
                        <a:ext cx="1762211" cy="110559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76200" y="3733800"/>
            <a:ext cx="8915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4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So the difference between </a:t>
            </a:r>
            <a:r>
              <a:rPr lang="en-US" sz="4400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the partial sum and the true sum</a:t>
            </a:r>
            <a:r>
              <a:rPr lang="en-US" sz="4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is less than </a:t>
            </a:r>
            <a:r>
              <a:rPr lang="en-US" sz="4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4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the </a:t>
            </a:r>
            <a:r>
              <a:rPr lang="en-US" sz="44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next term!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228600"/>
            <a:ext cx="8991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One term pushes sum up above the limit,</a:t>
            </a:r>
          </a:p>
          <a:p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the next pushes it below the limit..</a:t>
            </a:r>
          </a:p>
        </p:txBody>
      </p:sp>
      <p:pic>
        <p:nvPicPr>
          <p:cNvPr id="61451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552779"/>
            <a:ext cx="2895600" cy="16931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821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7439523" y="1861066"/>
            <a:ext cx="14492" cy="469119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8500" y="1981200"/>
            <a:ext cx="215153" cy="22771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938196"/>
              </p:ext>
            </p:extLst>
          </p:nvPr>
        </p:nvGraphicFramePr>
        <p:xfrm>
          <a:off x="122237" y="152400"/>
          <a:ext cx="64309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4" name="Equation" r:id="rId3" imgW="2793960" imgH="431640" progId="Equation.DSMT4">
                  <p:embed/>
                </p:oleObj>
              </mc:Choice>
              <mc:Fallback>
                <p:oleObj name="Equation" r:id="rId3" imgW="2793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" y="152400"/>
                        <a:ext cx="6430963" cy="990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787781"/>
              </p:ext>
            </p:extLst>
          </p:nvPr>
        </p:nvGraphicFramePr>
        <p:xfrm>
          <a:off x="80962" y="4343400"/>
          <a:ext cx="42624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5" name="Equation" r:id="rId5" imgW="2222280" imgH="393480" progId="Equation.DSMT4">
                  <p:embed/>
                </p:oleObj>
              </mc:Choice>
              <mc:Fallback>
                <p:oleObj name="Equation" r:id="rId5" imgW="2222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" y="4343400"/>
                        <a:ext cx="42624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538794"/>
              </p:ext>
            </p:extLst>
          </p:nvPr>
        </p:nvGraphicFramePr>
        <p:xfrm>
          <a:off x="76200" y="3429000"/>
          <a:ext cx="37750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6" name="Equation" r:id="rId7" imgW="1968480" imgH="393480" progId="Equation.DSMT4">
                  <p:embed/>
                </p:oleObj>
              </mc:Choice>
              <mc:Fallback>
                <p:oleObj name="Equation" r:id="rId7" imgW="1968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429000"/>
                        <a:ext cx="37750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895830"/>
              </p:ext>
            </p:extLst>
          </p:nvPr>
        </p:nvGraphicFramePr>
        <p:xfrm>
          <a:off x="76200" y="2590800"/>
          <a:ext cx="33131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7" name="Equation" r:id="rId9" imgW="1726920" imgH="393480" progId="Equation.DSMT4">
                  <p:embed/>
                </p:oleObj>
              </mc:Choice>
              <mc:Fallback>
                <p:oleObj name="Equation" r:id="rId9" imgW="1726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590800"/>
                        <a:ext cx="33131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051771"/>
              </p:ext>
            </p:extLst>
          </p:nvPr>
        </p:nvGraphicFramePr>
        <p:xfrm>
          <a:off x="76200" y="1752600"/>
          <a:ext cx="16319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8" name="Equation" r:id="rId11" imgW="850680" imgH="393480" progId="Equation.DSMT4">
                  <p:embed/>
                </p:oleObj>
              </mc:Choice>
              <mc:Fallback>
                <p:oleObj name="Equation" r:id="rId11" imgW="850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752600"/>
                        <a:ext cx="16319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78782"/>
              </p:ext>
            </p:extLst>
          </p:nvPr>
        </p:nvGraphicFramePr>
        <p:xfrm>
          <a:off x="69850" y="1287462"/>
          <a:ext cx="3175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19" name="Equation" r:id="rId13" imgW="164880" imgH="203040" progId="Equation.DSMT4">
                  <p:embed/>
                </p:oleObj>
              </mc:Choice>
              <mc:Fallback>
                <p:oleObj name="Equation" r:id="rId13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" y="1287462"/>
                        <a:ext cx="3175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359721"/>
              </p:ext>
            </p:extLst>
          </p:nvPr>
        </p:nvGraphicFramePr>
        <p:xfrm>
          <a:off x="60325" y="5191125"/>
          <a:ext cx="49688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0" name="Equation" r:id="rId15" imgW="2590560" imgH="393480" progId="Equation.DSMT4">
                  <p:embed/>
                </p:oleObj>
              </mc:Choice>
              <mc:Fallback>
                <p:oleObj name="Equation" r:id="rId15" imgW="2590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" y="5191125"/>
                        <a:ext cx="49688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Oval 14"/>
          <p:cNvSpPr/>
          <p:nvPr/>
        </p:nvSpPr>
        <p:spPr>
          <a:xfrm>
            <a:off x="7331946" y="1959677"/>
            <a:ext cx="215153" cy="22771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339192" y="6181165"/>
            <a:ext cx="215153" cy="22771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324322" y="2598115"/>
            <a:ext cx="215153" cy="22771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15200" y="5279745"/>
            <a:ext cx="215153" cy="22771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318384" y="3505200"/>
            <a:ext cx="215153" cy="22771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058489"/>
              </p:ext>
            </p:extLst>
          </p:nvPr>
        </p:nvGraphicFramePr>
        <p:xfrm>
          <a:off x="7924800" y="1904555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1" name="Equation" r:id="rId17" imgW="164880" imgH="203040" progId="Equation.DSMT4">
                  <p:embed/>
                </p:oleObj>
              </mc:Choice>
              <mc:Fallback>
                <p:oleObj name="Equation" r:id="rId17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904555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566228"/>
              </p:ext>
            </p:extLst>
          </p:nvPr>
        </p:nvGraphicFramePr>
        <p:xfrm>
          <a:off x="7807792" y="6172200"/>
          <a:ext cx="4397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2" name="Equation" r:id="rId19" imgW="228600" imgH="177480" progId="Equation.DSMT4">
                  <p:embed/>
                </p:oleObj>
              </mc:Choice>
              <mc:Fallback>
                <p:oleObj name="Equation" r:id="rId19" imgW="228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7792" y="6172200"/>
                        <a:ext cx="43973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252362"/>
              </p:ext>
            </p:extLst>
          </p:nvPr>
        </p:nvGraphicFramePr>
        <p:xfrm>
          <a:off x="7851775" y="2598738"/>
          <a:ext cx="10969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3" name="Equation" r:id="rId21" imgW="571320" imgH="177480" progId="Equation.DSMT4">
                  <p:embed/>
                </p:oleObj>
              </mc:Choice>
              <mc:Fallback>
                <p:oleObj name="Equation" r:id="rId21" imgW="571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775" y="2598738"/>
                        <a:ext cx="109696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696027"/>
              </p:ext>
            </p:extLst>
          </p:nvPr>
        </p:nvGraphicFramePr>
        <p:xfrm>
          <a:off x="7821612" y="5257800"/>
          <a:ext cx="124618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4" name="Equation" r:id="rId23" imgW="647640" imgH="177480" progId="Equation.DSMT4">
                  <p:embed/>
                </p:oleObj>
              </mc:Choice>
              <mc:Fallback>
                <p:oleObj name="Equation" r:id="rId23" imgW="647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1612" y="5257800"/>
                        <a:ext cx="124618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760866"/>
              </p:ext>
            </p:extLst>
          </p:nvPr>
        </p:nvGraphicFramePr>
        <p:xfrm>
          <a:off x="7900987" y="3470275"/>
          <a:ext cx="12430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5" name="Equation" r:id="rId25" imgW="647640" imgH="177480" progId="Equation.DSMT4">
                  <p:embed/>
                </p:oleObj>
              </mc:Choice>
              <mc:Fallback>
                <p:oleObj name="Equation" r:id="rId25" imgW="647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0987" y="3470275"/>
                        <a:ext cx="124301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614808"/>
              </p:ext>
            </p:extLst>
          </p:nvPr>
        </p:nvGraphicFramePr>
        <p:xfrm>
          <a:off x="7848600" y="4343400"/>
          <a:ext cx="12461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6" name="Equation" r:id="rId27" imgW="647640" imgH="177480" progId="Equation.DSMT4">
                  <p:embed/>
                </p:oleObj>
              </mc:Choice>
              <mc:Fallback>
                <p:oleObj name="Equation" r:id="rId27" imgW="647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343400"/>
                        <a:ext cx="124618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50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139 L 0.00295 0.6169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30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53494E-6 L -0.00174 -0.52522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262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7037E-7 L -0.00035 0.39514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9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44 L 0.00087 -0.26759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879 L 0.00226 0.14144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5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152400" y="304800"/>
            <a:ext cx="89154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Rearranging </a:t>
            </a:r>
            <a:r>
              <a:rPr lang="en-US" sz="44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terms</a:t>
            </a:r>
            <a:endParaRPr lang="en-US" sz="4400" b="1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spcAft>
                <a:spcPts val="2400"/>
              </a:spcAft>
            </a:pPr>
            <a:r>
              <a:rPr lang="en-US" sz="44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Its probably not too surprising that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you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can rearrange the terms </a:t>
            </a:r>
          </a:p>
          <a:p>
            <a:pPr algn="ctr">
              <a:spcAft>
                <a:spcPts val="2400"/>
              </a:spcAft>
            </a:pP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 an </a:t>
            </a:r>
            <a:r>
              <a:rPr lang="en-US" sz="40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absolutely convergent </a:t>
            </a:r>
            <a:r>
              <a:rPr lang="en-US" sz="40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series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and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still get the </a:t>
            </a:r>
            <a:r>
              <a:rPr lang="en-US" sz="40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same sum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 </a:t>
            </a:r>
          </a:p>
          <a:p>
            <a:pPr algn="ctr">
              <a:spcAft>
                <a:spcPts val="2400"/>
              </a:spcAft>
            </a:pP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but a </a:t>
            </a:r>
            <a:r>
              <a:rPr lang="en-US" sz="40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conditionally convergent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sum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can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be rearranged </a:t>
            </a:r>
          </a:p>
          <a:p>
            <a:pPr algn="ctr">
              <a:spcAft>
                <a:spcPts val="2400"/>
              </a:spcAft>
            </a:pPr>
            <a:r>
              <a:rPr lang="en-US" sz="4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to sum to anything you want.</a:t>
            </a:r>
          </a:p>
        </p:txBody>
      </p:sp>
    </p:spTree>
    <p:extLst>
      <p:ext uri="{BB962C8B-B14F-4D97-AF65-F5344CB8AC3E}">
        <p14:creationId xmlns:p14="http://schemas.microsoft.com/office/powerpoint/2010/main" val="338971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87889" y="228600"/>
            <a:ext cx="890371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Proof:  </a:t>
            </a:r>
            <a:endParaRPr lang="en-US" sz="4000" b="1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Pick any number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L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you’d like the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new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series to converge to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algn="ctr"/>
            <a:endParaRPr lang="en-US" sz="28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The positive terms and negative terms both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converge to 0 as sequences, </a:t>
            </a: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but the sum of each diverges.</a:t>
            </a:r>
          </a:p>
          <a:p>
            <a:pPr algn="ctr"/>
            <a:endParaRPr lang="en-US" sz="40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Re-arrange them from largest to smallest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4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42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87889" y="244136"/>
            <a:ext cx="890371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Add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up positive terms until you get past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L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algn="ctr"/>
            <a:endParaRPr lang="en-US" sz="4000" dirty="0" smtClean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Subtract negative pieces until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you 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get below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L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algn="ctr"/>
            <a:endParaRPr lang="en-US" sz="4000" dirty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Repeat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…</a:t>
            </a:r>
          </a:p>
          <a:p>
            <a:pPr algn="ctr"/>
            <a:endParaRPr lang="en-US" sz="40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Since terms</a:t>
            </a:r>
            <a:r>
              <a:rPr lang="en-US" sz="4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 0  the “over shooting” 0</a:t>
            </a:r>
            <a:endParaRPr lang="en-US" sz="40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36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1855</TotalTime>
  <Words>153</Words>
  <Application>Microsoft Office PowerPoint</Application>
  <PresentationFormat>On-screen Show (4:3)</PresentationFormat>
  <Paragraphs>62</Paragraphs>
  <Slides>15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theme</vt:lpstr>
      <vt:lpstr>MathType 6.0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575</cp:revision>
  <dcterms:created xsi:type="dcterms:W3CDTF">2006-08-16T00:00:00Z</dcterms:created>
  <dcterms:modified xsi:type="dcterms:W3CDTF">2012-11-05T05:02:43Z</dcterms:modified>
</cp:coreProperties>
</file>