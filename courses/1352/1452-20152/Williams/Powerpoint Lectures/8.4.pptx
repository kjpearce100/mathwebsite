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8" r:id="rId3"/>
    <p:sldId id="265" r:id="rId4"/>
    <p:sldId id="266" r:id="rId5"/>
    <p:sldId id="269" r:id="rId6"/>
    <p:sldId id="270" r:id="rId7"/>
    <p:sldId id="267" r:id="rId8"/>
    <p:sldId id="272" r:id="rId9"/>
    <p:sldId id="260" r:id="rId10"/>
    <p:sldId id="274" r:id="rId11"/>
    <p:sldId id="273" r:id="rId12"/>
    <p:sldId id="275" r:id="rId13"/>
    <p:sldId id="263" r:id="rId14"/>
    <p:sldId id="276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>
        <p:scale>
          <a:sx n="115" d="100"/>
          <a:sy n="115" d="100"/>
        </p:scale>
        <p:origin x="-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1.wmf"/><Relationship Id="rId7" Type="http://schemas.openxmlformats.org/officeDocument/2006/relationships/image" Target="../media/image34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24.wmf"/><Relationship Id="rId9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7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3/27/2011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61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6.wmf"/><Relationship Id="rId22" Type="http://schemas.openxmlformats.org/officeDocument/2006/relationships/image" Target="../media/image7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200399"/>
            <a:ext cx="71330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8.4: Comparison Tests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0" y="228600"/>
            <a:ext cx="914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Direct comparison test</a:t>
            </a:r>
          </a:p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Baby comparison test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algn="ctr"/>
            <a:endParaRPr lang="en-US" sz="24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Suppose 0 ≤ </a:t>
            </a:r>
            <a:r>
              <a:rPr lang="en-US" sz="2400" dirty="0" err="1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a</a:t>
            </a:r>
            <a:r>
              <a:rPr lang="en-US" sz="2400" baseline="-25000" dirty="0" err="1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≤ </a:t>
            </a:r>
            <a:r>
              <a:rPr lang="en-US" sz="2400" dirty="0" err="1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b</a:t>
            </a:r>
            <a:r>
              <a:rPr lang="en-US" sz="2400" baseline="-25000" dirty="0" err="1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 for all k</a:t>
            </a:r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539388"/>
              </p:ext>
            </p:extLst>
          </p:nvPr>
        </p:nvGraphicFramePr>
        <p:xfrm>
          <a:off x="381000" y="2286000"/>
          <a:ext cx="52578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9" name="Equation" r:id="rId3" imgW="2552400" imgH="431640" progId="Equation.DSMT4">
                  <p:embed/>
                </p:oleObj>
              </mc:Choice>
              <mc:Fallback>
                <p:oleObj name="Equation" r:id="rId3" imgW="2552400" imgH="43164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0"/>
                        <a:ext cx="5257800" cy="849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012018"/>
              </p:ext>
            </p:extLst>
          </p:nvPr>
        </p:nvGraphicFramePr>
        <p:xfrm>
          <a:off x="381000" y="3657600"/>
          <a:ext cx="518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0" name="Equation" r:id="rId5" imgW="2501640" imgH="431640" progId="Equation.DSMT4">
                  <p:embed/>
                </p:oleObj>
              </mc:Choice>
              <mc:Fallback>
                <p:oleObj name="Equation" r:id="rId5" imgW="2501640" imgH="43164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657600"/>
                        <a:ext cx="5181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6705600" y="4343400"/>
            <a:ext cx="0" cy="1981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53200" y="5867400"/>
            <a:ext cx="25908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6871317" y="4483223"/>
            <a:ext cx="2104007" cy="1029810"/>
          </a:xfrm>
          <a:custGeom>
            <a:avLst/>
            <a:gdLst>
              <a:gd name="connsiteX0" fmla="*/ 0 w 2104007"/>
              <a:gd name="connsiteY0" fmla="*/ 0 h 1029810"/>
              <a:gd name="connsiteX1" fmla="*/ 319596 w 2104007"/>
              <a:gd name="connsiteY1" fmla="*/ 257453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007" h="1029810">
                <a:moveTo>
                  <a:pt x="0" y="0"/>
                </a:moveTo>
                <a:cubicBezTo>
                  <a:pt x="85817" y="86557"/>
                  <a:pt x="171635" y="173115"/>
                  <a:pt x="319596" y="257453"/>
                </a:cubicBezTo>
                <a:cubicBezTo>
                  <a:pt x="467557" y="341791"/>
                  <a:pt x="673222" y="399495"/>
                  <a:pt x="887766" y="506027"/>
                </a:cubicBezTo>
                <a:cubicBezTo>
                  <a:pt x="1102310" y="612559"/>
                  <a:pt x="1404151" y="809348"/>
                  <a:pt x="1606858" y="896645"/>
                </a:cubicBezTo>
                <a:cubicBezTo>
                  <a:pt x="1809565" y="983942"/>
                  <a:pt x="2013751" y="1022412"/>
                  <a:pt x="2104007" y="1029810"/>
                </a:cubicBezTo>
              </a:path>
            </a:pathLst>
          </a:cu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6884634" y="4850167"/>
            <a:ext cx="2077373" cy="941033"/>
          </a:xfrm>
          <a:custGeom>
            <a:avLst/>
            <a:gdLst>
              <a:gd name="connsiteX0" fmla="*/ 0 w 2104007"/>
              <a:gd name="connsiteY0" fmla="*/ 0 h 1029810"/>
              <a:gd name="connsiteX1" fmla="*/ 319596 w 2104007"/>
              <a:gd name="connsiteY1" fmla="*/ 257453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980983 w 2104007"/>
              <a:gd name="connsiteY3" fmla="*/ 556334 h 1029810"/>
              <a:gd name="connsiteX4" fmla="*/ 1606858 w 2104007"/>
              <a:gd name="connsiteY4" fmla="*/ 896645 h 1029810"/>
              <a:gd name="connsiteX5" fmla="*/ 2104007 w 2104007"/>
              <a:gd name="connsiteY5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980983 w 2104007"/>
              <a:gd name="connsiteY3" fmla="*/ 556334 h 1029810"/>
              <a:gd name="connsiteX4" fmla="*/ 1367161 w 2104007"/>
              <a:gd name="connsiteY4" fmla="*/ 923278 h 1029810"/>
              <a:gd name="connsiteX5" fmla="*/ 2104007 w 2104007"/>
              <a:gd name="connsiteY5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980983 w 2104007"/>
              <a:gd name="connsiteY3" fmla="*/ 556334 h 1029810"/>
              <a:gd name="connsiteX4" fmla="*/ 1367161 w 2104007"/>
              <a:gd name="connsiteY4" fmla="*/ 861135 h 1029810"/>
              <a:gd name="connsiteX5" fmla="*/ 2104007 w 2104007"/>
              <a:gd name="connsiteY5" fmla="*/ 1029810 h 1029810"/>
              <a:gd name="connsiteX0" fmla="*/ 0 w 2077373"/>
              <a:gd name="connsiteY0" fmla="*/ 0 h 941033"/>
              <a:gd name="connsiteX1" fmla="*/ 310718 w 2077373"/>
              <a:gd name="connsiteY1" fmla="*/ 310719 h 941033"/>
              <a:gd name="connsiteX2" fmla="*/ 861132 w 2077373"/>
              <a:gd name="connsiteY2" fmla="*/ 417250 h 941033"/>
              <a:gd name="connsiteX3" fmla="*/ 954349 w 2077373"/>
              <a:gd name="connsiteY3" fmla="*/ 467557 h 941033"/>
              <a:gd name="connsiteX4" fmla="*/ 1340527 w 2077373"/>
              <a:gd name="connsiteY4" fmla="*/ 772358 h 941033"/>
              <a:gd name="connsiteX5" fmla="*/ 2077373 w 2077373"/>
              <a:gd name="connsiteY5" fmla="*/ 941033 h 94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7373" h="941033">
                <a:moveTo>
                  <a:pt x="0" y="0"/>
                </a:moveTo>
                <a:cubicBezTo>
                  <a:pt x="85817" y="86557"/>
                  <a:pt x="167196" y="241177"/>
                  <a:pt x="310718" y="310719"/>
                </a:cubicBezTo>
                <a:cubicBezTo>
                  <a:pt x="454240" y="380261"/>
                  <a:pt x="753860" y="391110"/>
                  <a:pt x="861132" y="417250"/>
                </a:cubicBezTo>
                <a:cubicBezTo>
                  <a:pt x="968404" y="443390"/>
                  <a:pt x="834500" y="402454"/>
                  <a:pt x="954349" y="467557"/>
                </a:cubicBezTo>
                <a:cubicBezTo>
                  <a:pt x="1074198" y="532660"/>
                  <a:pt x="1153356" y="693445"/>
                  <a:pt x="1340527" y="772358"/>
                </a:cubicBezTo>
                <a:cubicBezTo>
                  <a:pt x="1527698" y="851271"/>
                  <a:pt x="1987117" y="933635"/>
                  <a:pt x="2077373" y="941033"/>
                </a:cubicBezTo>
              </a:path>
            </a:pathLst>
          </a:custGeom>
          <a:ln w="635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4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7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05000" y="228600"/>
            <a:ext cx="5791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Aside:</a:t>
            </a:r>
          </a:p>
          <a:p>
            <a:pPr algn="ctr"/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To use any of the Comparison Tests,</a:t>
            </a:r>
          </a:p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 the terms must be positive.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633473"/>
              </p:ext>
            </p:extLst>
          </p:nvPr>
        </p:nvGraphicFramePr>
        <p:xfrm>
          <a:off x="2209800" y="2743200"/>
          <a:ext cx="17414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4" name="Equation" r:id="rId3" imgW="761760" imgH="393480" progId="Equation.DSMT4">
                  <p:embed/>
                </p:oleObj>
              </mc:Choice>
              <mc:Fallback>
                <p:oleObj name="Equation" r:id="rId3" imgW="761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743200"/>
                        <a:ext cx="174148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176485"/>
              </p:ext>
            </p:extLst>
          </p:nvPr>
        </p:nvGraphicFramePr>
        <p:xfrm>
          <a:off x="3581400" y="2667000"/>
          <a:ext cx="35131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5" name="Equation" r:id="rId5" imgW="1536480" imgH="431640" progId="Equation.DSMT4">
                  <p:embed/>
                </p:oleObj>
              </mc:Choice>
              <mc:Fallback>
                <p:oleObj name="Equation" r:id="rId5" imgW="1536480" imgH="431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667000"/>
                        <a:ext cx="351313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6705600" y="4343400"/>
            <a:ext cx="0" cy="1981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553200" y="5867400"/>
            <a:ext cx="25908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6871317" y="4483224"/>
            <a:ext cx="2095129" cy="1235666"/>
          </a:xfrm>
          <a:custGeom>
            <a:avLst/>
            <a:gdLst>
              <a:gd name="connsiteX0" fmla="*/ 0 w 2104007"/>
              <a:gd name="connsiteY0" fmla="*/ 0 h 1029810"/>
              <a:gd name="connsiteX1" fmla="*/ 319596 w 2104007"/>
              <a:gd name="connsiteY1" fmla="*/ 257453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029810"/>
              <a:gd name="connsiteX1" fmla="*/ 275208 w 2104007"/>
              <a:gd name="connsiteY1" fmla="*/ 532660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029810"/>
              <a:gd name="connsiteX1" fmla="*/ 275208 w 2104007"/>
              <a:gd name="connsiteY1" fmla="*/ 532660 h 1029810"/>
              <a:gd name="connsiteX2" fmla="*/ 852255 w 2104007"/>
              <a:gd name="connsiteY2" fmla="*/ 949911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208005"/>
              <a:gd name="connsiteX1" fmla="*/ 275208 w 2104007"/>
              <a:gd name="connsiteY1" fmla="*/ 532660 h 1208005"/>
              <a:gd name="connsiteX2" fmla="*/ 852255 w 2104007"/>
              <a:gd name="connsiteY2" fmla="*/ 949911 h 1208005"/>
              <a:gd name="connsiteX3" fmla="*/ 1544714 w 2104007"/>
              <a:gd name="connsiteY3" fmla="*/ 1207363 h 1208005"/>
              <a:gd name="connsiteX4" fmla="*/ 2104007 w 2104007"/>
              <a:gd name="connsiteY4" fmla="*/ 1029810 h 1208005"/>
              <a:gd name="connsiteX0" fmla="*/ 0 w 2095129"/>
              <a:gd name="connsiteY0" fmla="*/ 0 h 1235666"/>
              <a:gd name="connsiteX1" fmla="*/ 275208 w 2095129"/>
              <a:gd name="connsiteY1" fmla="*/ 532660 h 1235666"/>
              <a:gd name="connsiteX2" fmla="*/ 852255 w 2095129"/>
              <a:gd name="connsiteY2" fmla="*/ 949911 h 1235666"/>
              <a:gd name="connsiteX3" fmla="*/ 1544714 w 2095129"/>
              <a:gd name="connsiteY3" fmla="*/ 1207363 h 1235666"/>
              <a:gd name="connsiteX4" fmla="*/ 2095129 w 2095129"/>
              <a:gd name="connsiteY4" fmla="*/ 1233997 h 123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5129" h="1235666">
                <a:moveTo>
                  <a:pt x="0" y="0"/>
                </a:moveTo>
                <a:cubicBezTo>
                  <a:pt x="85817" y="86557"/>
                  <a:pt x="133166" y="374342"/>
                  <a:pt x="275208" y="532660"/>
                </a:cubicBezTo>
                <a:cubicBezTo>
                  <a:pt x="417250" y="690978"/>
                  <a:pt x="640671" y="837460"/>
                  <a:pt x="852255" y="949911"/>
                </a:cubicBezTo>
                <a:cubicBezTo>
                  <a:pt x="1063839" y="1062362"/>
                  <a:pt x="1337568" y="1160015"/>
                  <a:pt x="1544714" y="1207363"/>
                </a:cubicBezTo>
                <a:cubicBezTo>
                  <a:pt x="1751860" y="1254711"/>
                  <a:pt x="2004873" y="1226599"/>
                  <a:pt x="2095129" y="1233997"/>
                </a:cubicBezTo>
              </a:path>
            </a:pathLst>
          </a:cu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6829147" y="6103400"/>
            <a:ext cx="2095130" cy="678201"/>
          </a:xfrm>
          <a:custGeom>
            <a:avLst/>
            <a:gdLst>
              <a:gd name="connsiteX0" fmla="*/ 0 w 2104007"/>
              <a:gd name="connsiteY0" fmla="*/ 0 h 1029810"/>
              <a:gd name="connsiteX1" fmla="*/ 319596 w 2104007"/>
              <a:gd name="connsiteY1" fmla="*/ 257453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1606858 w 2104007"/>
              <a:gd name="connsiteY3" fmla="*/ 896645 h 1029810"/>
              <a:gd name="connsiteX4" fmla="*/ 2104007 w 2104007"/>
              <a:gd name="connsiteY4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980983 w 2104007"/>
              <a:gd name="connsiteY3" fmla="*/ 556334 h 1029810"/>
              <a:gd name="connsiteX4" fmla="*/ 1606858 w 2104007"/>
              <a:gd name="connsiteY4" fmla="*/ 896645 h 1029810"/>
              <a:gd name="connsiteX5" fmla="*/ 2104007 w 2104007"/>
              <a:gd name="connsiteY5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980983 w 2104007"/>
              <a:gd name="connsiteY3" fmla="*/ 556334 h 1029810"/>
              <a:gd name="connsiteX4" fmla="*/ 1367161 w 2104007"/>
              <a:gd name="connsiteY4" fmla="*/ 923278 h 1029810"/>
              <a:gd name="connsiteX5" fmla="*/ 2104007 w 2104007"/>
              <a:gd name="connsiteY5" fmla="*/ 1029810 h 1029810"/>
              <a:gd name="connsiteX0" fmla="*/ 0 w 2104007"/>
              <a:gd name="connsiteY0" fmla="*/ 0 h 1029810"/>
              <a:gd name="connsiteX1" fmla="*/ 337352 w 2104007"/>
              <a:gd name="connsiteY1" fmla="*/ 399496 h 1029810"/>
              <a:gd name="connsiteX2" fmla="*/ 887766 w 2104007"/>
              <a:gd name="connsiteY2" fmla="*/ 506027 h 1029810"/>
              <a:gd name="connsiteX3" fmla="*/ 980983 w 2104007"/>
              <a:gd name="connsiteY3" fmla="*/ 556334 h 1029810"/>
              <a:gd name="connsiteX4" fmla="*/ 1367161 w 2104007"/>
              <a:gd name="connsiteY4" fmla="*/ 861135 h 1029810"/>
              <a:gd name="connsiteX5" fmla="*/ 2104007 w 2104007"/>
              <a:gd name="connsiteY5" fmla="*/ 1029810 h 1029810"/>
              <a:gd name="connsiteX0" fmla="*/ 0 w 2077373"/>
              <a:gd name="connsiteY0" fmla="*/ 0 h 941033"/>
              <a:gd name="connsiteX1" fmla="*/ 310718 w 2077373"/>
              <a:gd name="connsiteY1" fmla="*/ 310719 h 941033"/>
              <a:gd name="connsiteX2" fmla="*/ 861132 w 2077373"/>
              <a:gd name="connsiteY2" fmla="*/ 417250 h 941033"/>
              <a:gd name="connsiteX3" fmla="*/ 954349 w 2077373"/>
              <a:gd name="connsiteY3" fmla="*/ 467557 h 941033"/>
              <a:gd name="connsiteX4" fmla="*/ 1340527 w 2077373"/>
              <a:gd name="connsiteY4" fmla="*/ 772358 h 941033"/>
              <a:gd name="connsiteX5" fmla="*/ 2077373 w 2077373"/>
              <a:gd name="connsiteY5" fmla="*/ 941033 h 941033"/>
              <a:gd name="connsiteX0" fmla="*/ 0 w 2059618"/>
              <a:gd name="connsiteY0" fmla="*/ 279820 h 634927"/>
              <a:gd name="connsiteX1" fmla="*/ 292963 w 2059618"/>
              <a:gd name="connsiteY1" fmla="*/ 4613 h 634927"/>
              <a:gd name="connsiteX2" fmla="*/ 843377 w 2059618"/>
              <a:gd name="connsiteY2" fmla="*/ 111144 h 634927"/>
              <a:gd name="connsiteX3" fmla="*/ 936594 w 2059618"/>
              <a:gd name="connsiteY3" fmla="*/ 161451 h 634927"/>
              <a:gd name="connsiteX4" fmla="*/ 1322772 w 2059618"/>
              <a:gd name="connsiteY4" fmla="*/ 466252 h 634927"/>
              <a:gd name="connsiteX5" fmla="*/ 2059618 w 2059618"/>
              <a:gd name="connsiteY5" fmla="*/ 634927 h 634927"/>
              <a:gd name="connsiteX0" fmla="*/ 0 w 2059618"/>
              <a:gd name="connsiteY0" fmla="*/ 279166 h 634273"/>
              <a:gd name="connsiteX1" fmla="*/ 292963 w 2059618"/>
              <a:gd name="connsiteY1" fmla="*/ 3959 h 634273"/>
              <a:gd name="connsiteX2" fmla="*/ 843377 w 2059618"/>
              <a:gd name="connsiteY2" fmla="*/ 110490 h 634273"/>
              <a:gd name="connsiteX3" fmla="*/ 927716 w 2059618"/>
              <a:gd name="connsiteY3" fmla="*/ 27632 h 634273"/>
              <a:gd name="connsiteX4" fmla="*/ 1322772 w 2059618"/>
              <a:gd name="connsiteY4" fmla="*/ 465598 h 634273"/>
              <a:gd name="connsiteX5" fmla="*/ 2059618 w 2059618"/>
              <a:gd name="connsiteY5" fmla="*/ 634273 h 634273"/>
              <a:gd name="connsiteX0" fmla="*/ 0 w 2059618"/>
              <a:gd name="connsiteY0" fmla="*/ 309563 h 664670"/>
              <a:gd name="connsiteX1" fmla="*/ 292963 w 2059618"/>
              <a:gd name="connsiteY1" fmla="*/ 34356 h 664670"/>
              <a:gd name="connsiteX2" fmla="*/ 843377 w 2059618"/>
              <a:gd name="connsiteY2" fmla="*/ 140887 h 664670"/>
              <a:gd name="connsiteX3" fmla="*/ 1105270 w 2059618"/>
              <a:gd name="connsiteY3" fmla="*/ 13640 h 664670"/>
              <a:gd name="connsiteX4" fmla="*/ 1322772 w 2059618"/>
              <a:gd name="connsiteY4" fmla="*/ 495995 h 664670"/>
              <a:gd name="connsiteX5" fmla="*/ 2059618 w 2059618"/>
              <a:gd name="connsiteY5" fmla="*/ 664670 h 664670"/>
              <a:gd name="connsiteX0" fmla="*/ 0 w 2059618"/>
              <a:gd name="connsiteY0" fmla="*/ 322734 h 677841"/>
              <a:gd name="connsiteX1" fmla="*/ 292963 w 2059618"/>
              <a:gd name="connsiteY1" fmla="*/ 47527 h 677841"/>
              <a:gd name="connsiteX2" fmla="*/ 798988 w 2059618"/>
              <a:gd name="connsiteY2" fmla="*/ 38648 h 677841"/>
              <a:gd name="connsiteX3" fmla="*/ 1105270 w 2059618"/>
              <a:gd name="connsiteY3" fmla="*/ 26811 h 677841"/>
              <a:gd name="connsiteX4" fmla="*/ 1322772 w 2059618"/>
              <a:gd name="connsiteY4" fmla="*/ 509166 h 677841"/>
              <a:gd name="connsiteX5" fmla="*/ 2059618 w 2059618"/>
              <a:gd name="connsiteY5" fmla="*/ 677841 h 677841"/>
              <a:gd name="connsiteX0" fmla="*/ 0 w 2059618"/>
              <a:gd name="connsiteY0" fmla="*/ 449774 h 804881"/>
              <a:gd name="connsiteX1" fmla="*/ 292963 w 2059618"/>
              <a:gd name="connsiteY1" fmla="*/ 174567 h 804881"/>
              <a:gd name="connsiteX2" fmla="*/ 798988 w 2059618"/>
              <a:gd name="connsiteY2" fmla="*/ 165688 h 804881"/>
              <a:gd name="connsiteX3" fmla="*/ 1105270 w 2059618"/>
              <a:gd name="connsiteY3" fmla="*/ 153851 h 804881"/>
              <a:gd name="connsiteX4" fmla="*/ 1447060 w 2059618"/>
              <a:gd name="connsiteY4" fmla="*/ 23647 h 804881"/>
              <a:gd name="connsiteX5" fmla="*/ 2059618 w 2059618"/>
              <a:gd name="connsiteY5" fmla="*/ 804881 h 804881"/>
              <a:gd name="connsiteX0" fmla="*/ 0 w 1988597"/>
              <a:gd name="connsiteY0" fmla="*/ 533171 h 548163"/>
              <a:gd name="connsiteX1" fmla="*/ 292963 w 1988597"/>
              <a:gd name="connsiteY1" fmla="*/ 257964 h 548163"/>
              <a:gd name="connsiteX2" fmla="*/ 798988 w 1988597"/>
              <a:gd name="connsiteY2" fmla="*/ 249085 h 548163"/>
              <a:gd name="connsiteX3" fmla="*/ 1105270 w 1988597"/>
              <a:gd name="connsiteY3" fmla="*/ 237248 h 548163"/>
              <a:gd name="connsiteX4" fmla="*/ 1447060 w 1988597"/>
              <a:gd name="connsiteY4" fmla="*/ 107044 h 548163"/>
              <a:gd name="connsiteX5" fmla="*/ 1988597 w 1988597"/>
              <a:gd name="connsiteY5" fmla="*/ 512 h 548163"/>
              <a:gd name="connsiteX0" fmla="*/ 0 w 1988597"/>
              <a:gd name="connsiteY0" fmla="*/ 533243 h 548235"/>
              <a:gd name="connsiteX1" fmla="*/ 292963 w 1988597"/>
              <a:gd name="connsiteY1" fmla="*/ 258036 h 548235"/>
              <a:gd name="connsiteX2" fmla="*/ 798988 w 1988597"/>
              <a:gd name="connsiteY2" fmla="*/ 249157 h 548235"/>
              <a:gd name="connsiteX3" fmla="*/ 1105270 w 1988597"/>
              <a:gd name="connsiteY3" fmla="*/ 237320 h 548235"/>
              <a:gd name="connsiteX4" fmla="*/ 1134122 w 1988597"/>
              <a:gd name="connsiteY4" fmla="*/ 297986 h 548235"/>
              <a:gd name="connsiteX5" fmla="*/ 1447060 w 1988597"/>
              <a:gd name="connsiteY5" fmla="*/ 107116 h 548235"/>
              <a:gd name="connsiteX6" fmla="*/ 1988597 w 1988597"/>
              <a:gd name="connsiteY6" fmla="*/ 584 h 548235"/>
              <a:gd name="connsiteX0" fmla="*/ 0 w 1988597"/>
              <a:gd name="connsiteY0" fmla="*/ 533243 h 546946"/>
              <a:gd name="connsiteX1" fmla="*/ 310719 w 1988597"/>
              <a:gd name="connsiteY1" fmla="*/ 222526 h 546946"/>
              <a:gd name="connsiteX2" fmla="*/ 798988 w 1988597"/>
              <a:gd name="connsiteY2" fmla="*/ 249157 h 546946"/>
              <a:gd name="connsiteX3" fmla="*/ 1105270 w 1988597"/>
              <a:gd name="connsiteY3" fmla="*/ 237320 h 546946"/>
              <a:gd name="connsiteX4" fmla="*/ 1134122 w 1988597"/>
              <a:gd name="connsiteY4" fmla="*/ 297986 h 546946"/>
              <a:gd name="connsiteX5" fmla="*/ 1447060 w 1988597"/>
              <a:gd name="connsiteY5" fmla="*/ 107116 h 546946"/>
              <a:gd name="connsiteX6" fmla="*/ 1988597 w 1988597"/>
              <a:gd name="connsiteY6" fmla="*/ 584 h 546946"/>
              <a:gd name="connsiteX0" fmla="*/ 0 w 1988597"/>
              <a:gd name="connsiteY0" fmla="*/ 533243 h 547434"/>
              <a:gd name="connsiteX1" fmla="*/ 310719 w 1988597"/>
              <a:gd name="connsiteY1" fmla="*/ 222526 h 547434"/>
              <a:gd name="connsiteX2" fmla="*/ 781233 w 1988597"/>
              <a:gd name="connsiteY2" fmla="*/ 160380 h 547434"/>
              <a:gd name="connsiteX3" fmla="*/ 1105270 w 1988597"/>
              <a:gd name="connsiteY3" fmla="*/ 237320 h 547434"/>
              <a:gd name="connsiteX4" fmla="*/ 1134122 w 1988597"/>
              <a:gd name="connsiteY4" fmla="*/ 297986 h 547434"/>
              <a:gd name="connsiteX5" fmla="*/ 1447060 w 1988597"/>
              <a:gd name="connsiteY5" fmla="*/ 107116 h 547434"/>
              <a:gd name="connsiteX6" fmla="*/ 1988597 w 1988597"/>
              <a:gd name="connsiteY6" fmla="*/ 584 h 547434"/>
              <a:gd name="connsiteX0" fmla="*/ 0 w 1988597"/>
              <a:gd name="connsiteY0" fmla="*/ 533243 h 547434"/>
              <a:gd name="connsiteX1" fmla="*/ 310719 w 1988597"/>
              <a:gd name="connsiteY1" fmla="*/ 222526 h 547434"/>
              <a:gd name="connsiteX2" fmla="*/ 781233 w 1988597"/>
              <a:gd name="connsiteY2" fmla="*/ 160380 h 547434"/>
              <a:gd name="connsiteX3" fmla="*/ 1096392 w 1988597"/>
              <a:gd name="connsiteY3" fmla="*/ 157421 h 547434"/>
              <a:gd name="connsiteX4" fmla="*/ 1134122 w 1988597"/>
              <a:gd name="connsiteY4" fmla="*/ 297986 h 547434"/>
              <a:gd name="connsiteX5" fmla="*/ 1447060 w 1988597"/>
              <a:gd name="connsiteY5" fmla="*/ 107116 h 547434"/>
              <a:gd name="connsiteX6" fmla="*/ 1988597 w 1988597"/>
              <a:gd name="connsiteY6" fmla="*/ 584 h 547434"/>
              <a:gd name="connsiteX0" fmla="*/ 0 w 1988597"/>
              <a:gd name="connsiteY0" fmla="*/ 533243 h 547434"/>
              <a:gd name="connsiteX1" fmla="*/ 310719 w 1988597"/>
              <a:gd name="connsiteY1" fmla="*/ 222526 h 547434"/>
              <a:gd name="connsiteX2" fmla="*/ 781233 w 1988597"/>
              <a:gd name="connsiteY2" fmla="*/ 160380 h 547434"/>
              <a:gd name="connsiteX3" fmla="*/ 1096392 w 1988597"/>
              <a:gd name="connsiteY3" fmla="*/ 157421 h 547434"/>
              <a:gd name="connsiteX4" fmla="*/ 1447060 w 1988597"/>
              <a:gd name="connsiteY4" fmla="*/ 107116 h 547434"/>
              <a:gd name="connsiteX5" fmla="*/ 1988597 w 1988597"/>
              <a:gd name="connsiteY5" fmla="*/ 584 h 547434"/>
              <a:gd name="connsiteX0" fmla="*/ 0 w 1988597"/>
              <a:gd name="connsiteY0" fmla="*/ 532853 h 547044"/>
              <a:gd name="connsiteX1" fmla="*/ 310719 w 1988597"/>
              <a:gd name="connsiteY1" fmla="*/ 222136 h 547044"/>
              <a:gd name="connsiteX2" fmla="*/ 781233 w 1988597"/>
              <a:gd name="connsiteY2" fmla="*/ 159990 h 547044"/>
              <a:gd name="connsiteX3" fmla="*/ 1096392 w 1988597"/>
              <a:gd name="connsiteY3" fmla="*/ 157031 h 547044"/>
              <a:gd name="connsiteX4" fmla="*/ 1464815 w 1988597"/>
              <a:gd name="connsiteY4" fmla="*/ 248769 h 547044"/>
              <a:gd name="connsiteX5" fmla="*/ 1988597 w 1988597"/>
              <a:gd name="connsiteY5" fmla="*/ 194 h 547044"/>
              <a:gd name="connsiteX0" fmla="*/ 0 w 2050741"/>
              <a:gd name="connsiteY0" fmla="*/ 408685 h 422876"/>
              <a:gd name="connsiteX1" fmla="*/ 310719 w 2050741"/>
              <a:gd name="connsiteY1" fmla="*/ 97968 h 422876"/>
              <a:gd name="connsiteX2" fmla="*/ 781233 w 2050741"/>
              <a:gd name="connsiteY2" fmla="*/ 35822 h 422876"/>
              <a:gd name="connsiteX3" fmla="*/ 1096392 w 2050741"/>
              <a:gd name="connsiteY3" fmla="*/ 32863 h 422876"/>
              <a:gd name="connsiteX4" fmla="*/ 1464815 w 2050741"/>
              <a:gd name="connsiteY4" fmla="*/ 124601 h 422876"/>
              <a:gd name="connsiteX5" fmla="*/ 2050741 w 2050741"/>
              <a:gd name="connsiteY5" fmla="*/ 313 h 422876"/>
              <a:gd name="connsiteX0" fmla="*/ 0 w 2050741"/>
              <a:gd name="connsiteY0" fmla="*/ 408780 h 422971"/>
              <a:gd name="connsiteX1" fmla="*/ 310719 w 2050741"/>
              <a:gd name="connsiteY1" fmla="*/ 98063 h 422971"/>
              <a:gd name="connsiteX2" fmla="*/ 781233 w 2050741"/>
              <a:gd name="connsiteY2" fmla="*/ 35917 h 422971"/>
              <a:gd name="connsiteX3" fmla="*/ 1087514 w 2050741"/>
              <a:gd name="connsiteY3" fmla="*/ 219389 h 422971"/>
              <a:gd name="connsiteX4" fmla="*/ 1464815 w 2050741"/>
              <a:gd name="connsiteY4" fmla="*/ 124696 h 422971"/>
              <a:gd name="connsiteX5" fmla="*/ 2050741 w 2050741"/>
              <a:gd name="connsiteY5" fmla="*/ 408 h 422971"/>
              <a:gd name="connsiteX0" fmla="*/ 0 w 2050741"/>
              <a:gd name="connsiteY0" fmla="*/ 408780 h 421938"/>
              <a:gd name="connsiteX1" fmla="*/ 310719 w 2050741"/>
              <a:gd name="connsiteY1" fmla="*/ 98063 h 421938"/>
              <a:gd name="connsiteX2" fmla="*/ 736845 w 2050741"/>
              <a:gd name="connsiteY2" fmla="*/ 231226 h 421938"/>
              <a:gd name="connsiteX3" fmla="*/ 1087514 w 2050741"/>
              <a:gd name="connsiteY3" fmla="*/ 219389 h 421938"/>
              <a:gd name="connsiteX4" fmla="*/ 1464815 w 2050741"/>
              <a:gd name="connsiteY4" fmla="*/ 124696 h 421938"/>
              <a:gd name="connsiteX5" fmla="*/ 2050741 w 2050741"/>
              <a:gd name="connsiteY5" fmla="*/ 408 h 421938"/>
              <a:gd name="connsiteX0" fmla="*/ 0 w 2050741"/>
              <a:gd name="connsiteY0" fmla="*/ 408780 h 429055"/>
              <a:gd name="connsiteX1" fmla="*/ 310719 w 2050741"/>
              <a:gd name="connsiteY1" fmla="*/ 248983 h 429055"/>
              <a:gd name="connsiteX2" fmla="*/ 736845 w 2050741"/>
              <a:gd name="connsiteY2" fmla="*/ 231226 h 429055"/>
              <a:gd name="connsiteX3" fmla="*/ 1087514 w 2050741"/>
              <a:gd name="connsiteY3" fmla="*/ 219389 h 429055"/>
              <a:gd name="connsiteX4" fmla="*/ 1464815 w 2050741"/>
              <a:gd name="connsiteY4" fmla="*/ 124696 h 429055"/>
              <a:gd name="connsiteX5" fmla="*/ 2050741 w 2050741"/>
              <a:gd name="connsiteY5" fmla="*/ 408 h 429055"/>
              <a:gd name="connsiteX0" fmla="*/ 0 w 2041864"/>
              <a:gd name="connsiteY0" fmla="*/ 568578 h 582270"/>
              <a:gd name="connsiteX1" fmla="*/ 301842 w 2041864"/>
              <a:gd name="connsiteY1" fmla="*/ 248983 h 582270"/>
              <a:gd name="connsiteX2" fmla="*/ 727968 w 2041864"/>
              <a:gd name="connsiteY2" fmla="*/ 231226 h 582270"/>
              <a:gd name="connsiteX3" fmla="*/ 1078637 w 2041864"/>
              <a:gd name="connsiteY3" fmla="*/ 219389 h 582270"/>
              <a:gd name="connsiteX4" fmla="*/ 1455938 w 2041864"/>
              <a:gd name="connsiteY4" fmla="*/ 124696 h 582270"/>
              <a:gd name="connsiteX5" fmla="*/ 2041864 w 2041864"/>
              <a:gd name="connsiteY5" fmla="*/ 408 h 582270"/>
              <a:gd name="connsiteX0" fmla="*/ 0 w 2041864"/>
              <a:gd name="connsiteY0" fmla="*/ 489461 h 503153"/>
              <a:gd name="connsiteX1" fmla="*/ 301842 w 2041864"/>
              <a:gd name="connsiteY1" fmla="*/ 169866 h 503153"/>
              <a:gd name="connsiteX2" fmla="*/ 727968 w 2041864"/>
              <a:gd name="connsiteY2" fmla="*/ 152109 h 503153"/>
              <a:gd name="connsiteX3" fmla="*/ 1078637 w 2041864"/>
              <a:gd name="connsiteY3" fmla="*/ 140272 h 503153"/>
              <a:gd name="connsiteX4" fmla="*/ 1455938 w 2041864"/>
              <a:gd name="connsiteY4" fmla="*/ 45579 h 503153"/>
              <a:gd name="connsiteX5" fmla="*/ 2041864 w 2041864"/>
              <a:gd name="connsiteY5" fmla="*/ 1190 h 503153"/>
              <a:gd name="connsiteX0" fmla="*/ 0 w 2041864"/>
              <a:gd name="connsiteY0" fmla="*/ 489461 h 505175"/>
              <a:gd name="connsiteX1" fmla="*/ 443885 w 2041864"/>
              <a:gd name="connsiteY1" fmla="*/ 223132 h 505175"/>
              <a:gd name="connsiteX2" fmla="*/ 727968 w 2041864"/>
              <a:gd name="connsiteY2" fmla="*/ 152109 h 505175"/>
              <a:gd name="connsiteX3" fmla="*/ 1078637 w 2041864"/>
              <a:gd name="connsiteY3" fmla="*/ 140272 h 505175"/>
              <a:gd name="connsiteX4" fmla="*/ 1455938 w 2041864"/>
              <a:gd name="connsiteY4" fmla="*/ 45579 h 505175"/>
              <a:gd name="connsiteX5" fmla="*/ 2041864 w 2041864"/>
              <a:gd name="connsiteY5" fmla="*/ 1190 h 505175"/>
              <a:gd name="connsiteX0" fmla="*/ 0 w 2068497"/>
              <a:gd name="connsiteY0" fmla="*/ 560482 h 573966"/>
              <a:gd name="connsiteX1" fmla="*/ 470518 w 2068497"/>
              <a:gd name="connsiteY1" fmla="*/ 223132 h 573966"/>
              <a:gd name="connsiteX2" fmla="*/ 754601 w 2068497"/>
              <a:gd name="connsiteY2" fmla="*/ 152109 h 573966"/>
              <a:gd name="connsiteX3" fmla="*/ 1105270 w 2068497"/>
              <a:gd name="connsiteY3" fmla="*/ 140272 h 573966"/>
              <a:gd name="connsiteX4" fmla="*/ 1482571 w 2068497"/>
              <a:gd name="connsiteY4" fmla="*/ 45579 h 573966"/>
              <a:gd name="connsiteX5" fmla="*/ 2068497 w 2068497"/>
              <a:gd name="connsiteY5" fmla="*/ 1190 h 573966"/>
              <a:gd name="connsiteX0" fmla="*/ 0 w 2068497"/>
              <a:gd name="connsiteY0" fmla="*/ 560482 h 574198"/>
              <a:gd name="connsiteX1" fmla="*/ 470518 w 2068497"/>
              <a:gd name="connsiteY1" fmla="*/ 223132 h 574198"/>
              <a:gd name="connsiteX2" fmla="*/ 745724 w 2068497"/>
              <a:gd name="connsiteY2" fmla="*/ 107721 h 574198"/>
              <a:gd name="connsiteX3" fmla="*/ 1105270 w 2068497"/>
              <a:gd name="connsiteY3" fmla="*/ 140272 h 574198"/>
              <a:gd name="connsiteX4" fmla="*/ 1482571 w 2068497"/>
              <a:gd name="connsiteY4" fmla="*/ 45579 h 574198"/>
              <a:gd name="connsiteX5" fmla="*/ 2068497 w 2068497"/>
              <a:gd name="connsiteY5" fmla="*/ 1190 h 574198"/>
              <a:gd name="connsiteX0" fmla="*/ 0 w 2068497"/>
              <a:gd name="connsiteY0" fmla="*/ 560249 h 573965"/>
              <a:gd name="connsiteX1" fmla="*/ 470518 w 2068497"/>
              <a:gd name="connsiteY1" fmla="*/ 222899 h 573965"/>
              <a:gd name="connsiteX2" fmla="*/ 745724 w 2068497"/>
              <a:gd name="connsiteY2" fmla="*/ 107488 h 573965"/>
              <a:gd name="connsiteX3" fmla="*/ 1105270 w 2068497"/>
              <a:gd name="connsiteY3" fmla="*/ 86773 h 573965"/>
              <a:gd name="connsiteX4" fmla="*/ 1482571 w 2068497"/>
              <a:gd name="connsiteY4" fmla="*/ 45346 h 573965"/>
              <a:gd name="connsiteX5" fmla="*/ 2068497 w 2068497"/>
              <a:gd name="connsiteY5" fmla="*/ 957 h 573965"/>
              <a:gd name="connsiteX0" fmla="*/ 0 w 2095130"/>
              <a:gd name="connsiteY0" fmla="*/ 613515 h 625892"/>
              <a:gd name="connsiteX1" fmla="*/ 497151 w 2095130"/>
              <a:gd name="connsiteY1" fmla="*/ 222899 h 625892"/>
              <a:gd name="connsiteX2" fmla="*/ 772357 w 2095130"/>
              <a:gd name="connsiteY2" fmla="*/ 107488 h 625892"/>
              <a:gd name="connsiteX3" fmla="*/ 1131903 w 2095130"/>
              <a:gd name="connsiteY3" fmla="*/ 86773 h 625892"/>
              <a:gd name="connsiteX4" fmla="*/ 1509204 w 2095130"/>
              <a:gd name="connsiteY4" fmla="*/ 45346 h 625892"/>
              <a:gd name="connsiteX5" fmla="*/ 2095130 w 2095130"/>
              <a:gd name="connsiteY5" fmla="*/ 957 h 625892"/>
              <a:gd name="connsiteX0" fmla="*/ 0 w 2095130"/>
              <a:gd name="connsiteY0" fmla="*/ 613334 h 625711"/>
              <a:gd name="connsiteX1" fmla="*/ 497151 w 2095130"/>
              <a:gd name="connsiteY1" fmla="*/ 222718 h 625711"/>
              <a:gd name="connsiteX2" fmla="*/ 772357 w 2095130"/>
              <a:gd name="connsiteY2" fmla="*/ 107307 h 625711"/>
              <a:gd name="connsiteX3" fmla="*/ 1140781 w 2095130"/>
              <a:gd name="connsiteY3" fmla="*/ 24448 h 625711"/>
              <a:gd name="connsiteX4" fmla="*/ 1509204 w 2095130"/>
              <a:gd name="connsiteY4" fmla="*/ 45165 h 625711"/>
              <a:gd name="connsiteX5" fmla="*/ 2095130 w 2095130"/>
              <a:gd name="connsiteY5" fmla="*/ 776 h 625711"/>
              <a:gd name="connsiteX0" fmla="*/ 0 w 2095130"/>
              <a:gd name="connsiteY0" fmla="*/ 630312 h 642689"/>
              <a:gd name="connsiteX1" fmla="*/ 497151 w 2095130"/>
              <a:gd name="connsiteY1" fmla="*/ 239696 h 642689"/>
              <a:gd name="connsiteX2" fmla="*/ 772357 w 2095130"/>
              <a:gd name="connsiteY2" fmla="*/ 124285 h 642689"/>
              <a:gd name="connsiteX3" fmla="*/ 1140781 w 2095130"/>
              <a:gd name="connsiteY3" fmla="*/ 41426 h 642689"/>
              <a:gd name="connsiteX4" fmla="*/ 1518081 w 2095130"/>
              <a:gd name="connsiteY4" fmla="*/ 0 h 642689"/>
              <a:gd name="connsiteX5" fmla="*/ 2095130 w 2095130"/>
              <a:gd name="connsiteY5" fmla="*/ 17754 h 642689"/>
              <a:gd name="connsiteX0" fmla="*/ 0 w 2095130"/>
              <a:gd name="connsiteY0" fmla="*/ 665824 h 678201"/>
              <a:gd name="connsiteX1" fmla="*/ 497151 w 2095130"/>
              <a:gd name="connsiteY1" fmla="*/ 275208 h 678201"/>
              <a:gd name="connsiteX2" fmla="*/ 772357 w 2095130"/>
              <a:gd name="connsiteY2" fmla="*/ 159797 h 678201"/>
              <a:gd name="connsiteX3" fmla="*/ 1140781 w 2095130"/>
              <a:gd name="connsiteY3" fmla="*/ 76938 h 678201"/>
              <a:gd name="connsiteX4" fmla="*/ 1518081 w 2095130"/>
              <a:gd name="connsiteY4" fmla="*/ 35512 h 678201"/>
              <a:gd name="connsiteX5" fmla="*/ 2095130 w 2095130"/>
              <a:gd name="connsiteY5" fmla="*/ 0 h 67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5130" h="678201">
                <a:moveTo>
                  <a:pt x="0" y="665824"/>
                </a:moveTo>
                <a:cubicBezTo>
                  <a:pt x="85817" y="752381"/>
                  <a:pt x="368425" y="359546"/>
                  <a:pt x="497151" y="275208"/>
                </a:cubicBezTo>
                <a:cubicBezTo>
                  <a:pt x="625877" y="190870"/>
                  <a:pt x="665085" y="192842"/>
                  <a:pt x="772357" y="159797"/>
                </a:cubicBezTo>
                <a:cubicBezTo>
                  <a:pt x="879629" y="126752"/>
                  <a:pt x="1029810" y="85815"/>
                  <a:pt x="1140781" y="76938"/>
                </a:cubicBezTo>
                <a:cubicBezTo>
                  <a:pt x="1251752" y="68061"/>
                  <a:pt x="1359023" y="48335"/>
                  <a:pt x="1518081" y="35512"/>
                </a:cubicBezTo>
                <a:cubicBezTo>
                  <a:pt x="1677139" y="22689"/>
                  <a:pt x="1902780" y="11837"/>
                  <a:pt x="2095130" y="0"/>
                </a:cubicBezTo>
              </a:path>
            </a:pathLst>
          </a:custGeom>
          <a:ln w="635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37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090752"/>
              </p:ext>
            </p:extLst>
          </p:nvPr>
        </p:nvGraphicFramePr>
        <p:xfrm>
          <a:off x="381000" y="228600"/>
          <a:ext cx="10747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0" name="Equation" r:id="rId3" imgW="469800" imgH="431640" progId="Equation.DSMT4">
                  <p:embed/>
                </p:oleObj>
              </mc:Choice>
              <mc:Fallback>
                <p:oleObj name="Equation" r:id="rId3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107473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4588557"/>
            <a:ext cx="6034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Diverges by the Direct Comparison Test.</a:t>
            </a:r>
          </a:p>
        </p:txBody>
      </p:sp>
      <p:graphicFrame>
        <p:nvGraphicFramePr>
          <p:cNvPr id="440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426776"/>
              </p:ext>
            </p:extLst>
          </p:nvPr>
        </p:nvGraphicFramePr>
        <p:xfrm>
          <a:off x="3505200" y="1752600"/>
          <a:ext cx="28114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1" name="Equation" r:id="rId5" imgW="1231560" imgH="431640" progId="Equation.DSMT4">
                  <p:embed/>
                </p:oleObj>
              </mc:Choice>
              <mc:Fallback>
                <p:oleObj name="Equation" r:id="rId5" imgW="1231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752600"/>
                        <a:ext cx="2811462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596302"/>
              </p:ext>
            </p:extLst>
          </p:nvPr>
        </p:nvGraphicFramePr>
        <p:xfrm>
          <a:off x="1676400" y="1752600"/>
          <a:ext cx="1598586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2" name="Equation" r:id="rId7" imgW="634680" imgH="393480" progId="Equation.DSMT4">
                  <p:embed/>
                </p:oleObj>
              </mc:Choice>
              <mc:Fallback>
                <p:oleObj name="Equation" r:id="rId7" imgW="634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752600"/>
                        <a:ext cx="1598586" cy="990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6553200" y="4343400"/>
            <a:ext cx="2590800" cy="1981200"/>
            <a:chOff x="6553200" y="4343400"/>
            <a:chExt cx="2590800" cy="19812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6705600" y="4343400"/>
              <a:ext cx="0" cy="1981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553200" y="5867400"/>
              <a:ext cx="25908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17"/>
            <p:cNvSpPr/>
            <p:nvPr/>
          </p:nvSpPr>
          <p:spPr>
            <a:xfrm>
              <a:off x="6871317" y="4483223"/>
              <a:ext cx="2104007" cy="1029810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4007" h="1029810">
                  <a:moveTo>
                    <a:pt x="0" y="0"/>
                  </a:moveTo>
                  <a:cubicBezTo>
                    <a:pt x="85817" y="86557"/>
                    <a:pt x="171635" y="173115"/>
                    <a:pt x="319596" y="257453"/>
                  </a:cubicBezTo>
                  <a:cubicBezTo>
                    <a:pt x="467557" y="341791"/>
                    <a:pt x="673222" y="399495"/>
                    <a:pt x="887766" y="506027"/>
                  </a:cubicBezTo>
                  <a:cubicBezTo>
                    <a:pt x="1102310" y="612559"/>
                    <a:pt x="1404151" y="809348"/>
                    <a:pt x="1606858" y="896645"/>
                  </a:cubicBezTo>
                  <a:cubicBezTo>
                    <a:pt x="1809565" y="983942"/>
                    <a:pt x="2013751" y="1022412"/>
                    <a:pt x="2104007" y="1029810"/>
                  </a:cubicBezTo>
                </a:path>
              </a:pathLst>
            </a:custGeom>
            <a:ln w="635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6884634" y="4850167"/>
              <a:ext cx="2077373" cy="941033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606858 w 2104007"/>
                <a:gd name="connsiteY4" fmla="*/ 896645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923278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861135 h 1029810"/>
                <a:gd name="connsiteX5" fmla="*/ 2104007 w 2104007"/>
                <a:gd name="connsiteY5" fmla="*/ 1029810 h 1029810"/>
                <a:gd name="connsiteX0" fmla="*/ 0 w 2077373"/>
                <a:gd name="connsiteY0" fmla="*/ 0 h 941033"/>
                <a:gd name="connsiteX1" fmla="*/ 310718 w 2077373"/>
                <a:gd name="connsiteY1" fmla="*/ 310719 h 941033"/>
                <a:gd name="connsiteX2" fmla="*/ 861132 w 2077373"/>
                <a:gd name="connsiteY2" fmla="*/ 417250 h 941033"/>
                <a:gd name="connsiteX3" fmla="*/ 954349 w 2077373"/>
                <a:gd name="connsiteY3" fmla="*/ 467557 h 941033"/>
                <a:gd name="connsiteX4" fmla="*/ 1340527 w 2077373"/>
                <a:gd name="connsiteY4" fmla="*/ 772358 h 941033"/>
                <a:gd name="connsiteX5" fmla="*/ 2077373 w 2077373"/>
                <a:gd name="connsiteY5" fmla="*/ 941033 h 94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7373" h="941033">
                  <a:moveTo>
                    <a:pt x="0" y="0"/>
                  </a:moveTo>
                  <a:cubicBezTo>
                    <a:pt x="85817" y="86557"/>
                    <a:pt x="167196" y="241177"/>
                    <a:pt x="310718" y="310719"/>
                  </a:cubicBezTo>
                  <a:cubicBezTo>
                    <a:pt x="454240" y="380261"/>
                    <a:pt x="753860" y="391110"/>
                    <a:pt x="861132" y="417250"/>
                  </a:cubicBezTo>
                  <a:cubicBezTo>
                    <a:pt x="968404" y="443390"/>
                    <a:pt x="834500" y="402454"/>
                    <a:pt x="954349" y="467557"/>
                  </a:cubicBezTo>
                  <a:cubicBezTo>
                    <a:pt x="1074198" y="532660"/>
                    <a:pt x="1153356" y="693445"/>
                    <a:pt x="1340527" y="772358"/>
                  </a:cubicBezTo>
                  <a:cubicBezTo>
                    <a:pt x="1527698" y="851271"/>
                    <a:pt x="1987117" y="933635"/>
                    <a:pt x="2077373" y="941033"/>
                  </a:cubicBezTo>
                </a:path>
              </a:pathLst>
            </a:custGeom>
            <a:ln w="63500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137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6200" y="435227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Converges by the Direct Comparison Test.</a:t>
            </a:r>
          </a:p>
        </p:txBody>
      </p:sp>
      <p:graphicFrame>
        <p:nvGraphicFramePr>
          <p:cNvPr id="440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872852"/>
              </p:ext>
            </p:extLst>
          </p:nvPr>
        </p:nvGraphicFramePr>
        <p:xfrm>
          <a:off x="4419600" y="1752600"/>
          <a:ext cx="382587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name="Equation" r:id="rId3" imgW="1676160" imgH="469800" progId="Equation.DSMT4">
                  <p:embed/>
                </p:oleObj>
              </mc:Choice>
              <mc:Fallback>
                <p:oleObj name="Equation" r:id="rId3" imgW="1676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752600"/>
                        <a:ext cx="3825875" cy="1074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741648"/>
              </p:ext>
            </p:extLst>
          </p:nvPr>
        </p:nvGraphicFramePr>
        <p:xfrm>
          <a:off x="1371600" y="1676400"/>
          <a:ext cx="28448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7" name="Equation" r:id="rId5" imgW="1130040" imgH="469800" progId="Equation.DSMT4">
                  <p:embed/>
                </p:oleObj>
              </mc:Choice>
              <mc:Fallback>
                <p:oleObj name="Equation" r:id="rId5" imgW="1130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76400"/>
                        <a:ext cx="2844800" cy="1181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293160"/>
              </p:ext>
            </p:extLst>
          </p:nvPr>
        </p:nvGraphicFramePr>
        <p:xfrm>
          <a:off x="381000" y="228600"/>
          <a:ext cx="13636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8" name="Equation" r:id="rId7" imgW="596900" imgH="431800" progId="Equation.DSMT4">
                  <p:embed/>
                </p:oleObj>
              </mc:Choice>
              <mc:Fallback>
                <p:oleObj name="Equation" r:id="rId7" imgW="5969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136366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6553200" y="4343400"/>
            <a:ext cx="2590800" cy="1981200"/>
            <a:chOff x="6553200" y="4343400"/>
            <a:chExt cx="2590800" cy="19812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6705600" y="4343400"/>
              <a:ext cx="0" cy="1981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553200" y="5867400"/>
              <a:ext cx="25908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71317" y="4483223"/>
              <a:ext cx="2104007" cy="1029810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4007" h="1029810">
                  <a:moveTo>
                    <a:pt x="0" y="0"/>
                  </a:moveTo>
                  <a:cubicBezTo>
                    <a:pt x="85817" y="86557"/>
                    <a:pt x="171635" y="173115"/>
                    <a:pt x="319596" y="257453"/>
                  </a:cubicBezTo>
                  <a:cubicBezTo>
                    <a:pt x="467557" y="341791"/>
                    <a:pt x="673222" y="399495"/>
                    <a:pt x="887766" y="506027"/>
                  </a:cubicBezTo>
                  <a:cubicBezTo>
                    <a:pt x="1102310" y="612559"/>
                    <a:pt x="1404151" y="809348"/>
                    <a:pt x="1606858" y="896645"/>
                  </a:cubicBezTo>
                  <a:cubicBezTo>
                    <a:pt x="1809565" y="983942"/>
                    <a:pt x="2013751" y="1022412"/>
                    <a:pt x="2104007" y="1029810"/>
                  </a:cubicBezTo>
                </a:path>
              </a:pathLst>
            </a:custGeom>
            <a:ln w="635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6884634" y="4850167"/>
              <a:ext cx="2077373" cy="941033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606858 w 2104007"/>
                <a:gd name="connsiteY4" fmla="*/ 896645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923278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861135 h 1029810"/>
                <a:gd name="connsiteX5" fmla="*/ 2104007 w 2104007"/>
                <a:gd name="connsiteY5" fmla="*/ 1029810 h 1029810"/>
                <a:gd name="connsiteX0" fmla="*/ 0 w 2077373"/>
                <a:gd name="connsiteY0" fmla="*/ 0 h 941033"/>
                <a:gd name="connsiteX1" fmla="*/ 310718 w 2077373"/>
                <a:gd name="connsiteY1" fmla="*/ 310719 h 941033"/>
                <a:gd name="connsiteX2" fmla="*/ 861132 w 2077373"/>
                <a:gd name="connsiteY2" fmla="*/ 417250 h 941033"/>
                <a:gd name="connsiteX3" fmla="*/ 954349 w 2077373"/>
                <a:gd name="connsiteY3" fmla="*/ 467557 h 941033"/>
                <a:gd name="connsiteX4" fmla="*/ 1340527 w 2077373"/>
                <a:gd name="connsiteY4" fmla="*/ 772358 h 941033"/>
                <a:gd name="connsiteX5" fmla="*/ 2077373 w 2077373"/>
                <a:gd name="connsiteY5" fmla="*/ 941033 h 94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7373" h="941033">
                  <a:moveTo>
                    <a:pt x="0" y="0"/>
                  </a:moveTo>
                  <a:cubicBezTo>
                    <a:pt x="85817" y="86557"/>
                    <a:pt x="167196" y="241177"/>
                    <a:pt x="310718" y="310719"/>
                  </a:cubicBezTo>
                  <a:cubicBezTo>
                    <a:pt x="454240" y="380261"/>
                    <a:pt x="753860" y="391110"/>
                    <a:pt x="861132" y="417250"/>
                  </a:cubicBezTo>
                  <a:cubicBezTo>
                    <a:pt x="968404" y="443390"/>
                    <a:pt x="834500" y="402454"/>
                    <a:pt x="954349" y="467557"/>
                  </a:cubicBezTo>
                  <a:cubicBezTo>
                    <a:pt x="1074198" y="532660"/>
                    <a:pt x="1153356" y="693445"/>
                    <a:pt x="1340527" y="772358"/>
                  </a:cubicBezTo>
                  <a:cubicBezTo>
                    <a:pt x="1527698" y="851271"/>
                    <a:pt x="1987117" y="933635"/>
                    <a:pt x="2077373" y="941033"/>
                  </a:cubicBezTo>
                </a:path>
              </a:pathLst>
            </a:custGeom>
            <a:ln w="63500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95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6200" y="4419600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Diverges by the Direct Comparison Test.</a:t>
            </a:r>
          </a:p>
        </p:txBody>
      </p:sp>
      <p:graphicFrame>
        <p:nvGraphicFramePr>
          <p:cNvPr id="440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440927"/>
              </p:ext>
            </p:extLst>
          </p:nvPr>
        </p:nvGraphicFramePr>
        <p:xfrm>
          <a:off x="4622800" y="1766888"/>
          <a:ext cx="341947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1" name="Equation" r:id="rId3" imgW="1498320" imgH="457200" progId="Equation.DSMT4">
                  <p:embed/>
                </p:oleObj>
              </mc:Choice>
              <mc:Fallback>
                <p:oleObj name="Equation" r:id="rId3" imgW="1498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1766888"/>
                        <a:ext cx="3419475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910887"/>
              </p:ext>
            </p:extLst>
          </p:nvPr>
        </p:nvGraphicFramePr>
        <p:xfrm>
          <a:off x="1323975" y="1739900"/>
          <a:ext cx="2941638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2" name="Equation" r:id="rId5" imgW="1168200" imgH="419040" progId="Equation.DSMT4">
                  <p:embed/>
                </p:oleObj>
              </mc:Choice>
              <mc:Fallback>
                <p:oleObj name="Equation" r:id="rId5" imgW="11682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1739900"/>
                        <a:ext cx="2941638" cy="1052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576248"/>
              </p:ext>
            </p:extLst>
          </p:nvPr>
        </p:nvGraphicFramePr>
        <p:xfrm>
          <a:off x="134938" y="228600"/>
          <a:ext cx="18573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Equation" r:id="rId7" imgW="812520" imgH="431640" progId="Equation.DSMT4">
                  <p:embed/>
                </p:oleObj>
              </mc:Choice>
              <mc:Fallback>
                <p:oleObj name="Equation" r:id="rId7" imgW="812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8" y="228600"/>
                        <a:ext cx="18573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553200" y="4343400"/>
            <a:ext cx="2590800" cy="1981200"/>
            <a:chOff x="6553200" y="4343400"/>
            <a:chExt cx="2590800" cy="19812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6705600" y="4343400"/>
              <a:ext cx="0" cy="1981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6553200" y="5867400"/>
              <a:ext cx="25908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71317" y="4483223"/>
              <a:ext cx="2104007" cy="1029810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4007" h="1029810">
                  <a:moveTo>
                    <a:pt x="0" y="0"/>
                  </a:moveTo>
                  <a:cubicBezTo>
                    <a:pt x="85817" y="86557"/>
                    <a:pt x="171635" y="173115"/>
                    <a:pt x="319596" y="257453"/>
                  </a:cubicBezTo>
                  <a:cubicBezTo>
                    <a:pt x="467557" y="341791"/>
                    <a:pt x="673222" y="399495"/>
                    <a:pt x="887766" y="506027"/>
                  </a:cubicBezTo>
                  <a:cubicBezTo>
                    <a:pt x="1102310" y="612559"/>
                    <a:pt x="1404151" y="809348"/>
                    <a:pt x="1606858" y="896645"/>
                  </a:cubicBezTo>
                  <a:cubicBezTo>
                    <a:pt x="1809565" y="983942"/>
                    <a:pt x="2013751" y="1022412"/>
                    <a:pt x="2104007" y="1029810"/>
                  </a:cubicBezTo>
                </a:path>
              </a:pathLst>
            </a:custGeom>
            <a:ln w="635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6884634" y="4850167"/>
              <a:ext cx="2077373" cy="941033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606858 w 2104007"/>
                <a:gd name="connsiteY4" fmla="*/ 896645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923278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861135 h 1029810"/>
                <a:gd name="connsiteX5" fmla="*/ 2104007 w 2104007"/>
                <a:gd name="connsiteY5" fmla="*/ 1029810 h 1029810"/>
                <a:gd name="connsiteX0" fmla="*/ 0 w 2077373"/>
                <a:gd name="connsiteY0" fmla="*/ 0 h 941033"/>
                <a:gd name="connsiteX1" fmla="*/ 310718 w 2077373"/>
                <a:gd name="connsiteY1" fmla="*/ 310719 h 941033"/>
                <a:gd name="connsiteX2" fmla="*/ 861132 w 2077373"/>
                <a:gd name="connsiteY2" fmla="*/ 417250 h 941033"/>
                <a:gd name="connsiteX3" fmla="*/ 954349 w 2077373"/>
                <a:gd name="connsiteY3" fmla="*/ 467557 h 941033"/>
                <a:gd name="connsiteX4" fmla="*/ 1340527 w 2077373"/>
                <a:gd name="connsiteY4" fmla="*/ 772358 h 941033"/>
                <a:gd name="connsiteX5" fmla="*/ 2077373 w 2077373"/>
                <a:gd name="connsiteY5" fmla="*/ 941033 h 94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7373" h="941033">
                  <a:moveTo>
                    <a:pt x="0" y="0"/>
                  </a:moveTo>
                  <a:cubicBezTo>
                    <a:pt x="85817" y="86557"/>
                    <a:pt x="167196" y="241177"/>
                    <a:pt x="310718" y="310719"/>
                  </a:cubicBezTo>
                  <a:cubicBezTo>
                    <a:pt x="454240" y="380261"/>
                    <a:pt x="753860" y="391110"/>
                    <a:pt x="861132" y="417250"/>
                  </a:cubicBezTo>
                  <a:cubicBezTo>
                    <a:pt x="968404" y="443390"/>
                    <a:pt x="834500" y="402454"/>
                    <a:pt x="954349" y="467557"/>
                  </a:cubicBezTo>
                  <a:cubicBezTo>
                    <a:pt x="1074198" y="532660"/>
                    <a:pt x="1153356" y="693445"/>
                    <a:pt x="1340527" y="772358"/>
                  </a:cubicBezTo>
                  <a:cubicBezTo>
                    <a:pt x="1527698" y="851271"/>
                    <a:pt x="1987117" y="933635"/>
                    <a:pt x="2077373" y="941033"/>
                  </a:cubicBezTo>
                </a:path>
              </a:pathLst>
            </a:custGeom>
            <a:ln w="63500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48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143000" y="363647"/>
            <a:ext cx="708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But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 baby test doesn’t really help much with</a:t>
            </a:r>
          </a:p>
        </p:txBody>
      </p:sp>
      <p:graphicFrame>
        <p:nvGraphicFramePr>
          <p:cNvPr id="604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922984"/>
              </p:ext>
            </p:extLst>
          </p:nvPr>
        </p:nvGraphicFramePr>
        <p:xfrm>
          <a:off x="3756818" y="1828800"/>
          <a:ext cx="1858963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5" name="Equation" r:id="rId3" imgW="812520" imgH="419040" progId="Equation.DSMT4">
                  <p:embed/>
                </p:oleObj>
              </mc:Choice>
              <mc:Fallback>
                <p:oleObj name="Equation" r:id="rId3" imgW="812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818" y="1828800"/>
                        <a:ext cx="1858963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680179"/>
              </p:ext>
            </p:extLst>
          </p:nvPr>
        </p:nvGraphicFramePr>
        <p:xfrm>
          <a:off x="2209800" y="4064539"/>
          <a:ext cx="24701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6" name="Equation" r:id="rId5" imgW="1079280" imgH="419040" progId="Equation.DSMT4">
                  <p:embed/>
                </p:oleObj>
              </mc:Choice>
              <mc:Fallback>
                <p:oleObj name="Equation" r:id="rId5" imgW="1079280" imgH="419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64539"/>
                        <a:ext cx="247015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6553200" y="4343400"/>
            <a:ext cx="2590800" cy="1981200"/>
            <a:chOff x="6553200" y="4343400"/>
            <a:chExt cx="2590800" cy="198120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6705600" y="4343400"/>
              <a:ext cx="0" cy="1981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553200" y="5867400"/>
              <a:ext cx="25908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23"/>
            <p:cNvSpPr/>
            <p:nvPr/>
          </p:nvSpPr>
          <p:spPr>
            <a:xfrm>
              <a:off x="6871317" y="4483223"/>
              <a:ext cx="2104007" cy="1029810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4007" h="1029810">
                  <a:moveTo>
                    <a:pt x="0" y="0"/>
                  </a:moveTo>
                  <a:cubicBezTo>
                    <a:pt x="85817" y="86557"/>
                    <a:pt x="171635" y="173115"/>
                    <a:pt x="319596" y="257453"/>
                  </a:cubicBezTo>
                  <a:cubicBezTo>
                    <a:pt x="467557" y="341791"/>
                    <a:pt x="673222" y="399495"/>
                    <a:pt x="887766" y="506027"/>
                  </a:cubicBezTo>
                  <a:cubicBezTo>
                    <a:pt x="1102310" y="612559"/>
                    <a:pt x="1404151" y="809348"/>
                    <a:pt x="1606858" y="896645"/>
                  </a:cubicBezTo>
                  <a:cubicBezTo>
                    <a:pt x="1809565" y="983942"/>
                    <a:pt x="2013751" y="1022412"/>
                    <a:pt x="2104007" y="1029810"/>
                  </a:cubicBezTo>
                </a:path>
              </a:pathLst>
            </a:custGeom>
            <a:ln w="635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6884634" y="4850167"/>
              <a:ext cx="2077373" cy="941033"/>
            </a:xfrm>
            <a:custGeom>
              <a:avLst/>
              <a:gdLst>
                <a:gd name="connsiteX0" fmla="*/ 0 w 2104007"/>
                <a:gd name="connsiteY0" fmla="*/ 0 h 1029810"/>
                <a:gd name="connsiteX1" fmla="*/ 319596 w 2104007"/>
                <a:gd name="connsiteY1" fmla="*/ 257453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1606858 w 2104007"/>
                <a:gd name="connsiteY3" fmla="*/ 896645 h 1029810"/>
                <a:gd name="connsiteX4" fmla="*/ 2104007 w 2104007"/>
                <a:gd name="connsiteY4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606858 w 2104007"/>
                <a:gd name="connsiteY4" fmla="*/ 896645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923278 h 1029810"/>
                <a:gd name="connsiteX5" fmla="*/ 2104007 w 2104007"/>
                <a:gd name="connsiteY5" fmla="*/ 1029810 h 1029810"/>
                <a:gd name="connsiteX0" fmla="*/ 0 w 2104007"/>
                <a:gd name="connsiteY0" fmla="*/ 0 h 1029810"/>
                <a:gd name="connsiteX1" fmla="*/ 337352 w 2104007"/>
                <a:gd name="connsiteY1" fmla="*/ 399496 h 1029810"/>
                <a:gd name="connsiteX2" fmla="*/ 887766 w 2104007"/>
                <a:gd name="connsiteY2" fmla="*/ 506027 h 1029810"/>
                <a:gd name="connsiteX3" fmla="*/ 980983 w 2104007"/>
                <a:gd name="connsiteY3" fmla="*/ 556334 h 1029810"/>
                <a:gd name="connsiteX4" fmla="*/ 1367161 w 2104007"/>
                <a:gd name="connsiteY4" fmla="*/ 861135 h 1029810"/>
                <a:gd name="connsiteX5" fmla="*/ 2104007 w 2104007"/>
                <a:gd name="connsiteY5" fmla="*/ 1029810 h 1029810"/>
                <a:gd name="connsiteX0" fmla="*/ 0 w 2077373"/>
                <a:gd name="connsiteY0" fmla="*/ 0 h 941033"/>
                <a:gd name="connsiteX1" fmla="*/ 310718 w 2077373"/>
                <a:gd name="connsiteY1" fmla="*/ 310719 h 941033"/>
                <a:gd name="connsiteX2" fmla="*/ 861132 w 2077373"/>
                <a:gd name="connsiteY2" fmla="*/ 417250 h 941033"/>
                <a:gd name="connsiteX3" fmla="*/ 954349 w 2077373"/>
                <a:gd name="connsiteY3" fmla="*/ 467557 h 941033"/>
                <a:gd name="connsiteX4" fmla="*/ 1340527 w 2077373"/>
                <a:gd name="connsiteY4" fmla="*/ 772358 h 941033"/>
                <a:gd name="connsiteX5" fmla="*/ 2077373 w 2077373"/>
                <a:gd name="connsiteY5" fmla="*/ 941033 h 94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7373" h="941033">
                  <a:moveTo>
                    <a:pt x="0" y="0"/>
                  </a:moveTo>
                  <a:cubicBezTo>
                    <a:pt x="85817" y="86557"/>
                    <a:pt x="167196" y="241177"/>
                    <a:pt x="310718" y="310719"/>
                  </a:cubicBezTo>
                  <a:cubicBezTo>
                    <a:pt x="454240" y="380261"/>
                    <a:pt x="753860" y="391110"/>
                    <a:pt x="861132" y="417250"/>
                  </a:cubicBezTo>
                  <a:cubicBezTo>
                    <a:pt x="968404" y="443390"/>
                    <a:pt x="834500" y="402454"/>
                    <a:pt x="954349" y="467557"/>
                  </a:cubicBezTo>
                  <a:cubicBezTo>
                    <a:pt x="1074198" y="532660"/>
                    <a:pt x="1153356" y="693445"/>
                    <a:pt x="1340527" y="772358"/>
                  </a:cubicBezTo>
                  <a:cubicBezTo>
                    <a:pt x="1527698" y="851271"/>
                    <a:pt x="1987117" y="933635"/>
                    <a:pt x="2077373" y="941033"/>
                  </a:cubicBezTo>
                </a:path>
              </a:pathLst>
            </a:custGeom>
            <a:ln w="63500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757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-3132" y="457200"/>
            <a:ext cx="91440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Limit Comparison Test</a:t>
            </a:r>
          </a:p>
          <a:p>
            <a:pPr algn="ctr"/>
            <a:endParaRPr lang="en-US" sz="32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   Suppose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</a:t>
            </a:r>
            <a:r>
              <a:rPr lang="en-US" sz="2400" baseline="-25000" dirty="0" err="1" smtClean="0">
                <a:latin typeface="Calibri" pitchFamily="34" charset="0"/>
                <a:cs typeface="Calibri" pitchFamily="34" charset="0"/>
              </a:rPr>
              <a:t>k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a</a:t>
            </a:r>
            <a:r>
              <a:rPr lang="en-US" sz="2400" baseline="-25000" dirty="0" err="1" smtClean="0">
                <a:latin typeface="Calibri" pitchFamily="34" charset="0"/>
                <a:cs typeface="Calibri" pitchFamily="34" charset="0"/>
              </a:rPr>
              <a:t>k</a:t>
            </a:r>
            <a:r>
              <a:rPr lang="en-US" sz="2400" baseline="-25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&gt; 0 and</a:t>
            </a:r>
          </a:p>
          <a:p>
            <a:pPr algn="ctr"/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                     is not zero or infinity,</a:t>
            </a:r>
          </a:p>
          <a:p>
            <a:pPr algn="ctr"/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 then                  and                either both converge or both diverge              </a:t>
            </a:r>
            <a:endParaRPr lang="en-US" sz="2400" baseline="-250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40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293485"/>
              </p:ext>
            </p:extLst>
          </p:nvPr>
        </p:nvGraphicFramePr>
        <p:xfrm>
          <a:off x="2830512" y="2286000"/>
          <a:ext cx="11318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3" name="Equation" r:id="rId3" imgW="495000" imgH="431640" progId="Equation.DSMT4">
                  <p:embed/>
                </p:oleObj>
              </mc:Choice>
              <mc:Fallback>
                <p:oleObj name="Equation" r:id="rId3" imgW="495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2" y="2286000"/>
                        <a:ext cx="113188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240487"/>
              </p:ext>
            </p:extLst>
          </p:nvPr>
        </p:nvGraphicFramePr>
        <p:xfrm>
          <a:off x="3048000" y="3352800"/>
          <a:ext cx="8715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4" name="Equation" r:id="rId5" imgW="380880" imgH="431640" progId="Equation.DSMT4">
                  <p:embed/>
                </p:oleObj>
              </mc:Choice>
              <mc:Fallback>
                <p:oleObj name="Equation" r:id="rId5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52800"/>
                        <a:ext cx="87153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570323"/>
              </p:ext>
            </p:extLst>
          </p:nvPr>
        </p:nvGraphicFramePr>
        <p:xfrm>
          <a:off x="1409178" y="3352800"/>
          <a:ext cx="9001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5" name="Equation" r:id="rId7" imgW="393480" imgH="431640" progId="Equation.DSMT4">
                  <p:embed/>
                </p:oleObj>
              </mc:Choice>
              <mc:Fallback>
                <p:oleObj name="Equation" r:id="rId7" imgW="39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178" y="3352800"/>
                        <a:ext cx="9001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7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283376"/>
              </p:ext>
            </p:extLst>
          </p:nvPr>
        </p:nvGraphicFramePr>
        <p:xfrm>
          <a:off x="156411" y="74040"/>
          <a:ext cx="14811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9" name="Equation" r:id="rId3" imgW="647640" imgH="431640" progId="Equation.DSMT4">
                  <p:embed/>
                </p:oleObj>
              </mc:Choice>
              <mc:Fallback>
                <p:oleObj name="Equation" r:id="rId3" imgW="64764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411" y="74040"/>
                        <a:ext cx="148113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133600" y="302567"/>
            <a:ext cx="2735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Looks like</a:t>
            </a:r>
          </a:p>
        </p:txBody>
      </p:sp>
      <p:graphicFrame>
        <p:nvGraphicFramePr>
          <p:cNvPr id="1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484885"/>
              </p:ext>
            </p:extLst>
          </p:nvPr>
        </p:nvGraphicFramePr>
        <p:xfrm>
          <a:off x="3657600" y="80963"/>
          <a:ext cx="1017587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0" name="Equation" r:id="rId5" imgW="444240" imgH="431640" progId="Equation.DSMT4">
                  <p:embed/>
                </p:oleObj>
              </mc:Choice>
              <mc:Fallback>
                <p:oleObj name="Equation" r:id="rId5" imgW="44424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80963"/>
                        <a:ext cx="1017587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615912"/>
              </p:ext>
            </p:extLst>
          </p:nvPr>
        </p:nvGraphicFramePr>
        <p:xfrm>
          <a:off x="3341687" y="1371600"/>
          <a:ext cx="1655763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1" name="Equation" r:id="rId7" imgW="723600" imgH="812520" progId="Equation.DSMT4">
                  <p:embed/>
                </p:oleObj>
              </mc:Choice>
              <mc:Fallback>
                <p:oleObj name="Equation" r:id="rId7" imgW="723600" imgH="81252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7" y="1371600"/>
                        <a:ext cx="1655763" cy="185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841570"/>
              </p:ext>
            </p:extLst>
          </p:nvPr>
        </p:nvGraphicFramePr>
        <p:xfrm>
          <a:off x="5359400" y="1716385"/>
          <a:ext cx="22955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2" name="Equation" r:id="rId9" imgW="1002960" imgH="457200" progId="Equation.DSMT4">
                  <p:embed/>
                </p:oleObj>
              </mc:Choice>
              <mc:Fallback>
                <p:oleObj name="Equation" r:id="rId9" imgW="1002960" imgH="4572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1716385"/>
                        <a:ext cx="2295525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2400" y="3962400"/>
            <a:ext cx="6967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                   and                do the same thing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857838"/>
              </p:ext>
            </p:extLst>
          </p:nvPr>
        </p:nvGraphicFramePr>
        <p:xfrm>
          <a:off x="7608887" y="2005310"/>
          <a:ext cx="69691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3" name="Equation" r:id="rId11" imgW="304560" imgH="203040" progId="Equation.DSMT4">
                  <p:embed/>
                </p:oleObj>
              </mc:Choice>
              <mc:Fallback>
                <p:oleObj name="Equation" r:id="rId11" imgW="30456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7" y="2005310"/>
                        <a:ext cx="69691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" y="50292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The thing                  does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6421" y="5867400"/>
            <a:ext cx="6697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So                     diverges by the limit comparison test.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759816"/>
              </p:ext>
            </p:extLst>
          </p:nvPr>
        </p:nvGraphicFramePr>
        <p:xfrm>
          <a:off x="762000" y="3815983"/>
          <a:ext cx="1224081" cy="816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4" name="Equation" r:id="rId13" imgW="647640" imgH="431640" progId="Equation.DSMT4">
                  <p:embed/>
                </p:oleObj>
              </mc:Choice>
              <mc:Fallback>
                <p:oleObj name="Equation" r:id="rId13" imgW="64764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15983"/>
                        <a:ext cx="1224081" cy="816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923812"/>
              </p:ext>
            </p:extLst>
          </p:nvPr>
        </p:nvGraphicFramePr>
        <p:xfrm>
          <a:off x="2971800" y="3810000"/>
          <a:ext cx="840981" cy="814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5" name="Equation" r:id="rId15" imgW="444240" imgH="431640" progId="Equation.DSMT4">
                  <p:embed/>
                </p:oleObj>
              </mc:Choice>
              <mc:Fallback>
                <p:oleObj name="Equation" r:id="rId15" imgW="444240" imgH="4316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10000"/>
                        <a:ext cx="840981" cy="8147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330838"/>
              </p:ext>
            </p:extLst>
          </p:nvPr>
        </p:nvGraphicFramePr>
        <p:xfrm>
          <a:off x="1749425" y="4824412"/>
          <a:ext cx="8413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6" name="Equation" r:id="rId17" imgW="444240" imgH="431640" progId="Equation.DSMT4">
                  <p:embed/>
                </p:oleObj>
              </mc:Choice>
              <mc:Fallback>
                <p:oleObj name="Equation" r:id="rId17" imgW="44424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4824412"/>
                        <a:ext cx="8413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0" y="50292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d</a:t>
            </a:r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iverge!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439517"/>
              </p:ext>
            </p:extLst>
          </p:nvPr>
        </p:nvGraphicFramePr>
        <p:xfrm>
          <a:off x="3078306" y="5735205"/>
          <a:ext cx="1112694" cy="741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7" name="Equation" r:id="rId19" imgW="647640" imgH="431640" progId="Equation.DSMT4">
                  <p:embed/>
                </p:oleObj>
              </mc:Choice>
              <mc:Fallback>
                <p:oleObj name="Equation" r:id="rId19" imgW="64764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306" y="5735205"/>
                        <a:ext cx="1112694" cy="741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14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133600" y="302567"/>
            <a:ext cx="2735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Looks like</a:t>
            </a:r>
          </a:p>
        </p:txBody>
      </p:sp>
      <p:graphicFrame>
        <p:nvGraphicFramePr>
          <p:cNvPr id="1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070453"/>
              </p:ext>
            </p:extLst>
          </p:nvPr>
        </p:nvGraphicFramePr>
        <p:xfrm>
          <a:off x="3454400" y="38100"/>
          <a:ext cx="1423988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0" name="Equation" r:id="rId3" imgW="622080" imgH="469800" progId="Equation.DSMT4">
                  <p:embed/>
                </p:oleObj>
              </mc:Choice>
              <mc:Fallback>
                <p:oleObj name="Equation" r:id="rId3" imgW="6220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38100"/>
                        <a:ext cx="1423988" cy="1071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47777"/>
              </p:ext>
            </p:extLst>
          </p:nvPr>
        </p:nvGraphicFramePr>
        <p:xfrm>
          <a:off x="3370263" y="1357313"/>
          <a:ext cx="1598612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1" name="Equation" r:id="rId5" imgW="698400" imgH="825480" progId="Equation.DSMT4">
                  <p:embed/>
                </p:oleObj>
              </mc:Choice>
              <mc:Fallback>
                <p:oleObj name="Equation" r:id="rId5" imgW="69840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1357313"/>
                        <a:ext cx="1598612" cy="188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078127"/>
              </p:ext>
            </p:extLst>
          </p:nvPr>
        </p:nvGraphicFramePr>
        <p:xfrm>
          <a:off x="5373688" y="1758950"/>
          <a:ext cx="22669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2" name="Equation" r:id="rId7" imgW="990360" imgH="419040" progId="Equation.DSMT4">
                  <p:embed/>
                </p:oleObj>
              </mc:Choice>
              <mc:Fallback>
                <p:oleObj name="Equation" r:id="rId7" imgW="990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8" y="1758950"/>
                        <a:ext cx="2266950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2400" y="3962400"/>
            <a:ext cx="6967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                   and                do the same thing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864567"/>
              </p:ext>
            </p:extLst>
          </p:nvPr>
        </p:nvGraphicFramePr>
        <p:xfrm>
          <a:off x="7608887" y="2005310"/>
          <a:ext cx="69691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3" name="Equation" r:id="rId9" imgW="304560" imgH="203040" progId="Equation.DSMT4">
                  <p:embed/>
                </p:oleObj>
              </mc:Choice>
              <mc:Fallback>
                <p:oleObj name="Equation" r:id="rId9" imgW="304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7" y="2005310"/>
                        <a:ext cx="69691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" y="50292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The thing                  does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2200" y="58674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So                     converges by the limit comparison test.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17736"/>
              </p:ext>
            </p:extLst>
          </p:nvPr>
        </p:nvGraphicFramePr>
        <p:xfrm>
          <a:off x="785813" y="3805238"/>
          <a:ext cx="1176337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4" name="Equation" r:id="rId11" imgW="622080" imgH="444240" progId="Equation.DSMT4">
                  <p:embed/>
                </p:oleObj>
              </mc:Choice>
              <mc:Fallback>
                <p:oleObj name="Equation" r:id="rId11" imgW="622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805238"/>
                        <a:ext cx="1176337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56113"/>
              </p:ext>
            </p:extLst>
          </p:nvPr>
        </p:nvGraphicFramePr>
        <p:xfrm>
          <a:off x="2792413" y="3775075"/>
          <a:ext cx="12017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5" name="Equation" r:id="rId13" imgW="634680" imgH="469800" progId="Equation.DSMT4">
                  <p:embed/>
                </p:oleObj>
              </mc:Choice>
              <mc:Fallback>
                <p:oleObj name="Equation" r:id="rId13" imgW="634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775075"/>
                        <a:ext cx="120173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513594"/>
              </p:ext>
            </p:extLst>
          </p:nvPr>
        </p:nvGraphicFramePr>
        <p:xfrm>
          <a:off x="1570038" y="4789488"/>
          <a:ext cx="12017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6" name="Equation" r:id="rId15" imgW="634680" imgH="469800" progId="Equation.DSMT4">
                  <p:embed/>
                </p:oleObj>
              </mc:Choice>
              <mc:Fallback>
                <p:oleObj name="Equation" r:id="rId15" imgW="634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4789488"/>
                        <a:ext cx="120173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0" y="50292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converge !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825932"/>
              </p:ext>
            </p:extLst>
          </p:nvPr>
        </p:nvGraphicFramePr>
        <p:xfrm>
          <a:off x="2971800" y="5724525"/>
          <a:ext cx="10683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7" name="Equation" r:id="rId17" imgW="622080" imgH="444240" progId="Equation.DSMT4">
                  <p:embed/>
                </p:oleObj>
              </mc:Choice>
              <mc:Fallback>
                <p:oleObj name="Equation" r:id="rId17" imgW="622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724525"/>
                        <a:ext cx="106838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08711"/>
              </p:ext>
            </p:extLst>
          </p:nvPr>
        </p:nvGraphicFramePr>
        <p:xfrm>
          <a:off x="152400" y="119802"/>
          <a:ext cx="1328737" cy="94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8" name="Equation" r:id="rId19" imgW="622080" imgH="444240" progId="Equation.DSMT4">
                  <p:embed/>
                </p:oleObj>
              </mc:Choice>
              <mc:Fallback>
                <p:oleObj name="Equation" r:id="rId19" imgW="62208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9802"/>
                        <a:ext cx="1328737" cy="948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941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14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855387"/>
              </p:ext>
            </p:extLst>
          </p:nvPr>
        </p:nvGraphicFramePr>
        <p:xfrm>
          <a:off x="26988" y="60325"/>
          <a:ext cx="17430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1" name="Equation" r:id="rId3" imgW="761760" imgH="444240" progId="Equation.DSMT4">
                  <p:embed/>
                </p:oleObj>
              </mc:Choice>
              <mc:Fallback>
                <p:oleObj name="Equation" r:id="rId3" imgW="761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8" y="60325"/>
                        <a:ext cx="17430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133600" y="302567"/>
            <a:ext cx="2735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Looks like</a:t>
            </a:r>
          </a:p>
        </p:txBody>
      </p:sp>
      <p:graphicFrame>
        <p:nvGraphicFramePr>
          <p:cNvPr id="1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78141"/>
              </p:ext>
            </p:extLst>
          </p:nvPr>
        </p:nvGraphicFramePr>
        <p:xfrm>
          <a:off x="3730625" y="80963"/>
          <a:ext cx="871538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2" name="Equation" r:id="rId5" imgW="380880" imgH="431640" progId="Equation.DSMT4">
                  <p:embed/>
                </p:oleObj>
              </mc:Choice>
              <mc:Fallback>
                <p:oleObj name="Equation" r:id="rId5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5" y="80963"/>
                        <a:ext cx="871538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425113"/>
              </p:ext>
            </p:extLst>
          </p:nvPr>
        </p:nvGraphicFramePr>
        <p:xfrm>
          <a:off x="2286000" y="1371600"/>
          <a:ext cx="1889125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3" name="Equation" r:id="rId7" imgW="825480" imgH="774360" progId="Equation.DSMT4">
                  <p:embed/>
                </p:oleObj>
              </mc:Choice>
              <mc:Fallback>
                <p:oleObj name="Equation" r:id="rId7" imgW="82548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71600"/>
                        <a:ext cx="1889125" cy="177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17436"/>
              </p:ext>
            </p:extLst>
          </p:nvPr>
        </p:nvGraphicFramePr>
        <p:xfrm>
          <a:off x="4232151" y="1752600"/>
          <a:ext cx="2935287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4" name="Equation" r:id="rId9" imgW="1282680" imgH="419040" progId="Equation.DSMT4">
                  <p:embed/>
                </p:oleObj>
              </mc:Choice>
              <mc:Fallback>
                <p:oleObj name="Equation" r:id="rId9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151" y="1752600"/>
                        <a:ext cx="2935287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2400" y="3962400"/>
            <a:ext cx="6967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                   </a:t>
            </a:r>
            <a:r>
              <a:rPr lang="en-US" sz="28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  and             </a:t>
            </a:r>
            <a:r>
              <a:rPr lang="en-US" sz="28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do the same thing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631066"/>
              </p:ext>
            </p:extLst>
          </p:nvPr>
        </p:nvGraphicFramePr>
        <p:xfrm>
          <a:off x="7551738" y="1787525"/>
          <a:ext cx="81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5" name="Equation" r:id="rId11" imgW="355320" imgH="393480" progId="Equation.DSMT4">
                  <p:embed/>
                </p:oleObj>
              </mc:Choice>
              <mc:Fallback>
                <p:oleObj name="Equation" r:id="rId11" imgW="355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738" y="1787525"/>
                        <a:ext cx="812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" y="50292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The thing                  does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6421" y="5867400"/>
            <a:ext cx="6697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So                     diverges by the limit comparison test.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444304"/>
              </p:ext>
            </p:extLst>
          </p:nvPr>
        </p:nvGraphicFramePr>
        <p:xfrm>
          <a:off x="753806" y="3805238"/>
          <a:ext cx="143986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6" name="Equation" r:id="rId13" imgW="761760" imgH="444240" progId="Equation.DSMT4">
                  <p:embed/>
                </p:oleObj>
              </mc:Choice>
              <mc:Fallback>
                <p:oleObj name="Equation" r:id="rId13" imgW="761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806" y="3805238"/>
                        <a:ext cx="1439863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725967"/>
              </p:ext>
            </p:extLst>
          </p:nvPr>
        </p:nvGraphicFramePr>
        <p:xfrm>
          <a:off x="3121315" y="3810000"/>
          <a:ext cx="623888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7" name="Equation" r:id="rId15" imgW="330120" imgH="431640" progId="Equation.DSMT4">
                  <p:embed/>
                </p:oleObj>
              </mc:Choice>
              <mc:Fallback>
                <p:oleObj name="Equation" r:id="rId15" imgW="330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315" y="3810000"/>
                        <a:ext cx="623888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179854"/>
              </p:ext>
            </p:extLst>
          </p:nvPr>
        </p:nvGraphicFramePr>
        <p:xfrm>
          <a:off x="1857375" y="4824413"/>
          <a:ext cx="62388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8" name="Equation" r:id="rId17" imgW="330120" imgH="431640" progId="Equation.DSMT4">
                  <p:embed/>
                </p:oleObj>
              </mc:Choice>
              <mc:Fallback>
                <p:oleObj name="Equation" r:id="rId17" imgW="330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4824413"/>
                        <a:ext cx="623888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0" y="50292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d</a:t>
            </a:r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iverge!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113517"/>
              </p:ext>
            </p:extLst>
          </p:nvPr>
        </p:nvGraphicFramePr>
        <p:xfrm>
          <a:off x="2895600" y="5696991"/>
          <a:ext cx="13096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9" name="Equation" r:id="rId19" imgW="761760" imgH="444240" progId="Equation.DSMT4">
                  <p:embed/>
                </p:oleObj>
              </mc:Choice>
              <mc:Fallback>
                <p:oleObj name="Equation" r:id="rId19" imgW="761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696991"/>
                        <a:ext cx="130968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941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14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079927"/>
              </p:ext>
            </p:extLst>
          </p:nvPr>
        </p:nvGraphicFramePr>
        <p:xfrm>
          <a:off x="100013" y="46038"/>
          <a:ext cx="159702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0" name="Equation" r:id="rId3" imgW="698400" imgH="457200" progId="Equation.DSMT4">
                  <p:embed/>
                </p:oleObj>
              </mc:Choice>
              <mc:Fallback>
                <p:oleObj name="Equation" r:id="rId3" imgW="69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46038"/>
                        <a:ext cx="1597025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133600" y="302567"/>
            <a:ext cx="2735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Looks like</a:t>
            </a:r>
          </a:p>
        </p:txBody>
      </p:sp>
      <p:graphicFrame>
        <p:nvGraphicFramePr>
          <p:cNvPr id="1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834789"/>
              </p:ext>
            </p:extLst>
          </p:nvPr>
        </p:nvGraphicFramePr>
        <p:xfrm>
          <a:off x="3571875" y="80963"/>
          <a:ext cx="119062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" name="Equation" r:id="rId5" imgW="520560" imgH="431640" progId="Equation.DSMT4">
                  <p:embed/>
                </p:oleObj>
              </mc:Choice>
              <mc:Fallback>
                <p:oleObj name="Equation" r:id="rId5" imgW="520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80963"/>
                        <a:ext cx="1190625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163660"/>
              </p:ext>
            </p:extLst>
          </p:nvPr>
        </p:nvGraphicFramePr>
        <p:xfrm>
          <a:off x="2286000" y="1343025"/>
          <a:ext cx="18891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2" name="Equation" r:id="rId7" imgW="825480" imgH="799920" progId="Equation.DSMT4">
                  <p:embed/>
                </p:oleObj>
              </mc:Choice>
              <mc:Fallback>
                <p:oleObj name="Equation" r:id="rId7" imgW="82548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43025"/>
                        <a:ext cx="1889125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192995"/>
              </p:ext>
            </p:extLst>
          </p:nvPr>
        </p:nvGraphicFramePr>
        <p:xfrm>
          <a:off x="4267200" y="1738313"/>
          <a:ext cx="31384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3" name="Equation" r:id="rId9" imgW="1371600" imgH="431640" progId="Equation.DSMT4">
                  <p:embed/>
                </p:oleObj>
              </mc:Choice>
              <mc:Fallback>
                <p:oleObj name="Equation" r:id="rId9" imgW="1371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738313"/>
                        <a:ext cx="313848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2400" y="3962400"/>
            <a:ext cx="6967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                   and                do the same thing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944305"/>
              </p:ext>
            </p:extLst>
          </p:nvPr>
        </p:nvGraphicFramePr>
        <p:xfrm>
          <a:off x="7467600" y="2032837"/>
          <a:ext cx="725488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4" name="Equation" r:id="rId11" imgW="317160" imgH="203040" progId="Equation.DSMT4">
                  <p:embed/>
                </p:oleObj>
              </mc:Choice>
              <mc:Fallback>
                <p:oleObj name="Equation" r:id="rId11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032837"/>
                        <a:ext cx="725488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" y="50292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The thing                  does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6421" y="5867400"/>
            <a:ext cx="6697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So                     diverges by the limit comparison test.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112440"/>
              </p:ext>
            </p:extLst>
          </p:nvPr>
        </p:nvGraphicFramePr>
        <p:xfrm>
          <a:off x="714375" y="3792538"/>
          <a:ext cx="131921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5" name="Equation" r:id="rId13" imgW="698400" imgH="457200" progId="Equation.DSMT4">
                  <p:embed/>
                </p:oleObj>
              </mc:Choice>
              <mc:Fallback>
                <p:oleObj name="Equation" r:id="rId13" imgW="69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792538"/>
                        <a:ext cx="131921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727332"/>
              </p:ext>
            </p:extLst>
          </p:nvPr>
        </p:nvGraphicFramePr>
        <p:xfrm>
          <a:off x="2947988" y="3810000"/>
          <a:ext cx="88741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6" name="Equation" r:id="rId15" imgW="469800" imgH="431640" progId="Equation.DSMT4">
                  <p:embed/>
                </p:oleObj>
              </mc:Choice>
              <mc:Fallback>
                <p:oleObj name="Equation" r:id="rId15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3810000"/>
                        <a:ext cx="887412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452346"/>
              </p:ext>
            </p:extLst>
          </p:nvPr>
        </p:nvGraphicFramePr>
        <p:xfrm>
          <a:off x="1725613" y="4824413"/>
          <a:ext cx="8874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7" name="Equation" r:id="rId17" imgW="469800" imgH="431640" progId="Equation.DSMT4">
                  <p:embed/>
                </p:oleObj>
              </mc:Choice>
              <mc:Fallback>
                <p:oleObj name="Equation" r:id="rId17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4824413"/>
                        <a:ext cx="88741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0" y="50292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converge!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89608"/>
              </p:ext>
            </p:extLst>
          </p:nvPr>
        </p:nvGraphicFramePr>
        <p:xfrm>
          <a:off x="2906713" y="5688013"/>
          <a:ext cx="12874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8" name="Equation" r:id="rId19" imgW="749160" imgH="457200" progId="Equation.DSMT4">
                  <p:embed/>
                </p:oleObj>
              </mc:Choice>
              <mc:Fallback>
                <p:oleObj name="Equation" r:id="rId19" imgW="74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5688013"/>
                        <a:ext cx="12874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963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14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62200" y="235001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Zero Infinity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test</a:t>
            </a:r>
            <a:endParaRPr lang="en-US" sz="3600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(</a:t>
            </a:r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Common Sense Comparison Test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)</a:t>
            </a:r>
            <a:r>
              <a:rPr lang="en-US" sz="2400" b="1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799" y="1447800"/>
            <a:ext cx="2864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Suppose </a:t>
            </a:r>
            <a:r>
              <a:rPr lang="en-US" sz="2800" dirty="0" err="1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b</a:t>
            </a:r>
            <a:r>
              <a:rPr lang="en-US" sz="2800" baseline="-25000" dirty="0" err="1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</a:t>
            </a:r>
            <a:r>
              <a:rPr lang="en-US" sz="2800" baseline="-25000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 &gt; 0</a:t>
            </a:r>
            <a:endParaRPr lang="en-US" sz="2800" dirty="0"/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031006"/>
              </p:ext>
            </p:extLst>
          </p:nvPr>
        </p:nvGraphicFramePr>
        <p:xfrm>
          <a:off x="660861" y="2423362"/>
          <a:ext cx="15097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1" name="Equation" r:id="rId3" imgW="660240" imgH="431640" progId="Equation.DSMT4">
                  <p:embed/>
                </p:oleObj>
              </mc:Choice>
              <mc:Fallback>
                <p:oleObj name="Equation" r:id="rId3" imgW="66024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861" y="2423362"/>
                        <a:ext cx="1509713" cy="98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296062"/>
              </p:ext>
            </p:extLst>
          </p:nvPr>
        </p:nvGraphicFramePr>
        <p:xfrm>
          <a:off x="2928823" y="2404119"/>
          <a:ext cx="8143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2" name="Equation" r:id="rId5" imgW="355320" imgH="431640" progId="Equation.DSMT4">
                  <p:embed/>
                </p:oleObj>
              </mc:Choice>
              <mc:Fallback>
                <p:oleObj name="Equation" r:id="rId5" imgW="355320" imgH="4316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823" y="2404119"/>
                        <a:ext cx="81438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536319"/>
              </p:ext>
            </p:extLst>
          </p:nvPr>
        </p:nvGraphicFramePr>
        <p:xfrm>
          <a:off x="6400800" y="2404119"/>
          <a:ext cx="8445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3" name="Equation" r:id="rId7" imgW="368280" imgH="431640" progId="Equation.DSMT4">
                  <p:embed/>
                </p:oleObj>
              </mc:Choice>
              <mc:Fallback>
                <p:oleObj name="Equation" r:id="rId7" imgW="368280" imgH="4316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404119"/>
                        <a:ext cx="8445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171796" y="2636222"/>
            <a:ext cx="5592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                      and             converges, </a:t>
            </a:r>
            <a:endParaRPr lang="en-US" sz="2800" dirty="0"/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342152"/>
              </p:ext>
            </p:extLst>
          </p:nvPr>
        </p:nvGraphicFramePr>
        <p:xfrm>
          <a:off x="609600" y="4334639"/>
          <a:ext cx="1627187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4" name="Equation" r:id="rId9" imgW="711000" imgH="431640" progId="Equation.DSMT4">
                  <p:embed/>
                </p:oleObj>
              </mc:Choice>
              <mc:Fallback>
                <p:oleObj name="Equation" r:id="rId9" imgW="71100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34639"/>
                        <a:ext cx="1627187" cy="98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523152"/>
              </p:ext>
            </p:extLst>
          </p:nvPr>
        </p:nvGraphicFramePr>
        <p:xfrm>
          <a:off x="2895600" y="4335432"/>
          <a:ext cx="8143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5" name="Equation" r:id="rId11" imgW="355320" imgH="431640" progId="Equation.DSMT4">
                  <p:embed/>
                </p:oleObj>
              </mc:Choice>
              <mc:Fallback>
                <p:oleObj name="Equation" r:id="rId11" imgW="355320" imgH="43164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335432"/>
                        <a:ext cx="81438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199105"/>
              </p:ext>
            </p:extLst>
          </p:nvPr>
        </p:nvGraphicFramePr>
        <p:xfrm>
          <a:off x="5943600" y="4335432"/>
          <a:ext cx="8445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06" name="Equation" r:id="rId13" imgW="368280" imgH="431640" progId="Equation.DSMT4">
                  <p:embed/>
                </p:oleObj>
              </mc:Choice>
              <mc:Fallback>
                <p:oleObj name="Equation" r:id="rId13" imgW="368280" imgH="4316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335432"/>
                        <a:ext cx="8445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4"/>
          <p:cNvSpPr/>
          <p:nvPr/>
        </p:nvSpPr>
        <p:spPr>
          <a:xfrm>
            <a:off x="5105400" y="4567535"/>
            <a:ext cx="355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  diverges.    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5562600" y="2651462"/>
            <a:ext cx="35051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then    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converges.    </a:t>
            </a:r>
            <a:endParaRPr lang="en-US" sz="2800" dirty="0"/>
          </a:p>
        </p:txBody>
      </p:sp>
      <p:sp>
        <p:nvSpPr>
          <p:cNvPr id="25" name="Rectangle 24"/>
          <p:cNvSpPr/>
          <p:nvPr/>
        </p:nvSpPr>
        <p:spPr>
          <a:xfrm>
            <a:off x="181494" y="4567535"/>
            <a:ext cx="5177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                      and           diverges,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2" grpId="0"/>
      <p:bldP spid="35" grpId="0"/>
      <p:bldP spid="2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57511"/>
              </p:ext>
            </p:extLst>
          </p:nvPr>
        </p:nvGraphicFramePr>
        <p:xfrm>
          <a:off x="304800" y="228600"/>
          <a:ext cx="10747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1" name="Equation" r:id="rId3" imgW="469800" imgH="431640" progId="Equation.DSMT4">
                  <p:embed/>
                </p:oleObj>
              </mc:Choice>
              <mc:Fallback>
                <p:oleObj name="Equation" r:id="rId3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1074738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232587"/>
              </p:ext>
            </p:extLst>
          </p:nvPr>
        </p:nvGraphicFramePr>
        <p:xfrm>
          <a:off x="5162550" y="225425"/>
          <a:ext cx="9001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2" name="Equation" r:id="rId5" imgW="393480" imgH="431640" progId="Equation.DSMT4">
                  <p:embed/>
                </p:oleObj>
              </mc:Choice>
              <mc:Fallback>
                <p:oleObj name="Equation" r:id="rId5" imgW="39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225425"/>
                        <a:ext cx="9001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819400" y="457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Compare with</a:t>
            </a:r>
          </a:p>
        </p:txBody>
      </p:sp>
      <p:graphicFrame>
        <p:nvGraphicFramePr>
          <p:cNvPr id="4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688352"/>
              </p:ext>
            </p:extLst>
          </p:nvPr>
        </p:nvGraphicFramePr>
        <p:xfrm>
          <a:off x="1798637" y="1447800"/>
          <a:ext cx="1249363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3" name="Equation" r:id="rId7" imgW="545760" imgH="761760" progId="Equation.DSMT4">
                  <p:embed/>
                </p:oleObj>
              </mc:Choice>
              <mc:Fallback>
                <p:oleObj name="Equation" r:id="rId7" imgW="54576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7" y="1447800"/>
                        <a:ext cx="1249363" cy="174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84914"/>
              </p:ext>
            </p:extLst>
          </p:nvPr>
        </p:nvGraphicFramePr>
        <p:xfrm>
          <a:off x="5684837" y="2049463"/>
          <a:ext cx="6397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4" name="Equation" r:id="rId9" imgW="279360" imgH="203040" progId="Equation.DSMT4">
                  <p:embed/>
                </p:oleObj>
              </mc:Choice>
              <mc:Fallback>
                <p:oleObj name="Equation" r:id="rId9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7" y="2049463"/>
                        <a:ext cx="63976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367751"/>
              </p:ext>
            </p:extLst>
          </p:nvPr>
        </p:nvGraphicFramePr>
        <p:xfrm>
          <a:off x="3267075" y="1804988"/>
          <a:ext cx="229552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" name="Equation" r:id="rId11" imgW="1002960" imgH="419040" progId="Equation.DSMT4">
                  <p:embed/>
                </p:oleObj>
              </mc:Choice>
              <mc:Fallback>
                <p:oleObj name="Equation" r:id="rId11" imgW="1002960" imgH="419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1804988"/>
                        <a:ext cx="229552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62000" y="3661103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              is   smaller than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89631"/>
              </p:ext>
            </p:extLst>
          </p:nvPr>
        </p:nvGraphicFramePr>
        <p:xfrm>
          <a:off x="1219200" y="3429000"/>
          <a:ext cx="10747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" name="Equation" r:id="rId13" imgW="469800" imgH="431640" progId="Equation.DSMT4">
                  <p:embed/>
                </p:oleObj>
              </mc:Choice>
              <mc:Fallback>
                <p:oleObj name="Equation" r:id="rId13" imgW="46980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429000"/>
                        <a:ext cx="107473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018486"/>
              </p:ext>
            </p:extLst>
          </p:nvPr>
        </p:nvGraphicFramePr>
        <p:xfrm>
          <a:off x="4807743" y="3429000"/>
          <a:ext cx="9001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7" name="Equation" r:id="rId15" imgW="393480" imgH="431640" progId="Equation.DSMT4">
                  <p:embed/>
                </p:oleObj>
              </mc:Choice>
              <mc:Fallback>
                <p:oleObj name="Equation" r:id="rId15" imgW="39348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743" y="3429000"/>
                        <a:ext cx="90011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62000" y="4645025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And            Converges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232869"/>
              </p:ext>
            </p:extLst>
          </p:nvPr>
        </p:nvGraphicFramePr>
        <p:xfrm>
          <a:off x="1462087" y="4419600"/>
          <a:ext cx="9001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8" name="Equation" r:id="rId17" imgW="393480" imgH="431640" progId="Equation.DSMT4">
                  <p:embed/>
                </p:oleObj>
              </mc:Choice>
              <mc:Fallback>
                <p:oleObj name="Equation" r:id="rId17" imgW="39348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7" y="4419600"/>
                        <a:ext cx="90011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14400" y="5612479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              Converges by the Zero-Infinity Test.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837954"/>
              </p:ext>
            </p:extLst>
          </p:nvPr>
        </p:nvGraphicFramePr>
        <p:xfrm>
          <a:off x="1388226" y="5372062"/>
          <a:ext cx="10747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9" name="Equation" r:id="rId19" imgW="469800" imgH="431640" progId="Equation.DSMT4">
                  <p:embed/>
                </p:oleObj>
              </mc:Choice>
              <mc:Fallback>
                <p:oleObj name="Equation" r:id="rId19" imgW="46980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226" y="5372062"/>
                        <a:ext cx="107473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07645"/>
              </p:ext>
            </p:extLst>
          </p:nvPr>
        </p:nvGraphicFramePr>
        <p:xfrm>
          <a:off x="5181600" y="228600"/>
          <a:ext cx="1219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0" name="Equation" r:id="rId21" imgW="533160" imgH="431640" progId="Equation.DSMT4">
                  <p:embed/>
                </p:oleObj>
              </mc:Choice>
              <mc:Fallback>
                <p:oleObj name="Equation" r:id="rId21" imgW="53316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28600"/>
                        <a:ext cx="12192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513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5" grpId="0"/>
      <p:bldP spid="30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2362200" y="1915180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converges if and only if  q&gt;1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88837"/>
              </p:ext>
            </p:extLst>
          </p:nvPr>
        </p:nvGraphicFramePr>
        <p:xfrm>
          <a:off x="1066800" y="1676400"/>
          <a:ext cx="10747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3" name="Equation" r:id="rId3" imgW="469800" imgH="431640" progId="Equation.DSMT4">
                  <p:embed/>
                </p:oleObj>
              </mc:Choice>
              <mc:Fallback>
                <p:oleObj name="Equation" r:id="rId3" imgW="469800" imgH="43164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76400"/>
                        <a:ext cx="1074738" cy="98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0" y="204335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Calibri" pitchFamily="34" charset="0"/>
                <a:cs typeface="Calibri" pitchFamily="34" charset="0"/>
              </a:rPr>
              <a:t>Log-q </a:t>
            </a:r>
            <a:r>
              <a:rPr lang="en-US" sz="36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S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eries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02828" y="4590549"/>
            <a:ext cx="2414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Calibri" pitchFamily="34" charset="0"/>
                <a:cs typeface="Calibri" pitchFamily="34" charset="0"/>
              </a:rPr>
              <a:t>(just like p-series) </a:t>
            </a:r>
            <a:endParaRPr lang="en-US" sz="24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3338</TotalTime>
  <Words>242</Words>
  <Application>Microsoft Office PowerPoint</Application>
  <PresentationFormat>On-screen Show (4:3)</PresentationFormat>
  <Paragraphs>58</Paragraphs>
  <Slides>15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theme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495</cp:revision>
  <dcterms:created xsi:type="dcterms:W3CDTF">2006-08-16T00:00:00Z</dcterms:created>
  <dcterms:modified xsi:type="dcterms:W3CDTF">2011-03-28T06:25:24Z</dcterms:modified>
</cp:coreProperties>
</file>