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sldIdLst>
    <p:sldId id="256" r:id="rId2"/>
    <p:sldId id="258" r:id="rId3"/>
    <p:sldId id="260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262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2/6/2014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7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57400" y="2456248"/>
            <a:ext cx="70203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Section 7.1: </a:t>
            </a:r>
            <a: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Substitution and</a:t>
            </a:r>
            <a:br>
              <a:rPr lang="en-US" sz="4400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</a:br>
            <a:r>
              <a:rPr 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		   Integration by Table</a:t>
            </a:r>
            <a:endParaRPr lang="en-US" sz="4400" b="1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320494"/>
              </p:ext>
            </p:extLst>
          </p:nvPr>
        </p:nvGraphicFramePr>
        <p:xfrm>
          <a:off x="3009900" y="152400"/>
          <a:ext cx="23526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3" imgW="774360" imgH="279360" progId="Equation.DSMT4">
                  <p:embed/>
                </p:oleObj>
              </mc:Choice>
              <mc:Fallback>
                <p:oleObj name="Equation" r:id="rId3" imgW="77436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9900" y="152400"/>
                        <a:ext cx="2352675" cy="849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782112"/>
              </p:ext>
            </p:extLst>
          </p:nvPr>
        </p:nvGraphicFramePr>
        <p:xfrm>
          <a:off x="2606675" y="1524000"/>
          <a:ext cx="3432175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Equation" r:id="rId5" imgW="1130040" imgH="393480" progId="Equation.DSMT4">
                  <p:embed/>
                </p:oleObj>
              </mc:Choice>
              <mc:Fallback>
                <p:oleObj name="Equation" r:id="rId5" imgW="113004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675" y="1524000"/>
                        <a:ext cx="3432175" cy="1195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095173"/>
              </p:ext>
            </p:extLst>
          </p:nvPr>
        </p:nvGraphicFramePr>
        <p:xfrm>
          <a:off x="2951163" y="5105400"/>
          <a:ext cx="2965450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3" name="Equation" r:id="rId7" imgW="977760" imgH="393480" progId="Equation.DSMT4">
                  <p:embed/>
                </p:oleObj>
              </mc:Choice>
              <mc:Fallback>
                <p:oleObj name="Equation" r:id="rId7" imgW="97776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1163" y="5105400"/>
                        <a:ext cx="2965450" cy="1195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3548162"/>
              </p:ext>
            </p:extLst>
          </p:nvPr>
        </p:nvGraphicFramePr>
        <p:xfrm>
          <a:off x="7026275" y="-4763"/>
          <a:ext cx="1887538" cy="1311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Equation" r:id="rId9" imgW="622080" imgH="431640" progId="Equation.DSMT4">
                  <p:embed/>
                </p:oleObj>
              </mc:Choice>
              <mc:Fallback>
                <p:oleObj name="Equation" r:id="rId9" imgW="622080" imgH="4316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6275" y="-4763"/>
                        <a:ext cx="1887538" cy="13112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4354997"/>
              </p:ext>
            </p:extLst>
          </p:nvPr>
        </p:nvGraphicFramePr>
        <p:xfrm>
          <a:off x="2874963" y="3276600"/>
          <a:ext cx="2700337" cy="1195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" name="Equation" r:id="rId11" imgW="888840" imgH="393480" progId="Equation.DSMT4">
                  <p:embed/>
                </p:oleObj>
              </mc:Choice>
              <mc:Fallback>
                <p:oleObj name="Equation" r:id="rId11" imgW="888840" imgH="39348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3276600"/>
                        <a:ext cx="2700337" cy="1195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38931"/>
              </p:ext>
            </p:extLst>
          </p:nvPr>
        </p:nvGraphicFramePr>
        <p:xfrm>
          <a:off x="2979738" y="1752600"/>
          <a:ext cx="2879725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Equation" r:id="rId3" imgW="990360" imgH="419040" progId="Equation.DSMT4">
                  <p:embed/>
                </p:oleObj>
              </mc:Choice>
              <mc:Fallback>
                <p:oleObj name="Equation" r:id="rId3" imgW="990360" imgH="4190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38" y="1752600"/>
                        <a:ext cx="2879725" cy="1219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5334000"/>
            <a:ext cx="868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Warning: You’ll need to do substitutions like these very quickly.</a:t>
            </a: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740316"/>
              </p:ext>
            </p:extLst>
          </p:nvPr>
        </p:nvGraphicFramePr>
        <p:xfrm>
          <a:off x="3505200" y="76200"/>
          <a:ext cx="1995488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quation" r:id="rId5" imgW="685800" imgH="393480" progId="Equation.DSMT4">
                  <p:embed/>
                </p:oleObj>
              </mc:Choice>
              <mc:Fallback>
                <p:oleObj name="Equation" r:id="rId5" imgW="685800" imgH="393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76200"/>
                        <a:ext cx="1995488" cy="1144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4176124"/>
              </p:ext>
            </p:extLst>
          </p:nvPr>
        </p:nvGraphicFramePr>
        <p:xfrm>
          <a:off x="2776538" y="3657600"/>
          <a:ext cx="3287712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7" imgW="1130040" imgH="393480" progId="Equation.DSMT4">
                  <p:embed/>
                </p:oleObj>
              </mc:Choice>
              <mc:Fallback>
                <p:oleObj name="Equation" r:id="rId7" imgW="113004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6538" y="3657600"/>
                        <a:ext cx="3287712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47800" y="5478959"/>
            <a:ext cx="752648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The FTC implies all continuous functions have an </a:t>
            </a:r>
            <a:r>
              <a:rPr lang="en-US" sz="22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antiderivative</a:t>
            </a:r>
            <a:endParaRPr lang="en-US" sz="2200" b="1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r>
              <a:rPr lang="en-US" sz="22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cs typeface="Calibri" pitchFamily="34" charset="0"/>
              </a:rPr>
              <a:t> but even simple looking ones may not have a closed form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859519"/>
              </p:ext>
            </p:extLst>
          </p:nvPr>
        </p:nvGraphicFramePr>
        <p:xfrm>
          <a:off x="1066800" y="19235"/>
          <a:ext cx="2319338" cy="135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Equation" r:id="rId3" imgW="672840" imgH="393480" progId="Equation.DSMT4">
                  <p:embed/>
                </p:oleObj>
              </mc:Choice>
              <mc:Fallback>
                <p:oleObj name="Equation" r:id="rId3" imgW="67284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19235"/>
                        <a:ext cx="2319338" cy="1357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343400" y="228600"/>
            <a:ext cx="2971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itchFamily="34" charset="0"/>
                <a:cs typeface="Calibri" pitchFamily="34" charset="0"/>
              </a:rPr>
              <a:t>Substitution??</a:t>
            </a:r>
            <a:endParaRPr lang="en-US" sz="3200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096957" y="2781180"/>
            <a:ext cx="205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Appendix D #35</a:t>
            </a:r>
            <a:endParaRPr lang="en-US" sz="2000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6240246"/>
              </p:ext>
            </p:extLst>
          </p:nvPr>
        </p:nvGraphicFramePr>
        <p:xfrm>
          <a:off x="645850" y="1752600"/>
          <a:ext cx="6380162" cy="129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Equation" r:id="rId5" imgW="1942920" imgH="393480" progId="Equation.DSMT4">
                  <p:embed/>
                </p:oleObj>
              </mc:Choice>
              <mc:Fallback>
                <p:oleObj name="Equation" r:id="rId5" imgW="194292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850" y="1752600"/>
                        <a:ext cx="6380162" cy="1292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222272"/>
              </p:ext>
            </p:extLst>
          </p:nvPr>
        </p:nvGraphicFramePr>
        <p:xfrm>
          <a:off x="647330" y="3581400"/>
          <a:ext cx="5046662" cy="1417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Equation" r:id="rId7" imgW="1536480" imgH="431640" progId="Equation.DSMT4">
                  <p:embed/>
                </p:oleObj>
              </mc:Choice>
              <mc:Fallback>
                <p:oleObj name="Equation" r:id="rId7" imgW="1536480" imgH="4316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330" y="3581400"/>
                        <a:ext cx="5046662" cy="1417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316</TotalTime>
  <Words>44</Words>
  <Application>Microsoft Office PowerPoint</Application>
  <PresentationFormat>On-screen Show (4:3)</PresentationFormat>
  <Paragraphs>6</Paragraphs>
  <Slides>4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Concourse</vt:lpstr>
      <vt:lpstr>MathType 6.0 Equation</vt:lpstr>
      <vt:lpstr>Equation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Raegan Higgins</cp:lastModifiedBy>
  <cp:revision>47</cp:revision>
  <dcterms:created xsi:type="dcterms:W3CDTF">2006-08-16T00:00:00Z</dcterms:created>
  <dcterms:modified xsi:type="dcterms:W3CDTF">2014-02-06T19:32:37Z</dcterms:modified>
</cp:coreProperties>
</file>