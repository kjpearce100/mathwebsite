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61" r:id="rId3"/>
    <p:sldId id="258" r:id="rId4"/>
    <p:sldId id="259" r:id="rId5"/>
    <p:sldId id="262" r:id="rId6"/>
    <p:sldId id="260" r:id="rId7"/>
    <p:sldId id="263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000" autoAdjust="0"/>
  </p:normalViewPr>
  <p:slideViewPr>
    <p:cSldViewPr>
      <p:cViewPr varScale="1">
        <p:scale>
          <a:sx n="97" d="100"/>
          <a:sy n="97" d="100"/>
        </p:scale>
        <p:origin x="-1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1/25/2011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76600" y="3048000"/>
            <a:ext cx="56564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6.4:  Arc Length</a:t>
            </a:r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352800"/>
            <a:ext cx="8458200" cy="2654491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Elementary geometry doesn’t help to find the length of a curve that wiggles like this.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So, let’s break it into pieces we can work with.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Length</a:t>
            </a:r>
            <a:endParaRPr lang="en-US" dirty="0"/>
          </a:p>
        </p:txBody>
      </p:sp>
      <p:sp>
        <p:nvSpPr>
          <p:cNvPr id="4" name="Freeform 3"/>
          <p:cNvSpPr/>
          <p:nvPr/>
        </p:nvSpPr>
        <p:spPr>
          <a:xfrm>
            <a:off x="951722" y="783771"/>
            <a:ext cx="7921690" cy="2146041"/>
          </a:xfrm>
          <a:custGeom>
            <a:avLst/>
            <a:gdLst>
              <a:gd name="connsiteX0" fmla="*/ 0 w 7921690"/>
              <a:gd name="connsiteY0" fmla="*/ 2118049 h 2146041"/>
              <a:gd name="connsiteX1" fmla="*/ 531845 w 7921690"/>
              <a:gd name="connsiteY1" fmla="*/ 1492898 h 2146041"/>
              <a:gd name="connsiteX2" fmla="*/ 1399592 w 7921690"/>
              <a:gd name="connsiteY2" fmla="*/ 2052735 h 2146041"/>
              <a:gd name="connsiteX3" fmla="*/ 3862874 w 7921690"/>
              <a:gd name="connsiteY3" fmla="*/ 933062 h 2146041"/>
              <a:gd name="connsiteX4" fmla="*/ 6298164 w 7921690"/>
              <a:gd name="connsiteY4" fmla="*/ 1754156 h 2146041"/>
              <a:gd name="connsiteX5" fmla="*/ 7921690 w 7921690"/>
              <a:gd name="connsiteY5" fmla="*/ 0 h 2146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21690" h="2146041">
                <a:moveTo>
                  <a:pt x="0" y="2118049"/>
                </a:moveTo>
                <a:cubicBezTo>
                  <a:pt x="149290" y="1810916"/>
                  <a:pt x="298580" y="1503784"/>
                  <a:pt x="531845" y="1492898"/>
                </a:cubicBezTo>
                <a:cubicBezTo>
                  <a:pt x="765110" y="1482012"/>
                  <a:pt x="844421" y="2146041"/>
                  <a:pt x="1399592" y="2052735"/>
                </a:cubicBezTo>
                <a:cubicBezTo>
                  <a:pt x="1954764" y="1959429"/>
                  <a:pt x="3046445" y="982825"/>
                  <a:pt x="3862874" y="933062"/>
                </a:cubicBezTo>
                <a:cubicBezTo>
                  <a:pt x="4679303" y="883299"/>
                  <a:pt x="5621695" y="1909666"/>
                  <a:pt x="6298164" y="1754156"/>
                </a:cubicBezTo>
                <a:cubicBezTo>
                  <a:pt x="6974633" y="1598646"/>
                  <a:pt x="7685315" y="303245"/>
                  <a:pt x="7921690" y="0"/>
                </a:cubicBezTo>
              </a:path>
            </a:pathLst>
          </a:cu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4" idx="0"/>
            <a:endCxn id="4" idx="1"/>
          </p:cNvCxnSpPr>
          <p:nvPr/>
        </p:nvCxnSpPr>
        <p:spPr>
          <a:xfrm flipV="1">
            <a:off x="951722" y="2276670"/>
            <a:ext cx="531845" cy="62515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468862" y="2254895"/>
            <a:ext cx="914400" cy="59405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381504" y="1817918"/>
            <a:ext cx="1915888" cy="693578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856655" y="1816924"/>
            <a:ext cx="1553545" cy="256593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2362200" y="2057400"/>
            <a:ext cx="1524000" cy="796212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4" idx="5"/>
          </p:cNvCxnSpPr>
          <p:nvPr/>
        </p:nvCxnSpPr>
        <p:spPr>
          <a:xfrm rot="5400000" flipH="1" flipV="1">
            <a:off x="7197861" y="848663"/>
            <a:ext cx="1740443" cy="161066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304800" y="304800"/>
            <a:ext cx="289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Arc Length:</a:t>
            </a:r>
            <a:endParaRPr lang="en-US" sz="2800" dirty="0"/>
          </a:p>
        </p:txBody>
      </p:sp>
      <p:graphicFrame>
        <p:nvGraphicFramePr>
          <p:cNvPr id="2083" name="Object 35"/>
          <p:cNvGraphicFramePr>
            <a:graphicFrameLocks noChangeAspect="1"/>
          </p:cNvGraphicFramePr>
          <p:nvPr/>
        </p:nvGraphicFramePr>
        <p:xfrm>
          <a:off x="4343400" y="1295400"/>
          <a:ext cx="200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Equation" r:id="rId3" imgW="1002960" imgH="228600" progId="Equation.DSMT4">
                  <p:embed/>
                </p:oleObj>
              </mc:Choice>
              <mc:Fallback>
                <p:oleObj name="Equation" r:id="rId3" imgW="1002960" imgH="228600" progId="Equation.DSMT4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295400"/>
                        <a:ext cx="2006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1295400" y="1295400"/>
            <a:ext cx="3200400" cy="1066800"/>
            <a:chOff x="609600" y="1066800"/>
            <a:chExt cx="3200400" cy="1066800"/>
          </a:xfrm>
        </p:grpSpPr>
        <p:grpSp>
          <p:nvGrpSpPr>
            <p:cNvPr id="28" name="Group 27"/>
            <p:cNvGrpSpPr/>
            <p:nvPr/>
          </p:nvGrpSpPr>
          <p:grpSpPr>
            <a:xfrm>
              <a:off x="609600" y="1066800"/>
              <a:ext cx="3200400" cy="1066800"/>
              <a:chOff x="609600" y="990600"/>
              <a:chExt cx="3200400" cy="1066800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609600" y="990600"/>
                <a:ext cx="3200400" cy="1066800"/>
                <a:chOff x="609600" y="990600"/>
                <a:chExt cx="3200400" cy="1066800"/>
              </a:xfrm>
            </p:grpSpPr>
            <p:sp>
              <p:nvSpPr>
                <p:cNvPr id="19" name="Arc 18"/>
                <p:cNvSpPr/>
                <p:nvPr/>
              </p:nvSpPr>
              <p:spPr>
                <a:xfrm>
                  <a:off x="609600" y="990600"/>
                  <a:ext cx="3200400" cy="1066800"/>
                </a:xfrm>
                <a:prstGeom prst="arc">
                  <a:avLst>
                    <a:gd name="adj1" fmla="val 10948087"/>
                    <a:gd name="adj2" fmla="val 16194883"/>
                  </a:avLst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3" name="Straight Connector 22"/>
                <p:cNvCxnSpPr>
                  <a:stCxn id="19" idx="2"/>
                </p:cNvCxnSpPr>
                <p:nvPr/>
              </p:nvCxnSpPr>
              <p:spPr>
                <a:xfrm>
                  <a:off x="2209006" y="990600"/>
                  <a:ext cx="794" cy="4572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>
                  <a:endCxn id="19" idx="0"/>
                </p:cNvCxnSpPr>
                <p:nvPr/>
              </p:nvCxnSpPr>
              <p:spPr>
                <a:xfrm rot="10800000" flipV="1">
                  <a:off x="622814" y="1447799"/>
                  <a:ext cx="1586987" cy="779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aphicFrame>
            <p:nvGraphicFramePr>
              <p:cNvPr id="2081" name="Object 33"/>
              <p:cNvGraphicFramePr>
                <a:graphicFrameLocks noChangeAspect="1"/>
              </p:cNvGraphicFramePr>
              <p:nvPr/>
            </p:nvGraphicFramePr>
            <p:xfrm>
              <a:off x="2209800" y="990600"/>
              <a:ext cx="4318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6" name="Equation" r:id="rId5" imgW="215640" imgH="203040" progId="Equation.DSMT4">
                      <p:embed/>
                    </p:oleObj>
                  </mc:Choice>
                  <mc:Fallback>
                    <p:oleObj name="Equation" r:id="rId5" imgW="215640" imgH="203040" progId="Equation.DSMT4">
                      <p:embed/>
                      <p:pic>
                        <p:nvPicPr>
                          <p:cNvPr id="0" name="Picture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9800" y="990600"/>
                            <a:ext cx="431800" cy="406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82" name="Object 34"/>
              <p:cNvGraphicFramePr>
                <a:graphicFrameLocks noChangeAspect="1"/>
              </p:cNvGraphicFramePr>
              <p:nvPr/>
            </p:nvGraphicFramePr>
            <p:xfrm>
              <a:off x="1193800" y="1524000"/>
              <a:ext cx="482600" cy="406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37" name="Equation" r:id="rId7" imgW="241200" imgH="203040" progId="Equation.DSMT4">
                      <p:embed/>
                    </p:oleObj>
                  </mc:Choice>
                  <mc:Fallback>
                    <p:oleObj name="Equation" r:id="rId7" imgW="241200" imgH="203040" progId="Equation.DSMT4">
                      <p:embed/>
                      <p:pic>
                        <p:nvPicPr>
                          <p:cNvPr id="0" name="Picture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93800" y="1524000"/>
                            <a:ext cx="482600" cy="406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30" name="Straight Connector 29"/>
            <p:cNvCxnSpPr>
              <a:stCxn id="19" idx="0"/>
            </p:cNvCxnSpPr>
            <p:nvPr/>
          </p:nvCxnSpPr>
          <p:spPr>
            <a:xfrm rot="5400000" flipH="1" flipV="1">
              <a:off x="1183807" y="505805"/>
              <a:ext cx="464997" cy="1586987"/>
            </a:xfrm>
            <a:prstGeom prst="line">
              <a:avLst/>
            </a:prstGeom>
            <a:ln w="444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8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143473"/>
              </p:ext>
            </p:extLst>
          </p:nvPr>
        </p:nvGraphicFramePr>
        <p:xfrm>
          <a:off x="415636" y="2667000"/>
          <a:ext cx="2327564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8" name="Equation" r:id="rId9" imgW="1066680" imgH="279360" progId="Equation.DSMT4">
                  <p:embed/>
                </p:oleObj>
              </mc:Choice>
              <mc:Fallback>
                <p:oleObj name="Equation" r:id="rId9" imgW="1066680" imgH="279360" progId="Equation.DSMT4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36" y="2667000"/>
                        <a:ext cx="2327564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5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0583929"/>
              </p:ext>
            </p:extLst>
          </p:nvPr>
        </p:nvGraphicFramePr>
        <p:xfrm>
          <a:off x="3124200" y="2438400"/>
          <a:ext cx="2452339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Equation" r:id="rId11" imgW="1155600" imgH="520560" progId="Equation.DSMT4">
                  <p:embed/>
                </p:oleObj>
              </mc:Choice>
              <mc:Fallback>
                <p:oleObj name="Equation" r:id="rId11" imgW="1155600" imgH="520560" progId="Equation.DSMT4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438400"/>
                        <a:ext cx="2452339" cy="1104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6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270593"/>
              </p:ext>
            </p:extLst>
          </p:nvPr>
        </p:nvGraphicFramePr>
        <p:xfrm>
          <a:off x="5867400" y="2286000"/>
          <a:ext cx="2641600" cy="1252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" name="Equation" r:id="rId13" imgW="1231560" imgH="583920" progId="Equation.DSMT4">
                  <p:embed/>
                </p:oleObj>
              </mc:Choice>
              <mc:Fallback>
                <p:oleObj name="Equation" r:id="rId13" imgW="1231560" imgH="583920" progId="Equation.DSMT4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286000"/>
                        <a:ext cx="2641600" cy="12527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7" name="Object 39"/>
          <p:cNvGraphicFramePr>
            <a:graphicFrameLocks noChangeAspect="1"/>
          </p:cNvGraphicFramePr>
          <p:nvPr/>
        </p:nvGraphicFramePr>
        <p:xfrm>
          <a:off x="685800" y="4191000"/>
          <a:ext cx="2108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" name="Equation" r:id="rId15" imgW="1054080" imgH="393480" progId="Equation.DSMT4">
                  <p:embed/>
                </p:oleObj>
              </mc:Choice>
              <mc:Fallback>
                <p:oleObj name="Equation" r:id="rId15" imgW="1054080" imgH="393480" progId="Equation.DSMT4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191000"/>
                        <a:ext cx="21082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8" name="Object 40"/>
          <p:cNvGraphicFramePr>
            <a:graphicFrameLocks noChangeAspect="1"/>
          </p:cNvGraphicFramePr>
          <p:nvPr/>
        </p:nvGraphicFramePr>
        <p:xfrm>
          <a:off x="3429000" y="4267200"/>
          <a:ext cx="3606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" name="Equation" r:id="rId17" imgW="1803240" imgH="393480" progId="Equation.DSMT4">
                  <p:embed/>
                </p:oleObj>
              </mc:Choice>
              <mc:Fallback>
                <p:oleObj name="Equation" r:id="rId17" imgW="1803240" imgH="393480" progId="Equation.DSMT4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267200"/>
                        <a:ext cx="36068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" name="Object 41"/>
          <p:cNvGraphicFramePr>
            <a:graphicFrameLocks noChangeAspect="1"/>
          </p:cNvGraphicFramePr>
          <p:nvPr/>
        </p:nvGraphicFramePr>
        <p:xfrm>
          <a:off x="5257800" y="5486400"/>
          <a:ext cx="2895600" cy="1217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3" name="Equation" r:id="rId19" imgW="1117440" imgH="469800" progId="Equation.DSMT4">
                  <p:embed/>
                </p:oleObj>
              </mc:Choice>
              <mc:Fallback>
                <p:oleObj name="Equation" r:id="rId19" imgW="1117440" imgH="469800" progId="Equation.DSMT4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486400"/>
                        <a:ext cx="2895600" cy="121746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2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211633"/>
              </p:ext>
            </p:extLst>
          </p:nvPr>
        </p:nvGraphicFramePr>
        <p:xfrm>
          <a:off x="517525" y="609600"/>
          <a:ext cx="33178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6" name="Equation" r:id="rId3" imgW="1396800" imgH="203040" progId="Equation.DSMT4">
                  <p:embed/>
                </p:oleObj>
              </mc:Choice>
              <mc:Fallback>
                <p:oleObj name="Equation" r:id="rId3" imgW="139680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" y="609600"/>
                        <a:ext cx="3317875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337481"/>
              </p:ext>
            </p:extLst>
          </p:nvPr>
        </p:nvGraphicFramePr>
        <p:xfrm>
          <a:off x="2824316" y="3048000"/>
          <a:ext cx="2971800" cy="1324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27" name="Equation" r:id="rId5" imgW="1054080" imgH="469800" progId="Equation.DSMT4">
                  <p:embed/>
                </p:oleObj>
              </mc:Choice>
              <mc:Fallback>
                <p:oleObj name="Equation" r:id="rId5" imgW="1054080" imgH="4698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316" y="3048000"/>
                        <a:ext cx="2971800" cy="13247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7"/>
          <p:cNvGrpSpPr/>
          <p:nvPr/>
        </p:nvGrpSpPr>
        <p:grpSpPr>
          <a:xfrm>
            <a:off x="4419600" y="275304"/>
            <a:ext cx="3048000" cy="1447800"/>
            <a:chOff x="4419600" y="229394"/>
            <a:chExt cx="3048000" cy="1447800"/>
          </a:xfrm>
        </p:grpSpPr>
        <p:grpSp>
          <p:nvGrpSpPr>
            <p:cNvPr id="27" name="Group 26"/>
            <p:cNvGrpSpPr/>
            <p:nvPr/>
          </p:nvGrpSpPr>
          <p:grpSpPr>
            <a:xfrm>
              <a:off x="4419600" y="229394"/>
              <a:ext cx="3048000" cy="1447800"/>
              <a:chOff x="4419600" y="229394"/>
              <a:chExt cx="3048000" cy="1447800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5400000">
                <a:off x="4381500" y="952500"/>
                <a:ext cx="1447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4419600" y="914400"/>
                <a:ext cx="30480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4199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6257914"/>
                </p:ext>
              </p:extLst>
            </p:nvPr>
          </p:nvGraphicFramePr>
          <p:xfrm>
            <a:off x="6393425" y="1087258"/>
            <a:ext cx="508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28" name="Equation" r:id="rId7" imgW="139680" imgH="139680" progId="Equation.DSMT4">
                    <p:embed/>
                  </p:oleObj>
                </mc:Choice>
                <mc:Fallback>
                  <p:oleObj name="Equation" r:id="rId7" imgW="139680" imgH="13968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93425" y="1087258"/>
                          <a:ext cx="508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Freeform 1"/>
          <p:cNvSpPr/>
          <p:nvPr/>
        </p:nvSpPr>
        <p:spPr>
          <a:xfrm>
            <a:off x="5112774" y="423770"/>
            <a:ext cx="1435510" cy="549624"/>
          </a:xfrm>
          <a:custGeom>
            <a:avLst/>
            <a:gdLst>
              <a:gd name="connsiteX0" fmla="*/ 0 w 1435510"/>
              <a:gd name="connsiteY0" fmla="*/ 602085 h 602085"/>
              <a:gd name="connsiteX1" fmla="*/ 255639 w 1435510"/>
              <a:gd name="connsiteY1" fmla="*/ 366111 h 602085"/>
              <a:gd name="connsiteX2" fmla="*/ 609600 w 1435510"/>
              <a:gd name="connsiteY2" fmla="*/ 120305 h 602085"/>
              <a:gd name="connsiteX3" fmla="*/ 835742 w 1435510"/>
              <a:gd name="connsiteY3" fmla="*/ 2318 h 602085"/>
              <a:gd name="connsiteX4" fmla="*/ 1091381 w 1435510"/>
              <a:gd name="connsiteY4" fmla="*/ 218627 h 602085"/>
              <a:gd name="connsiteX5" fmla="*/ 1317523 w 1435510"/>
              <a:gd name="connsiteY5" fmla="*/ 493930 h 602085"/>
              <a:gd name="connsiteX6" fmla="*/ 1435510 w 1435510"/>
              <a:gd name="connsiteY6" fmla="*/ 582421 h 602085"/>
              <a:gd name="connsiteX0" fmla="*/ 0 w 1435510"/>
              <a:gd name="connsiteY0" fmla="*/ 604823 h 604823"/>
              <a:gd name="connsiteX1" fmla="*/ 255639 w 1435510"/>
              <a:gd name="connsiteY1" fmla="*/ 368849 h 604823"/>
              <a:gd name="connsiteX2" fmla="*/ 471948 w 1435510"/>
              <a:gd name="connsiteY2" fmla="*/ 93546 h 604823"/>
              <a:gd name="connsiteX3" fmla="*/ 835742 w 1435510"/>
              <a:gd name="connsiteY3" fmla="*/ 5056 h 604823"/>
              <a:gd name="connsiteX4" fmla="*/ 1091381 w 1435510"/>
              <a:gd name="connsiteY4" fmla="*/ 221365 h 604823"/>
              <a:gd name="connsiteX5" fmla="*/ 1317523 w 1435510"/>
              <a:gd name="connsiteY5" fmla="*/ 496668 h 604823"/>
              <a:gd name="connsiteX6" fmla="*/ 1435510 w 1435510"/>
              <a:gd name="connsiteY6" fmla="*/ 585159 h 604823"/>
              <a:gd name="connsiteX0" fmla="*/ 0 w 1435510"/>
              <a:gd name="connsiteY0" fmla="*/ 604516 h 604516"/>
              <a:gd name="connsiteX1" fmla="*/ 235975 w 1435510"/>
              <a:gd name="connsiteY1" fmla="*/ 339046 h 604516"/>
              <a:gd name="connsiteX2" fmla="*/ 471948 w 1435510"/>
              <a:gd name="connsiteY2" fmla="*/ 93239 h 604516"/>
              <a:gd name="connsiteX3" fmla="*/ 835742 w 1435510"/>
              <a:gd name="connsiteY3" fmla="*/ 4749 h 604516"/>
              <a:gd name="connsiteX4" fmla="*/ 1091381 w 1435510"/>
              <a:gd name="connsiteY4" fmla="*/ 221058 h 604516"/>
              <a:gd name="connsiteX5" fmla="*/ 1317523 w 1435510"/>
              <a:gd name="connsiteY5" fmla="*/ 496361 h 604516"/>
              <a:gd name="connsiteX6" fmla="*/ 1435510 w 1435510"/>
              <a:gd name="connsiteY6" fmla="*/ 584852 h 604516"/>
              <a:gd name="connsiteX0" fmla="*/ 0 w 1435510"/>
              <a:gd name="connsiteY0" fmla="*/ 552906 h 552906"/>
              <a:gd name="connsiteX1" fmla="*/ 235975 w 1435510"/>
              <a:gd name="connsiteY1" fmla="*/ 287436 h 552906"/>
              <a:gd name="connsiteX2" fmla="*/ 471948 w 1435510"/>
              <a:gd name="connsiteY2" fmla="*/ 41629 h 552906"/>
              <a:gd name="connsiteX3" fmla="*/ 855407 w 1435510"/>
              <a:gd name="connsiteY3" fmla="*/ 12132 h 552906"/>
              <a:gd name="connsiteX4" fmla="*/ 1091381 w 1435510"/>
              <a:gd name="connsiteY4" fmla="*/ 169448 h 552906"/>
              <a:gd name="connsiteX5" fmla="*/ 1317523 w 1435510"/>
              <a:gd name="connsiteY5" fmla="*/ 444751 h 552906"/>
              <a:gd name="connsiteX6" fmla="*/ 1435510 w 1435510"/>
              <a:gd name="connsiteY6" fmla="*/ 533242 h 552906"/>
              <a:gd name="connsiteX0" fmla="*/ 0 w 1435510"/>
              <a:gd name="connsiteY0" fmla="*/ 552906 h 552906"/>
              <a:gd name="connsiteX1" fmla="*/ 235975 w 1435510"/>
              <a:gd name="connsiteY1" fmla="*/ 287436 h 552906"/>
              <a:gd name="connsiteX2" fmla="*/ 471948 w 1435510"/>
              <a:gd name="connsiteY2" fmla="*/ 41629 h 552906"/>
              <a:gd name="connsiteX3" fmla="*/ 855407 w 1435510"/>
              <a:gd name="connsiteY3" fmla="*/ 12132 h 552906"/>
              <a:gd name="connsiteX4" fmla="*/ 1091381 w 1435510"/>
              <a:gd name="connsiteY4" fmla="*/ 169448 h 552906"/>
              <a:gd name="connsiteX5" fmla="*/ 1268361 w 1435510"/>
              <a:gd name="connsiteY5" fmla="*/ 326764 h 552906"/>
              <a:gd name="connsiteX6" fmla="*/ 1435510 w 1435510"/>
              <a:gd name="connsiteY6" fmla="*/ 533242 h 552906"/>
              <a:gd name="connsiteX0" fmla="*/ 0 w 1435510"/>
              <a:gd name="connsiteY0" fmla="*/ 549624 h 549624"/>
              <a:gd name="connsiteX1" fmla="*/ 235975 w 1435510"/>
              <a:gd name="connsiteY1" fmla="*/ 284154 h 549624"/>
              <a:gd name="connsiteX2" fmla="*/ 560439 w 1435510"/>
              <a:gd name="connsiteY2" fmla="*/ 48179 h 549624"/>
              <a:gd name="connsiteX3" fmla="*/ 855407 w 1435510"/>
              <a:gd name="connsiteY3" fmla="*/ 8850 h 549624"/>
              <a:gd name="connsiteX4" fmla="*/ 1091381 w 1435510"/>
              <a:gd name="connsiteY4" fmla="*/ 166166 h 549624"/>
              <a:gd name="connsiteX5" fmla="*/ 1268361 w 1435510"/>
              <a:gd name="connsiteY5" fmla="*/ 323482 h 549624"/>
              <a:gd name="connsiteX6" fmla="*/ 1435510 w 1435510"/>
              <a:gd name="connsiteY6" fmla="*/ 529960 h 549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5510" h="549624">
                <a:moveTo>
                  <a:pt x="0" y="549624"/>
                </a:moveTo>
                <a:cubicBezTo>
                  <a:pt x="77019" y="471785"/>
                  <a:pt x="142569" y="367728"/>
                  <a:pt x="235975" y="284154"/>
                </a:cubicBezTo>
                <a:cubicBezTo>
                  <a:pt x="329381" y="200580"/>
                  <a:pt x="457200" y="94063"/>
                  <a:pt x="560439" y="48179"/>
                </a:cubicBezTo>
                <a:cubicBezTo>
                  <a:pt x="663678" y="2295"/>
                  <a:pt x="766917" y="-10815"/>
                  <a:pt x="855407" y="8850"/>
                </a:cubicBezTo>
                <a:cubicBezTo>
                  <a:pt x="943897" y="28515"/>
                  <a:pt x="1022555" y="113727"/>
                  <a:pt x="1091381" y="166166"/>
                </a:cubicBezTo>
                <a:cubicBezTo>
                  <a:pt x="1160207" y="218605"/>
                  <a:pt x="1211006" y="262850"/>
                  <a:pt x="1268361" y="323482"/>
                </a:cubicBezTo>
                <a:cubicBezTo>
                  <a:pt x="1325716" y="384114"/>
                  <a:pt x="1405194" y="516030"/>
                  <a:pt x="1435510" y="529960"/>
                </a:cubicBezTo>
              </a:path>
            </a:pathLst>
          </a:cu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316730"/>
              </p:ext>
            </p:extLst>
          </p:nvPr>
        </p:nvGraphicFramePr>
        <p:xfrm>
          <a:off x="533400" y="609600"/>
          <a:ext cx="27447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3" name="Equation" r:id="rId3" imgW="1155600" imgH="228600" progId="Equation.DSMT4">
                  <p:embed/>
                </p:oleObj>
              </mc:Choice>
              <mc:Fallback>
                <p:oleObj name="Equation" r:id="rId3" imgW="1155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609600"/>
                        <a:ext cx="2744787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730070"/>
              </p:ext>
            </p:extLst>
          </p:nvPr>
        </p:nvGraphicFramePr>
        <p:xfrm>
          <a:off x="5105400" y="533400"/>
          <a:ext cx="2576513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4" name="Equation" r:id="rId5" imgW="914400" imgH="469800" progId="Equation.DSMT4">
                  <p:embed/>
                </p:oleObj>
              </mc:Choice>
              <mc:Fallback>
                <p:oleObj name="Equation" r:id="rId5" imgW="9144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33400"/>
                        <a:ext cx="2576513" cy="1325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525277"/>
              </p:ext>
            </p:extLst>
          </p:nvPr>
        </p:nvGraphicFramePr>
        <p:xfrm>
          <a:off x="322263" y="3581400"/>
          <a:ext cx="346868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5" name="Equation" r:id="rId7" imgW="1460160" imgH="253800" progId="Equation.DSMT4">
                  <p:embed/>
                </p:oleObj>
              </mc:Choice>
              <mc:Fallback>
                <p:oleObj name="Equation" r:id="rId7" imgW="1460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3" y="3581400"/>
                        <a:ext cx="3468687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084047"/>
              </p:ext>
            </p:extLst>
          </p:nvPr>
        </p:nvGraphicFramePr>
        <p:xfrm>
          <a:off x="5105400" y="3352800"/>
          <a:ext cx="3076575" cy="164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6" name="Equation" r:id="rId9" imgW="1091880" imgH="583920" progId="Equation.DSMT4">
                  <p:embed/>
                </p:oleObj>
              </mc:Choice>
              <mc:Fallback>
                <p:oleObj name="Equation" r:id="rId9" imgW="109188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352800"/>
                        <a:ext cx="3076575" cy="164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594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1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9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9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3" name="Object 35"/>
          <p:cNvGraphicFramePr>
            <a:graphicFrameLocks noChangeAspect="1"/>
          </p:cNvGraphicFramePr>
          <p:nvPr/>
        </p:nvGraphicFramePr>
        <p:xfrm>
          <a:off x="304800" y="533400"/>
          <a:ext cx="7137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8" name="Equation" r:id="rId3" imgW="3568680" imgH="228600" progId="Equation.DSMT4">
                  <p:embed/>
                </p:oleObj>
              </mc:Choice>
              <mc:Fallback>
                <p:oleObj name="Equation" r:id="rId3" imgW="3568680" imgH="228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3400"/>
                        <a:ext cx="7137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397407"/>
              </p:ext>
            </p:extLst>
          </p:nvPr>
        </p:nvGraphicFramePr>
        <p:xfrm>
          <a:off x="5194300" y="1600200"/>
          <a:ext cx="2819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9" name="Equation" r:id="rId5" imgW="1409400" imgH="469800" progId="Equation.DSMT4">
                  <p:embed/>
                </p:oleObj>
              </mc:Choice>
              <mc:Fallback>
                <p:oleObj name="Equation" r:id="rId5" imgW="1409400" imgH="469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1600200"/>
                        <a:ext cx="28194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3"/>
          <p:cNvGrpSpPr/>
          <p:nvPr/>
        </p:nvGrpSpPr>
        <p:grpSpPr>
          <a:xfrm>
            <a:off x="838200" y="1184787"/>
            <a:ext cx="2362200" cy="2286794"/>
            <a:chOff x="533400" y="914400"/>
            <a:chExt cx="2362200" cy="2286794"/>
          </a:xfrm>
        </p:grpSpPr>
        <p:grpSp>
          <p:nvGrpSpPr>
            <p:cNvPr id="3" name="Group 28"/>
            <p:cNvGrpSpPr/>
            <p:nvPr/>
          </p:nvGrpSpPr>
          <p:grpSpPr>
            <a:xfrm>
              <a:off x="533400" y="914400"/>
              <a:ext cx="2362200" cy="2286794"/>
              <a:chOff x="533400" y="914400"/>
              <a:chExt cx="2362200" cy="2286794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>
                <a:off x="1294606" y="914400"/>
                <a:ext cx="0" cy="22867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533400" y="2514600"/>
                <a:ext cx="2362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/>
            <p:cNvSpPr txBox="1"/>
            <p:nvPr/>
          </p:nvSpPr>
          <p:spPr>
            <a:xfrm>
              <a:off x="830094" y="118478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209800" y="25908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37" name="Straight Connector 36"/>
            <p:cNvCxnSpPr/>
            <p:nvPr/>
          </p:nvCxnSpPr>
          <p:spPr>
            <a:xfrm>
              <a:off x="1219994" y="1293736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286794" y="2514600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lowchart: Manual Input 4"/>
          <p:cNvSpPr/>
          <p:nvPr/>
        </p:nvSpPr>
        <p:spPr>
          <a:xfrm>
            <a:off x="2172712" y="1905000"/>
            <a:ext cx="134976" cy="1676400"/>
          </a:xfrm>
          <a:prstGeom prst="flowChartManualInpu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1567810" y="1305855"/>
            <a:ext cx="835742" cy="1474838"/>
          </a:xfrm>
          <a:custGeom>
            <a:avLst/>
            <a:gdLst>
              <a:gd name="connsiteX0" fmla="*/ 0 w 835742"/>
              <a:gd name="connsiteY0" fmla="*/ 1474838 h 1474838"/>
              <a:gd name="connsiteX1" fmla="*/ 412955 w 835742"/>
              <a:gd name="connsiteY1" fmla="*/ 1219200 h 1474838"/>
              <a:gd name="connsiteX2" fmla="*/ 688258 w 835742"/>
              <a:gd name="connsiteY2" fmla="*/ 737419 h 1474838"/>
              <a:gd name="connsiteX3" fmla="*/ 835742 w 835742"/>
              <a:gd name="connsiteY3" fmla="*/ 0 h 147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5742" h="1474838">
                <a:moveTo>
                  <a:pt x="0" y="1474838"/>
                </a:moveTo>
                <a:cubicBezTo>
                  <a:pt x="149122" y="1408470"/>
                  <a:pt x="298245" y="1342103"/>
                  <a:pt x="412955" y="1219200"/>
                </a:cubicBezTo>
                <a:cubicBezTo>
                  <a:pt x="527665" y="1096297"/>
                  <a:pt x="617793" y="940619"/>
                  <a:pt x="688258" y="737419"/>
                </a:cubicBezTo>
                <a:cubicBezTo>
                  <a:pt x="758723" y="534219"/>
                  <a:pt x="797232" y="267109"/>
                  <a:pt x="835742" y="0"/>
                </a:cubicBezTo>
              </a:path>
            </a:pathLst>
          </a:cu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0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045286"/>
              </p:ext>
            </p:extLst>
          </p:nvPr>
        </p:nvGraphicFramePr>
        <p:xfrm>
          <a:off x="3962400" y="3276599"/>
          <a:ext cx="3733800" cy="1096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4" name="Equation" r:id="rId3" imgW="1600200" imgH="469800" progId="Equation.DSMT4">
                  <p:embed/>
                </p:oleObj>
              </mc:Choice>
              <mc:Fallback>
                <p:oleObj name="Equation" r:id="rId3" imgW="1600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276599"/>
                        <a:ext cx="3733800" cy="109643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85899" y="607453"/>
            <a:ext cx="495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r>
              <a:rPr lang="en-US" baseline="30000" dirty="0" smtClean="0"/>
              <a:t>2</a:t>
            </a:r>
            <a:endParaRPr lang="en-US" dirty="0"/>
          </a:p>
        </p:txBody>
      </p:sp>
      <p:grpSp>
        <p:nvGrpSpPr>
          <p:cNvPr id="17" name="Group 43"/>
          <p:cNvGrpSpPr/>
          <p:nvPr/>
        </p:nvGrpSpPr>
        <p:grpSpPr>
          <a:xfrm>
            <a:off x="418306" y="152400"/>
            <a:ext cx="2362200" cy="2286794"/>
            <a:chOff x="533400" y="914400"/>
            <a:chExt cx="2362200" cy="2286794"/>
          </a:xfrm>
        </p:grpSpPr>
        <p:grpSp>
          <p:nvGrpSpPr>
            <p:cNvPr id="18" name="Group 28"/>
            <p:cNvGrpSpPr/>
            <p:nvPr/>
          </p:nvGrpSpPr>
          <p:grpSpPr>
            <a:xfrm>
              <a:off x="533400" y="914400"/>
              <a:ext cx="2362200" cy="2286794"/>
              <a:chOff x="533400" y="914400"/>
              <a:chExt cx="2362200" cy="2286794"/>
            </a:xfrm>
          </p:grpSpPr>
          <p:cxnSp>
            <p:nvCxnSpPr>
              <p:cNvPr id="25" name="Straight Connector 24"/>
              <p:cNvCxnSpPr/>
              <p:nvPr/>
            </p:nvCxnSpPr>
            <p:spPr>
              <a:xfrm>
                <a:off x="1294606" y="914400"/>
                <a:ext cx="0" cy="228679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33400" y="2514600"/>
                <a:ext cx="2362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830094" y="118478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09800" y="25908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1219994" y="1293736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286794" y="2514600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Freeform 27"/>
          <p:cNvSpPr/>
          <p:nvPr/>
        </p:nvSpPr>
        <p:spPr>
          <a:xfrm>
            <a:off x="1162664" y="277762"/>
            <a:ext cx="835742" cy="1474838"/>
          </a:xfrm>
          <a:custGeom>
            <a:avLst/>
            <a:gdLst>
              <a:gd name="connsiteX0" fmla="*/ 0 w 835742"/>
              <a:gd name="connsiteY0" fmla="*/ 1474838 h 1474838"/>
              <a:gd name="connsiteX1" fmla="*/ 412955 w 835742"/>
              <a:gd name="connsiteY1" fmla="*/ 1219200 h 1474838"/>
              <a:gd name="connsiteX2" fmla="*/ 688258 w 835742"/>
              <a:gd name="connsiteY2" fmla="*/ 737419 h 1474838"/>
              <a:gd name="connsiteX3" fmla="*/ 835742 w 835742"/>
              <a:gd name="connsiteY3" fmla="*/ 0 h 147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5742" h="1474838">
                <a:moveTo>
                  <a:pt x="0" y="1474838"/>
                </a:moveTo>
                <a:cubicBezTo>
                  <a:pt x="149122" y="1408470"/>
                  <a:pt x="298245" y="1342103"/>
                  <a:pt x="412955" y="1219200"/>
                </a:cubicBezTo>
                <a:cubicBezTo>
                  <a:pt x="527665" y="1096297"/>
                  <a:pt x="617793" y="940619"/>
                  <a:pt x="688258" y="737419"/>
                </a:cubicBezTo>
                <a:cubicBezTo>
                  <a:pt x="758723" y="534219"/>
                  <a:pt x="797232" y="267109"/>
                  <a:pt x="835742" y="0"/>
                </a:cubicBezTo>
              </a:path>
            </a:pathLst>
          </a:cu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973852"/>
              </p:ext>
            </p:extLst>
          </p:nvPr>
        </p:nvGraphicFramePr>
        <p:xfrm>
          <a:off x="4343400" y="330124"/>
          <a:ext cx="279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5" name="Equation" r:id="rId5" imgW="1396800" imgH="203040" progId="Equation.DSMT4">
                  <p:embed/>
                </p:oleObj>
              </mc:Choice>
              <mc:Fallback>
                <p:oleObj name="Equation" r:id="rId5" imgW="1396800" imgH="20304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30124"/>
                        <a:ext cx="2794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418306" y="2286000"/>
            <a:ext cx="2362200" cy="0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236220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17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8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54392" y="1141250"/>
            <a:ext cx="495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r>
              <a:rPr lang="en-US" baseline="30000" dirty="0" smtClean="0"/>
              <a:t>2</a:t>
            </a:r>
            <a:endParaRPr lang="en-US" dirty="0"/>
          </a:p>
        </p:txBody>
      </p:sp>
      <p:grpSp>
        <p:nvGrpSpPr>
          <p:cNvPr id="17" name="Group 43"/>
          <p:cNvGrpSpPr/>
          <p:nvPr/>
        </p:nvGrpSpPr>
        <p:grpSpPr>
          <a:xfrm>
            <a:off x="418306" y="304800"/>
            <a:ext cx="2362200" cy="2668191"/>
            <a:chOff x="533400" y="533003"/>
            <a:chExt cx="2362200" cy="2668191"/>
          </a:xfrm>
        </p:grpSpPr>
        <p:grpSp>
          <p:nvGrpSpPr>
            <p:cNvPr id="18" name="Group 28"/>
            <p:cNvGrpSpPr/>
            <p:nvPr/>
          </p:nvGrpSpPr>
          <p:grpSpPr>
            <a:xfrm>
              <a:off x="533400" y="533003"/>
              <a:ext cx="2362200" cy="2668191"/>
              <a:chOff x="533400" y="533003"/>
              <a:chExt cx="2362200" cy="2668191"/>
            </a:xfrm>
          </p:grpSpPr>
          <p:cxnSp>
            <p:nvCxnSpPr>
              <p:cNvPr id="25" name="Straight Connector 24"/>
              <p:cNvCxnSpPr/>
              <p:nvPr/>
            </p:nvCxnSpPr>
            <p:spPr>
              <a:xfrm>
                <a:off x="1294606" y="533003"/>
                <a:ext cx="0" cy="266819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>
                <a:off x="533400" y="2514600"/>
                <a:ext cx="23622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830094" y="118478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9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209800" y="259080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1219994" y="1293736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286794" y="2514600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Freeform 27"/>
          <p:cNvSpPr/>
          <p:nvPr/>
        </p:nvSpPr>
        <p:spPr>
          <a:xfrm>
            <a:off x="1184172" y="792119"/>
            <a:ext cx="835742" cy="1474838"/>
          </a:xfrm>
          <a:custGeom>
            <a:avLst/>
            <a:gdLst>
              <a:gd name="connsiteX0" fmla="*/ 0 w 835742"/>
              <a:gd name="connsiteY0" fmla="*/ 1474838 h 1474838"/>
              <a:gd name="connsiteX1" fmla="*/ 412955 w 835742"/>
              <a:gd name="connsiteY1" fmla="*/ 1219200 h 1474838"/>
              <a:gd name="connsiteX2" fmla="*/ 688258 w 835742"/>
              <a:gd name="connsiteY2" fmla="*/ 737419 h 1474838"/>
              <a:gd name="connsiteX3" fmla="*/ 835742 w 835742"/>
              <a:gd name="connsiteY3" fmla="*/ 0 h 147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5742" h="1474838">
                <a:moveTo>
                  <a:pt x="0" y="1474838"/>
                </a:moveTo>
                <a:cubicBezTo>
                  <a:pt x="149122" y="1408470"/>
                  <a:pt x="298245" y="1342103"/>
                  <a:pt x="412955" y="1219200"/>
                </a:cubicBezTo>
                <a:cubicBezTo>
                  <a:pt x="527665" y="1096297"/>
                  <a:pt x="617793" y="940619"/>
                  <a:pt x="688258" y="737419"/>
                </a:cubicBezTo>
                <a:cubicBezTo>
                  <a:pt x="758723" y="534219"/>
                  <a:pt x="797232" y="267109"/>
                  <a:pt x="835742" y="0"/>
                </a:cubicBezTo>
              </a:path>
            </a:pathLst>
          </a:cu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304799" y="381000"/>
            <a:ext cx="2362200" cy="0"/>
          </a:xfrm>
          <a:prstGeom prst="line">
            <a:avLst/>
          </a:prstGeom>
          <a:ln w="28575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063611"/>
              </p:ext>
            </p:extLst>
          </p:nvPr>
        </p:nvGraphicFramePr>
        <p:xfrm>
          <a:off x="3657600" y="3276600"/>
          <a:ext cx="404683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4" name="Equation" r:id="rId3" imgW="1663560" imgH="469800" progId="Equation.DSMT4">
                  <p:embed/>
                </p:oleObj>
              </mc:Choice>
              <mc:Fallback>
                <p:oleObj name="Equation" r:id="rId3" imgW="1663560" imgH="4698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276600"/>
                        <a:ext cx="4046838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922447"/>
              </p:ext>
            </p:extLst>
          </p:nvPr>
        </p:nvGraphicFramePr>
        <p:xfrm>
          <a:off x="4343400" y="330124"/>
          <a:ext cx="289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5" name="Equation" r:id="rId5" imgW="1447560" imgH="203040" progId="Equation.DSMT4">
                  <p:embed/>
                </p:oleObj>
              </mc:Choice>
              <mc:Fallback>
                <p:oleObj name="Equation" r:id="rId5" imgW="1447560" imgH="20304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30124"/>
                        <a:ext cx="289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76200"/>
            <a:ext cx="574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8" grpId="0" animBg="1"/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2906</TotalTime>
  <Words>20</Words>
  <Application>Microsoft Office PowerPoint</Application>
  <PresentationFormat>On-screen Show (4:3)</PresentationFormat>
  <Paragraphs>16</Paragraphs>
  <Slides>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theme</vt:lpstr>
      <vt:lpstr>Equation</vt:lpstr>
      <vt:lpstr>MathType 6.0 Equation</vt:lpstr>
      <vt:lpstr>PowerPoint Presentation</vt:lpstr>
      <vt:lpstr>Length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372</cp:revision>
  <dcterms:created xsi:type="dcterms:W3CDTF">2006-08-16T00:00:00Z</dcterms:created>
  <dcterms:modified xsi:type="dcterms:W3CDTF">2011-01-26T06:28:35Z</dcterms:modified>
</cp:coreProperties>
</file>