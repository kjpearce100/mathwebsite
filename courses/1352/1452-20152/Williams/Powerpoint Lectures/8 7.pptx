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8" r:id="rId3"/>
    <p:sldId id="263" r:id="rId4"/>
    <p:sldId id="259" r:id="rId5"/>
    <p:sldId id="266" r:id="rId6"/>
    <p:sldId id="267" r:id="rId7"/>
    <p:sldId id="268" r:id="rId8"/>
    <p:sldId id="260" r:id="rId9"/>
    <p:sldId id="261" r:id="rId10"/>
    <p:sldId id="264" r:id="rId11"/>
    <p:sldId id="271" r:id="rId12"/>
    <p:sldId id="272" r:id="rId13"/>
    <p:sldId id="270" r:id="rId14"/>
    <p:sldId id="26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4" autoAdjust="0"/>
    <p:restoredTop sz="94718" autoAdjust="0"/>
  </p:normalViewPr>
  <p:slideViewPr>
    <p:cSldViewPr>
      <p:cViewPr varScale="1">
        <p:scale>
          <a:sx n="106" d="100"/>
          <a:sy n="106" d="100"/>
        </p:scale>
        <p:origin x="-36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9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4/8/2011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0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1.wmf"/><Relationship Id="rId3" Type="http://schemas.openxmlformats.org/officeDocument/2006/relationships/audio" Target="../media/media2.mp3"/><Relationship Id="rId21" Type="http://schemas.openxmlformats.org/officeDocument/2006/relationships/image" Target="../media/image54.png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0.bin"/><Relationship Id="rId2" Type="http://schemas.microsoft.com/office/2007/relationships/media" Target="../media/media2.mp3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image" Target="../media/image53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1.bin"/><Relationship Id="rId4" Type="http://schemas.openxmlformats.org/officeDocument/2006/relationships/slideLayout" Target="../slideLayouts/slideLayout2.xml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9.wmf"/><Relationship Id="rId22" Type="http://schemas.openxmlformats.org/officeDocument/2006/relationships/oleObject" Target="../embeddings/oleObject5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5600" y="3276600"/>
            <a:ext cx="60594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8.7: Power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Babylon 5 - Season 5 Main Titles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0600" y="39624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5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68346" y="3159640"/>
            <a:ext cx="1089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If c = 0,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172617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Definition</a:t>
            </a:r>
          </a:p>
          <a:p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                is a </a:t>
            </a:r>
            <a:r>
              <a:rPr lang="en-US" sz="28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power series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centered at c</a:t>
            </a:r>
          </a:p>
        </p:txBody>
      </p:sp>
      <p:graphicFrame>
        <p:nvGraphicFramePr>
          <p:cNvPr id="4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859095"/>
              </p:ext>
            </p:extLst>
          </p:nvPr>
        </p:nvGraphicFramePr>
        <p:xfrm>
          <a:off x="1524000" y="846619"/>
          <a:ext cx="1889125" cy="86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8" name="Equation" r:id="rId3" imgW="939600" imgH="431640" progId="Equation.DSMT4">
                  <p:embed/>
                </p:oleObj>
              </mc:Choice>
              <mc:Fallback>
                <p:oleObj name="Equation" r:id="rId3" imgW="939600" imgH="43164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46619"/>
                        <a:ext cx="1889125" cy="8641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77224" y="41910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latin typeface="Calibri" pitchFamily="34" charset="0"/>
                <a:cs typeface="Calibri" pitchFamily="34" charset="0"/>
              </a:rPr>
              <a:t>IMPORTANT: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A power series is a 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function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 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Its value and whether or not it converges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depends on which x you plug in.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Think of them as “</a:t>
            </a:r>
            <a:r>
              <a:rPr lang="en-US" sz="28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Long Polynomials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”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756145"/>
              </p:ext>
            </p:extLst>
          </p:nvPr>
        </p:nvGraphicFramePr>
        <p:xfrm>
          <a:off x="1331243" y="2057400"/>
          <a:ext cx="6686801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9" name="Equation" r:id="rId5" imgW="3009600" imgH="241200" progId="Equation.DSMT4">
                  <p:embed/>
                </p:oleObj>
              </mc:Choice>
              <mc:Fallback>
                <p:oleObj name="Equation" r:id="rId5" imgW="3009600" imgH="241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243" y="2057400"/>
                        <a:ext cx="6686801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747777"/>
              </p:ext>
            </p:extLst>
          </p:nvPr>
        </p:nvGraphicFramePr>
        <p:xfrm>
          <a:off x="2081213" y="3062288"/>
          <a:ext cx="49831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0" name="Equation" r:id="rId7" imgW="2082600" imgH="241200" progId="Equation.DSMT4">
                  <p:embed/>
                </p:oleObj>
              </mc:Choice>
              <mc:Fallback>
                <p:oleObj name="Equation" r:id="rId7" imgW="208260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062288"/>
                        <a:ext cx="498316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325756"/>
              </p:ext>
            </p:extLst>
          </p:nvPr>
        </p:nvGraphicFramePr>
        <p:xfrm>
          <a:off x="304800" y="304800"/>
          <a:ext cx="950846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0" name="Equation" r:id="rId3" imgW="380880" imgH="431640" progId="Equation.DSMT4">
                  <p:embed/>
                </p:oleObj>
              </mc:Choice>
              <mc:Fallback>
                <p:oleObj name="Equation" r:id="rId3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950846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447800" y="1115627"/>
            <a:ext cx="65224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you plug in a number for x,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you get a geometric series.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It converges if |x|&lt;1.</a:t>
            </a: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Remember, a power series is a function.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743811"/>
              </p:ext>
            </p:extLst>
          </p:nvPr>
        </p:nvGraphicFramePr>
        <p:xfrm>
          <a:off x="3584286" y="4114800"/>
          <a:ext cx="22494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1" name="Equation" r:id="rId5" imgW="901440" imgH="431640" progId="Equation.DSMT4">
                  <p:embed/>
                </p:oleObj>
              </mc:Choice>
              <mc:Fallback>
                <p:oleObj name="Equation" r:id="rId5" imgW="90144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286" y="4114800"/>
                        <a:ext cx="224948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10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369707"/>
              </p:ext>
            </p:extLst>
          </p:nvPr>
        </p:nvGraphicFramePr>
        <p:xfrm>
          <a:off x="76200" y="198582"/>
          <a:ext cx="1981200" cy="897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1" name="Equation" r:id="rId3" imgW="977760" imgH="444240" progId="Equation.DSMT4">
                  <p:embed/>
                </p:oleObj>
              </mc:Choice>
              <mc:Fallback>
                <p:oleObj name="Equation" r:id="rId3" imgW="977760" imgH="444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8582"/>
                        <a:ext cx="1981200" cy="8979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326229"/>
              </p:ext>
            </p:extLst>
          </p:nvPr>
        </p:nvGraphicFramePr>
        <p:xfrm>
          <a:off x="122237" y="1704070"/>
          <a:ext cx="4449763" cy="1077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2" name="Equation" r:id="rId5" imgW="1993680" imgH="482400" progId="Equation.DSMT4">
                  <p:embed/>
                </p:oleObj>
              </mc:Choice>
              <mc:Fallback>
                <p:oleObj name="Equation" r:id="rId5" imgW="1993680" imgH="48240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" y="1704070"/>
                        <a:ext cx="4449763" cy="107722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394749"/>
              </p:ext>
            </p:extLst>
          </p:nvPr>
        </p:nvGraphicFramePr>
        <p:xfrm>
          <a:off x="4686301" y="1804759"/>
          <a:ext cx="2476500" cy="935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3" name="Equation" r:id="rId7" imgW="1143000" imgH="431640" progId="Equation.DSMT4">
                  <p:embed/>
                </p:oleObj>
              </mc:Choice>
              <mc:Fallback>
                <p:oleObj name="Equation" r:id="rId7" imgW="1143000" imgH="43164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1" y="1804759"/>
                        <a:ext cx="2476500" cy="93526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52400" y="360728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By ratio test the series converges absolutely when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3810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Find all values of x </a:t>
            </a:r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at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which the power series converges.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686805"/>
              </p:ext>
            </p:extLst>
          </p:nvPr>
        </p:nvGraphicFramePr>
        <p:xfrm>
          <a:off x="7391400" y="1828800"/>
          <a:ext cx="1554356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4" name="Equation" r:id="rId9" imgW="736560" imgH="431640" progId="Equation.DSMT4">
                  <p:embed/>
                </p:oleObj>
              </mc:Choice>
              <mc:Fallback>
                <p:oleObj name="Equation" r:id="rId9" imgW="736560" imgH="431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828800"/>
                        <a:ext cx="1554356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195085"/>
              </p:ext>
            </p:extLst>
          </p:nvPr>
        </p:nvGraphicFramePr>
        <p:xfrm>
          <a:off x="6400800" y="3429000"/>
          <a:ext cx="1608798" cy="80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5" name="Equation" r:id="rId11" imgW="863280" imgH="431640" progId="Equation.DSMT4">
                  <p:embed/>
                </p:oleObj>
              </mc:Choice>
              <mc:Fallback>
                <p:oleObj name="Equation" r:id="rId11" imgW="86328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429000"/>
                        <a:ext cx="1608798" cy="80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120220"/>
              </p:ext>
            </p:extLst>
          </p:nvPr>
        </p:nvGraphicFramePr>
        <p:xfrm>
          <a:off x="3844924" y="4398962"/>
          <a:ext cx="1935754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6" name="Equation" r:id="rId13" imgW="825480" imgH="203040" progId="Equation.DSMT4">
                  <p:embed/>
                </p:oleObj>
              </mc:Choice>
              <mc:Fallback>
                <p:oleObj name="Equation" r:id="rId13" imgW="82548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4" y="4398962"/>
                        <a:ext cx="1935754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747559"/>
              </p:ext>
            </p:extLst>
          </p:nvPr>
        </p:nvGraphicFramePr>
        <p:xfrm>
          <a:off x="3276600" y="152400"/>
          <a:ext cx="21757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5" name="Equation" r:id="rId3" imgW="825480" imgH="203040" progId="Equation.DSMT4">
                  <p:embed/>
                </p:oleObj>
              </mc:Choice>
              <mc:Fallback>
                <p:oleObj name="Equation" r:id="rId3" imgW="8254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"/>
                        <a:ext cx="21757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584749"/>
              </p:ext>
            </p:extLst>
          </p:nvPr>
        </p:nvGraphicFramePr>
        <p:xfrm>
          <a:off x="5715000" y="2133600"/>
          <a:ext cx="2376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6" name="Equation" r:id="rId5" imgW="901440" imgH="203040" progId="Equation.DSMT4">
                  <p:embed/>
                </p:oleObj>
              </mc:Choice>
              <mc:Fallback>
                <p:oleObj name="Equation" r:id="rId5" imgW="90144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133600"/>
                        <a:ext cx="23764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44462"/>
              </p:ext>
            </p:extLst>
          </p:nvPr>
        </p:nvGraphicFramePr>
        <p:xfrm>
          <a:off x="5926370" y="3276600"/>
          <a:ext cx="21097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7" name="Equation" r:id="rId7" imgW="799920" imgH="203040" progId="Equation.DSMT4">
                  <p:embed/>
                </p:oleObj>
              </mc:Choice>
              <mc:Fallback>
                <p:oleObj name="Equation" r:id="rId7" imgW="79992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370" y="3276600"/>
                        <a:ext cx="21097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971821"/>
              </p:ext>
            </p:extLst>
          </p:nvPr>
        </p:nvGraphicFramePr>
        <p:xfrm>
          <a:off x="6477000" y="4419600"/>
          <a:ext cx="1238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8" name="Equation" r:id="rId9" imgW="469800" imgH="203040" progId="Equation.DSMT4">
                  <p:embed/>
                </p:oleObj>
              </mc:Choice>
              <mc:Fallback>
                <p:oleObj name="Equation" r:id="rId9" imgW="46980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419600"/>
                        <a:ext cx="1238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979384"/>
              </p:ext>
            </p:extLst>
          </p:nvPr>
        </p:nvGraphicFramePr>
        <p:xfrm>
          <a:off x="838200" y="2057400"/>
          <a:ext cx="18081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9" name="Equation" r:id="rId11" imgW="685800" imgH="203040" progId="Equation.DSMT4">
                  <p:embed/>
                </p:oleObj>
              </mc:Choice>
              <mc:Fallback>
                <p:oleObj name="Equation" r:id="rId11" imgW="68580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57400"/>
                        <a:ext cx="18081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552517"/>
              </p:ext>
            </p:extLst>
          </p:nvPr>
        </p:nvGraphicFramePr>
        <p:xfrm>
          <a:off x="1143000" y="3352800"/>
          <a:ext cx="11382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0" name="Equation" r:id="rId13" imgW="431640" imgH="203040" progId="Equation.DSMT4">
                  <p:embed/>
                </p:oleObj>
              </mc:Choice>
              <mc:Fallback>
                <p:oleObj name="Equation" r:id="rId13" imgW="43164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52800"/>
                        <a:ext cx="11382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39270" y="1099066"/>
            <a:ext cx="28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If x-5 is positive: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62600" y="1102675"/>
            <a:ext cx="28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8000"/>
                </a:solidFill>
              </a:rPr>
              <a:t>If x-5 is negative:</a:t>
            </a:r>
            <a:endParaRPr lang="en-US" sz="2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50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908858"/>
              </p:ext>
            </p:extLst>
          </p:nvPr>
        </p:nvGraphicFramePr>
        <p:xfrm>
          <a:off x="3276600" y="152400"/>
          <a:ext cx="21757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7" name="Equation" r:id="rId3" imgW="825480" imgH="203040" progId="Equation.DSMT4">
                  <p:embed/>
                </p:oleObj>
              </mc:Choice>
              <mc:Fallback>
                <p:oleObj name="Equation" r:id="rId3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"/>
                        <a:ext cx="21757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9700" y="1902768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|x-5|  is really just the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distance</a:t>
            </a:r>
            <a:r>
              <a:rPr lang="en-US" sz="2400" dirty="0" smtClean="0"/>
              <a:t> from x to 5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4114800"/>
            <a:ext cx="7696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71600" y="9144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Let’s try geometry instead of algebra.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4762500" y="3962400"/>
            <a:ext cx="0" cy="30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86600" y="3962400"/>
            <a:ext cx="0" cy="30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38400" y="3962400"/>
            <a:ext cx="0" cy="304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63035" y="439269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5</a:t>
            </a:r>
            <a:endParaRPr lang="en-US" sz="2400" dirty="0"/>
          </a:p>
        </p:txBody>
      </p:sp>
      <p:sp>
        <p:nvSpPr>
          <p:cNvPr id="18" name="Left Brace 17"/>
          <p:cNvSpPr/>
          <p:nvPr/>
        </p:nvSpPr>
        <p:spPr>
          <a:xfrm rot="5400000">
            <a:off x="5685859" y="2333061"/>
            <a:ext cx="477379" cy="2324099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/>
          <p:cNvSpPr/>
          <p:nvPr/>
        </p:nvSpPr>
        <p:spPr>
          <a:xfrm rot="5400000">
            <a:off x="3339350" y="2333060"/>
            <a:ext cx="477379" cy="2324099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209800" y="439269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3385299" y="279475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5728445" y="2794744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7998" y="439269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7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2200835" y="54102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C00000"/>
                </a:solidFill>
              </a:rPr>
              <a:t>Radius of Convergence </a:t>
            </a:r>
            <a:r>
              <a:rPr lang="en-US" sz="2400" dirty="0" smtClean="0"/>
              <a:t>is 2.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730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76200" y="300335"/>
            <a:ext cx="905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By ratio test                       converges absolutely when 3 &lt; x &lt; 7.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77" y="1143000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But we must still check endpoints </a:t>
            </a:r>
            <a:br>
              <a:rPr lang="en-US" sz="2800" dirty="0" smtClean="0">
                <a:latin typeface="Calibri" pitchFamily="34" charset="0"/>
                <a:cs typeface="Calibri" pitchFamily="34" charset="0"/>
              </a:rPr>
            </a:br>
            <a:r>
              <a:rPr lang="en-US" sz="2800" dirty="0" smtClean="0">
                <a:latin typeface="Calibri" pitchFamily="34" charset="0"/>
                <a:cs typeface="Calibri" pitchFamily="34" charset="0"/>
              </a:rPr>
              <a:t>because the ratio test tells us nothing at x = 3 and x = 7.</a:t>
            </a:r>
          </a:p>
        </p:txBody>
      </p:sp>
      <p:graphicFrame>
        <p:nvGraphicFramePr>
          <p:cNvPr id="3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815117"/>
              </p:ext>
            </p:extLst>
          </p:nvPr>
        </p:nvGraphicFramePr>
        <p:xfrm>
          <a:off x="152400" y="25908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0" name="Equation" r:id="rId3" imgW="355320" imgH="177480" progId="Equation.DSMT4">
                  <p:embed/>
                </p:oleObj>
              </mc:Choice>
              <mc:Fallback>
                <p:oleObj name="Equation" r:id="rId3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90800"/>
                        <a:ext cx="812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572935" y="2667000"/>
            <a:ext cx="15621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Diverges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6600" y="5638800"/>
            <a:ext cx="571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Radius of convergence    R = 2</a:t>
            </a: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Interval of convergence  [3, 7)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170347"/>
              </p:ext>
            </p:extLst>
          </p:nvPr>
        </p:nvGraphicFramePr>
        <p:xfrm>
          <a:off x="2057400" y="181800"/>
          <a:ext cx="1676400" cy="76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1" name="Equation" r:id="rId5" imgW="977760" imgH="444240" progId="Equation.DSMT4">
                  <p:embed/>
                </p:oleObj>
              </mc:Choice>
              <mc:Fallback>
                <p:oleObj name="Equation" r:id="rId5" imgW="97776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1800"/>
                        <a:ext cx="1676400" cy="760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913927"/>
              </p:ext>
            </p:extLst>
          </p:nvPr>
        </p:nvGraphicFramePr>
        <p:xfrm>
          <a:off x="166688" y="4191000"/>
          <a:ext cx="7826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2" name="Equation" r:id="rId7" imgW="342720" imgH="177480" progId="Equation.DSMT4">
                  <p:embed/>
                </p:oleObj>
              </mc:Choice>
              <mc:Fallback>
                <p:oleObj name="Equation" r:id="rId7" imgW="342720" imgH="1774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8" y="4191000"/>
                        <a:ext cx="7826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60511"/>
              </p:ext>
            </p:extLst>
          </p:nvPr>
        </p:nvGraphicFramePr>
        <p:xfrm>
          <a:off x="1371600" y="2362200"/>
          <a:ext cx="202009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3" name="Equation" r:id="rId9" imgW="977760" imgH="444240" progId="Equation.DSMT4">
                  <p:embed/>
                </p:oleObj>
              </mc:Choice>
              <mc:Fallback>
                <p:oleObj name="Equation" r:id="rId9" imgW="97776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362200"/>
                        <a:ext cx="202009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382303"/>
              </p:ext>
            </p:extLst>
          </p:nvPr>
        </p:nvGraphicFramePr>
        <p:xfrm>
          <a:off x="3505200" y="2362200"/>
          <a:ext cx="19161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4" name="Equation" r:id="rId11" imgW="927000" imgH="444240" progId="Equation.DSMT4">
                  <p:embed/>
                </p:oleObj>
              </mc:Choice>
              <mc:Fallback>
                <p:oleObj name="Equation" r:id="rId11" imgW="92700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62200"/>
                        <a:ext cx="19161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14795"/>
              </p:ext>
            </p:extLst>
          </p:nvPr>
        </p:nvGraphicFramePr>
        <p:xfrm>
          <a:off x="5562600" y="2362200"/>
          <a:ext cx="12858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5" name="Equation" r:id="rId13" imgW="622080" imgH="444240" progId="Equation.DSMT4">
                  <p:embed/>
                </p:oleObj>
              </mc:Choice>
              <mc:Fallback>
                <p:oleObj name="Equation" r:id="rId13" imgW="6220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362200"/>
                        <a:ext cx="12858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8523"/>
              </p:ext>
            </p:extLst>
          </p:nvPr>
        </p:nvGraphicFramePr>
        <p:xfrm>
          <a:off x="1219200" y="3886200"/>
          <a:ext cx="20208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6" name="Equation" r:id="rId15" imgW="977760" imgH="444240" progId="Equation.DSMT4">
                  <p:embed/>
                </p:oleObj>
              </mc:Choice>
              <mc:Fallback>
                <p:oleObj name="Equation" r:id="rId15" imgW="9777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86200"/>
                        <a:ext cx="20208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51019"/>
              </p:ext>
            </p:extLst>
          </p:nvPr>
        </p:nvGraphicFramePr>
        <p:xfrm>
          <a:off x="3354387" y="3886200"/>
          <a:ext cx="22828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7" name="Equation" r:id="rId17" imgW="1104840" imgH="444240" progId="Equation.DSMT4">
                  <p:embed/>
                </p:oleObj>
              </mc:Choice>
              <mc:Fallback>
                <p:oleObj name="Equation" r:id="rId17" imgW="110484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7" y="3886200"/>
                        <a:ext cx="22828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663161"/>
              </p:ext>
            </p:extLst>
          </p:nvPr>
        </p:nvGraphicFramePr>
        <p:xfrm>
          <a:off x="5785643" y="3886200"/>
          <a:ext cx="19161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8" name="Equation" r:id="rId19" imgW="927000" imgH="444240" progId="Equation.DSMT4">
                  <p:embed/>
                </p:oleObj>
              </mc:Choice>
              <mc:Fallback>
                <p:oleObj name="Equation" r:id="rId19" imgW="92700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643" y="3886200"/>
                        <a:ext cx="19161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58100" y="4114800"/>
            <a:ext cx="15621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Converges</a:t>
            </a:r>
          </a:p>
        </p:txBody>
      </p:sp>
    </p:spTree>
    <p:extLst>
      <p:ext uri="{BB962C8B-B14F-4D97-AF65-F5344CB8AC3E}">
        <p14:creationId xmlns:p14="http://schemas.microsoft.com/office/powerpoint/2010/main" val="72437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3" grpId="0"/>
      <p:bldP spid="34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070302"/>
              </p:ext>
            </p:extLst>
          </p:nvPr>
        </p:nvGraphicFramePr>
        <p:xfrm>
          <a:off x="228600" y="35859"/>
          <a:ext cx="19796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9" name="Equation" r:id="rId3" imgW="863280" imgH="431640" progId="Equation.DSMT4">
                  <p:embed/>
                </p:oleObj>
              </mc:Choice>
              <mc:Fallback>
                <p:oleObj name="Equation" r:id="rId3" imgW="86328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859"/>
                        <a:ext cx="19796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974125"/>
              </p:ext>
            </p:extLst>
          </p:nvPr>
        </p:nvGraphicFramePr>
        <p:xfrm>
          <a:off x="228600" y="1835150"/>
          <a:ext cx="30511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0" name="Equation" r:id="rId5" imgW="1333440" imgH="330120" progId="Equation.DSMT4">
                  <p:embed/>
                </p:oleObj>
              </mc:Choice>
              <mc:Fallback>
                <p:oleObj name="Equation" r:id="rId5" imgW="1333440" imgH="3301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35150"/>
                        <a:ext cx="3051175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276600" y="228601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Try the Root Test this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191000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the series converges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only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at x = 2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Radius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of convergence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is 0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0544"/>
              </p:ext>
            </p:extLst>
          </p:nvPr>
        </p:nvGraphicFramePr>
        <p:xfrm>
          <a:off x="3657600" y="1835150"/>
          <a:ext cx="22383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1" name="Equation" r:id="rId7" imgW="977760" imgH="279360" progId="Equation.DSMT4">
                  <p:embed/>
                </p:oleObj>
              </mc:Choice>
              <mc:Fallback>
                <p:oleObj name="Equation" r:id="rId7" imgW="977760" imgH="2793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835150"/>
                        <a:ext cx="22383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026049"/>
              </p:ext>
            </p:extLst>
          </p:nvPr>
        </p:nvGraphicFramePr>
        <p:xfrm>
          <a:off x="6096000" y="1911350"/>
          <a:ext cx="755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2" name="Equation" r:id="rId9" imgW="330120" imgH="164880" progId="Equation.DSMT4">
                  <p:embed/>
                </p:oleObj>
              </mc:Choice>
              <mc:Fallback>
                <p:oleObj name="Equation" r:id="rId9" imgW="330120" imgH="1648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11350"/>
                        <a:ext cx="755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81047" y="1835150"/>
            <a:ext cx="1510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Unless x=2</a:t>
            </a:r>
            <a:endParaRPr lang="en-US" sz="24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386529"/>
              </p:ext>
            </p:extLst>
          </p:nvPr>
        </p:nvGraphicFramePr>
        <p:xfrm>
          <a:off x="228600" y="152400"/>
          <a:ext cx="903287" cy="1016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6" name="Equation" r:id="rId3" imgW="393480" imgH="444240" progId="Equation.DSMT4">
                  <p:embed/>
                </p:oleObj>
              </mc:Choice>
              <mc:Fallback>
                <p:oleObj name="Equation" r:id="rId3" imgW="39348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"/>
                        <a:ext cx="903287" cy="1016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043385"/>
              </p:ext>
            </p:extLst>
          </p:nvPr>
        </p:nvGraphicFramePr>
        <p:xfrm>
          <a:off x="304800" y="1600200"/>
          <a:ext cx="27892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7" name="Equation" r:id="rId5" imgW="1218960" imgH="482400" progId="Equation.DSMT4">
                  <p:embed/>
                </p:oleObj>
              </mc:Choice>
              <mc:Fallback>
                <p:oleObj name="Equation" r:id="rId5" imgW="1218960" imgH="482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00200"/>
                        <a:ext cx="2789237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52400" y="3962400"/>
            <a:ext cx="876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the series converges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no matter what x is.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Radius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of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convergence =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Interval of convergence=</a:t>
            </a:r>
          </a:p>
        </p:txBody>
      </p:sp>
      <p:graphicFrame>
        <p:nvGraphicFramePr>
          <p:cNvPr id="61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055327"/>
              </p:ext>
            </p:extLst>
          </p:nvPr>
        </p:nvGraphicFramePr>
        <p:xfrm>
          <a:off x="6351495" y="4877776"/>
          <a:ext cx="11620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8" name="Equation" r:id="rId7" imgW="507960" imgH="203040" progId="Equation.DSMT4">
                  <p:embed/>
                </p:oleObj>
              </mc:Choice>
              <mc:Fallback>
                <p:oleObj name="Equation" r:id="rId7" imgW="50796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495" y="4877776"/>
                        <a:ext cx="11620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013263"/>
              </p:ext>
            </p:extLst>
          </p:nvPr>
        </p:nvGraphicFramePr>
        <p:xfrm>
          <a:off x="6477000" y="4508500"/>
          <a:ext cx="568234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9" name="Equation" r:id="rId9" imgW="152280" imgH="126720" progId="Equation.DSMT4">
                  <p:embed/>
                </p:oleObj>
              </mc:Choice>
              <mc:Fallback>
                <p:oleObj name="Equation" r:id="rId9" imgW="152280" imgH="1267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508500"/>
                        <a:ext cx="568234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594280"/>
              </p:ext>
            </p:extLst>
          </p:nvPr>
        </p:nvGraphicFramePr>
        <p:xfrm>
          <a:off x="3352800" y="1752600"/>
          <a:ext cx="1773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0" name="Equation" r:id="rId11" imgW="774360" imgH="393480" progId="Equation.DSMT4">
                  <p:embed/>
                </p:oleObj>
              </mc:Choice>
              <mc:Fallback>
                <p:oleObj name="Equation" r:id="rId11" imgW="77436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752600"/>
                        <a:ext cx="17732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466083"/>
              </p:ext>
            </p:extLst>
          </p:nvPr>
        </p:nvGraphicFramePr>
        <p:xfrm>
          <a:off x="5365750" y="1981200"/>
          <a:ext cx="37782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1" name="Equation" r:id="rId13" imgW="1650960" imgH="203040" progId="Equation.DSMT4">
                  <p:embed/>
                </p:oleObj>
              </mc:Choice>
              <mc:Fallback>
                <p:oleObj name="Equation" r:id="rId13" imgW="165096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1981200"/>
                        <a:ext cx="37782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76263"/>
              </p:ext>
            </p:extLst>
          </p:nvPr>
        </p:nvGraphicFramePr>
        <p:xfrm>
          <a:off x="3816351" y="691826"/>
          <a:ext cx="1441449" cy="752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3" name="Equation" r:id="rId3" imgW="825480" imgH="431640" progId="Equation.DSMT4">
                  <p:embed/>
                </p:oleObj>
              </mc:Choice>
              <mc:Fallback>
                <p:oleObj name="Equation" r:id="rId3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1" y="691826"/>
                        <a:ext cx="1441449" cy="7527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3352800" y="762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Theorem</a:t>
            </a:r>
            <a:endParaRPr lang="en-US" sz="36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2000" y="798493"/>
            <a:ext cx="777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 power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series                 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exactly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one of these possibilities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occurs: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70964" y="2514600"/>
            <a:ext cx="78396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converges only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at x = a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at every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number x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There is a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number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R &gt; 0  so that 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converges absolutely if |x-a|&lt;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R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diverges if |x-a|&gt;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R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10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272389"/>
              </p:ext>
            </p:extLst>
          </p:nvPr>
        </p:nvGraphicFramePr>
        <p:xfrm>
          <a:off x="2971800" y="35860"/>
          <a:ext cx="1739344" cy="90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1" name="Equation" r:id="rId3" imgW="825480" imgH="431640" progId="Equation.DSMT4">
                  <p:embed/>
                </p:oleObj>
              </mc:Choice>
              <mc:Fallback>
                <p:oleObj name="Equation" r:id="rId3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860"/>
                        <a:ext cx="1739344" cy="9083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730624" y="214352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Suppose                    converges at  x = 8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5992" y="1143000"/>
            <a:ext cx="731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6 ?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598" y="2905780"/>
            <a:ext cx="731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-5 ?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1" y="199138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-1 ?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00" y="5968737"/>
            <a:ext cx="59436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210300" y="5830192"/>
            <a:ext cx="0" cy="277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534400" y="5830192"/>
            <a:ext cx="0" cy="277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886200" y="5830192"/>
            <a:ext cx="0" cy="277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10835" y="6267617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14" name="Left Brace 13"/>
          <p:cNvSpPr/>
          <p:nvPr/>
        </p:nvSpPr>
        <p:spPr>
          <a:xfrm rot="5400000">
            <a:off x="7133659" y="4292639"/>
            <a:ext cx="477379" cy="2112817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5400000">
            <a:off x="4787150" y="4292638"/>
            <a:ext cx="477379" cy="2112817"/>
          </a:xfrm>
          <a:prstGeom prst="leftBrace">
            <a:avLst>
              <a:gd name="adj1" fmla="val 59036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581400" y="626761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-5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8305798" y="6267617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8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228600" y="3896380"/>
            <a:ext cx="7315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Does it converge at x = 9?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67400" y="11430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Yes !</a:t>
            </a:r>
            <a:endParaRPr lang="en-US" sz="2800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67400" y="199138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Yes !</a:t>
            </a:r>
            <a:endParaRPr lang="en-US" sz="2800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67400" y="282958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Maybe ?</a:t>
            </a:r>
            <a:endParaRPr lang="en-US" sz="2800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67400" y="373380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Maybe ?</a:t>
            </a:r>
            <a:endParaRPr lang="en-US" sz="2800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61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6" grpId="0" build="p"/>
      <p:bldP spid="8" grpId="0" build="p"/>
      <p:bldP spid="13" grpId="0"/>
      <p:bldP spid="14" grpId="0" animBg="1"/>
      <p:bldP spid="15" grpId="0" animBg="1"/>
      <p:bldP spid="16" grpId="0"/>
      <p:bldP spid="19" grpId="0"/>
      <p:bldP spid="28" grpId="0" build="p"/>
      <p:bldP spid="29" grpId="0" build="p"/>
      <p:bldP spid="30" grpId="0" build="p"/>
      <p:bldP spid="31" grpId="0" build="p"/>
      <p:bldP spid="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2400" y="304800"/>
            <a:ext cx="88392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 Calculus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of Power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eries</a:t>
            </a:r>
          </a:p>
          <a:p>
            <a:pPr algn="ctr"/>
            <a:endParaRPr lang="en-US" sz="3600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a power series is a function,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can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we integrate or differentiate it?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How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much like a polynomial is it?</a:t>
            </a:r>
          </a:p>
        </p:txBody>
      </p:sp>
    </p:spTree>
    <p:extLst>
      <p:ext uri="{BB962C8B-B14F-4D97-AF65-F5344CB8AC3E}">
        <p14:creationId xmlns:p14="http://schemas.microsoft.com/office/powerpoint/2010/main" val="79871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2400" y="3048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Theorem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691311"/>
              </p:ext>
            </p:extLst>
          </p:nvPr>
        </p:nvGraphicFramePr>
        <p:xfrm>
          <a:off x="1651000" y="1371600"/>
          <a:ext cx="26463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4" name="Equation" r:id="rId3" imgW="1155600" imgH="431640" progId="Equation.DSMT4">
                  <p:embed/>
                </p:oleObj>
              </mc:Choice>
              <mc:Fallback>
                <p:oleObj name="Equation" r:id="rId3" imgW="1155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1371600"/>
                        <a:ext cx="264636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200" y="5257800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This is valid on the interval of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convergence of the original series.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899211"/>
              </p:ext>
            </p:extLst>
          </p:nvPr>
        </p:nvGraphicFramePr>
        <p:xfrm>
          <a:off x="4503738" y="1371600"/>
          <a:ext cx="28797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5" name="Equation" r:id="rId5" imgW="1257120" imgH="431640" progId="Equation.DSMT4">
                  <p:embed/>
                </p:oleObj>
              </mc:Choice>
              <mc:Fallback>
                <p:oleObj name="Equation" r:id="rId5" imgW="1257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1371600"/>
                        <a:ext cx="287972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622564"/>
              </p:ext>
            </p:extLst>
          </p:nvPr>
        </p:nvGraphicFramePr>
        <p:xfrm>
          <a:off x="1246188" y="3276600"/>
          <a:ext cx="30241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6" name="Equation" r:id="rId7" imgW="1320480" imgH="431640" progId="Equation.DSMT4">
                  <p:embed/>
                </p:oleObj>
              </mc:Choice>
              <mc:Fallback>
                <p:oleObj name="Equation" r:id="rId7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276600"/>
                        <a:ext cx="302418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874918"/>
              </p:ext>
            </p:extLst>
          </p:nvPr>
        </p:nvGraphicFramePr>
        <p:xfrm>
          <a:off x="4419600" y="3276600"/>
          <a:ext cx="37782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7" name="Equation" r:id="rId9" imgW="1650960" imgH="431640" progId="Equation.DSMT4">
                  <p:embed/>
                </p:oleObj>
              </mc:Choice>
              <mc:Fallback>
                <p:oleObj name="Equation" r:id="rId9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76600"/>
                        <a:ext cx="37782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596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917789"/>
              </p:ext>
            </p:extLst>
          </p:nvPr>
        </p:nvGraphicFramePr>
        <p:xfrm>
          <a:off x="152400" y="228600"/>
          <a:ext cx="22098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79" name="Equation" r:id="rId5" imgW="965160" imgH="431640" progId="Equation.DSMT4">
                  <p:embed/>
                </p:oleObj>
              </mc:Choice>
              <mc:Fallback>
                <p:oleObj name="Equation" r:id="rId5" imgW="965160" imgH="4316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22098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821964"/>
              </p:ext>
            </p:extLst>
          </p:nvPr>
        </p:nvGraphicFramePr>
        <p:xfrm>
          <a:off x="2438400" y="228600"/>
          <a:ext cx="24749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0" name="Equation" r:id="rId7" imgW="1079280" imgH="431640" progId="Equation.DSMT4">
                  <p:embed/>
                </p:oleObj>
              </mc:Choice>
              <mc:Fallback>
                <p:oleObj name="Equation" r:id="rId7" imgW="1079280" imgH="4316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24749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137654"/>
              </p:ext>
            </p:extLst>
          </p:nvPr>
        </p:nvGraphicFramePr>
        <p:xfrm>
          <a:off x="1295400" y="1752600"/>
          <a:ext cx="628931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1" name="Equation" r:id="rId9" imgW="2539800" imgH="431640" progId="Equation.DSMT4">
                  <p:embed/>
                </p:oleObj>
              </mc:Choice>
              <mc:Fallback>
                <p:oleObj name="Equation" r:id="rId9" imgW="253980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752600"/>
                        <a:ext cx="6289318" cy="1066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68552"/>
              </p:ext>
            </p:extLst>
          </p:nvPr>
        </p:nvGraphicFramePr>
        <p:xfrm>
          <a:off x="3124200" y="3733800"/>
          <a:ext cx="7000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2" name="Equation" r:id="rId11" imgW="266400" imgH="177480" progId="Equation.DSMT4">
                  <p:embed/>
                </p:oleObj>
              </mc:Choice>
              <mc:Fallback>
                <p:oleObj name="Equation" r:id="rId11" imgW="266400" imgH="1774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33800"/>
                        <a:ext cx="7000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23958"/>
              </p:ext>
            </p:extLst>
          </p:nvPr>
        </p:nvGraphicFramePr>
        <p:xfrm>
          <a:off x="2438400" y="5181600"/>
          <a:ext cx="12509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3" name="Equation" r:id="rId13" imgW="545760" imgH="431640" progId="Equation.DSMT4">
                  <p:embed/>
                </p:oleObj>
              </mc:Choice>
              <mc:Fallback>
                <p:oleObj name="Equation" r:id="rId13" imgW="545760" imgH="4316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81600"/>
                        <a:ext cx="12509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5429071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So what is                    ??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08290"/>
              </p:ext>
            </p:extLst>
          </p:nvPr>
        </p:nvGraphicFramePr>
        <p:xfrm>
          <a:off x="3910806" y="3402480"/>
          <a:ext cx="11699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4" name="Equation" r:id="rId15" imgW="444240" imgH="393480" progId="Equation.DSMT4">
                  <p:embed/>
                </p:oleObj>
              </mc:Choice>
              <mc:Fallback>
                <p:oleObj name="Equation" r:id="rId15" imgW="44424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806" y="3402480"/>
                        <a:ext cx="1169988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775312"/>
              </p:ext>
            </p:extLst>
          </p:nvPr>
        </p:nvGraphicFramePr>
        <p:xfrm>
          <a:off x="1905000" y="3657600"/>
          <a:ext cx="4000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5" name="Equation" r:id="rId17" imgW="152280" imgH="203040" progId="Equation.DSMT4">
                  <p:embed/>
                </p:oleObj>
              </mc:Choice>
              <mc:Fallback>
                <p:oleObj name="Equation" r:id="rId17" imgW="15228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57600"/>
                        <a:ext cx="4000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97729"/>
              </p:ext>
            </p:extLst>
          </p:nvPr>
        </p:nvGraphicFramePr>
        <p:xfrm>
          <a:off x="5154613" y="3420035"/>
          <a:ext cx="19367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6" name="Equation" r:id="rId19" imgW="736560" imgH="393480" progId="Equation.DSMT4">
                  <p:embed/>
                </p:oleObj>
              </mc:Choice>
              <mc:Fallback>
                <p:oleObj name="Equation" r:id="rId19" imgW="73656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3420035"/>
                        <a:ext cx="193675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1" y="5952290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It must be 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e</a:t>
            </a:r>
            <a:r>
              <a:rPr lang="en-US" sz="4800" b="1" baseline="30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!!</a:t>
            </a:r>
          </a:p>
        </p:txBody>
      </p:sp>
      <p:pic>
        <p:nvPicPr>
          <p:cNvPr id="9" name="season 5 - end credits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7626096" y="4953000"/>
            <a:ext cx="609600" cy="609600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742443"/>
              </p:ext>
            </p:extLst>
          </p:nvPr>
        </p:nvGraphicFramePr>
        <p:xfrm>
          <a:off x="2171700" y="3657600"/>
          <a:ext cx="800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7" name="Equation" r:id="rId22" imgW="304560" imgH="203040" progId="Equation.DSMT4">
                  <p:embed/>
                </p:oleObj>
              </mc:Choice>
              <mc:Fallback>
                <p:oleObj name="Equation" r:id="rId22" imgW="30456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657600"/>
                        <a:ext cx="800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5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352001"/>
              </p:ext>
            </p:extLst>
          </p:nvPr>
        </p:nvGraphicFramePr>
        <p:xfrm>
          <a:off x="304800" y="228600"/>
          <a:ext cx="31416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1" name="Equation" r:id="rId3" imgW="1371600" imgH="444240" progId="Equation.DSMT4">
                  <p:embed/>
                </p:oleObj>
              </mc:Choice>
              <mc:Fallback>
                <p:oleObj name="Equation" r:id="rId3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31416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673706"/>
              </p:ext>
            </p:extLst>
          </p:nvPr>
        </p:nvGraphicFramePr>
        <p:xfrm>
          <a:off x="3838575" y="304800"/>
          <a:ext cx="36941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2" name="Equation" r:id="rId5" imgW="1612800" imgH="444240" progId="Equation.DSMT4">
                  <p:embed/>
                </p:oleObj>
              </mc:Choice>
              <mc:Fallback>
                <p:oleObj name="Equation" r:id="rId5" imgW="161280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04800"/>
                        <a:ext cx="36941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655821"/>
              </p:ext>
            </p:extLst>
          </p:nvPr>
        </p:nvGraphicFramePr>
        <p:xfrm>
          <a:off x="76200" y="2438400"/>
          <a:ext cx="37528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3" name="Equation" r:id="rId7" imgW="1638000" imgH="444240" progId="Equation.DSMT4">
                  <p:embed/>
                </p:oleObj>
              </mc:Choice>
              <mc:Fallback>
                <p:oleObj name="Equation" r:id="rId7" imgW="163800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438400"/>
                        <a:ext cx="37528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452595"/>
              </p:ext>
            </p:extLst>
          </p:nvPr>
        </p:nvGraphicFramePr>
        <p:xfrm>
          <a:off x="3810000" y="2438400"/>
          <a:ext cx="52657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4" name="Equation" r:id="rId9" imgW="2298600" imgH="444240" progId="Equation.DSMT4">
                  <p:embed/>
                </p:oleObj>
              </mc:Choice>
              <mc:Fallback>
                <p:oleObj name="Equation" r:id="rId9" imgW="229860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438400"/>
                        <a:ext cx="52657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092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1893</TotalTime>
  <Words>378</Words>
  <Application>Microsoft Office PowerPoint</Application>
  <PresentationFormat>On-screen Show (4:3)</PresentationFormat>
  <Paragraphs>72</Paragraphs>
  <Slides>15</Slides>
  <Notes>1</Notes>
  <HiddenSlides>0</HiddenSlides>
  <MMClips>2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617</cp:revision>
  <dcterms:created xsi:type="dcterms:W3CDTF">2006-08-16T00:00:00Z</dcterms:created>
  <dcterms:modified xsi:type="dcterms:W3CDTF">2011-04-08T17:38:56Z</dcterms:modified>
</cp:coreProperties>
</file>