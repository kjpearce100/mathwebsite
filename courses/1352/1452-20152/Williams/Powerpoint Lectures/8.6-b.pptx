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64" r:id="rId3"/>
    <p:sldId id="265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 varScale="1">
        <p:scale>
          <a:sx n="106" d="100"/>
          <a:sy n="106" d="100"/>
        </p:scale>
        <p:origin x="-36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7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4/6/2011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19600" y="3347591"/>
            <a:ext cx="45338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A Few More Series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0" y="3886200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0" y="17261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Do the following converge or diverge?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405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651545"/>
              </p:ext>
            </p:extLst>
          </p:nvPr>
        </p:nvGraphicFramePr>
        <p:xfrm>
          <a:off x="533400" y="990600"/>
          <a:ext cx="19208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0" name="Equation" r:id="rId3" imgW="799920" imgH="469800" progId="Equation.DSMT4">
                  <p:embed/>
                </p:oleObj>
              </mc:Choice>
              <mc:Fallback>
                <p:oleObj name="Equation" r:id="rId3" imgW="7999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990600"/>
                        <a:ext cx="1920875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164520"/>
              </p:ext>
            </p:extLst>
          </p:nvPr>
        </p:nvGraphicFramePr>
        <p:xfrm>
          <a:off x="5334000" y="1066800"/>
          <a:ext cx="176212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1" name="Equation" r:id="rId5" imgW="736560" imgH="444240" progId="Equation.DSMT4">
                  <p:embed/>
                </p:oleObj>
              </mc:Choice>
              <mc:Fallback>
                <p:oleObj name="Equation" r:id="rId5" imgW="736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066800"/>
                        <a:ext cx="1762125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322690"/>
              </p:ext>
            </p:extLst>
          </p:nvPr>
        </p:nvGraphicFramePr>
        <p:xfrm>
          <a:off x="5562600" y="2362200"/>
          <a:ext cx="12192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2" name="Equation" r:id="rId7" imgW="507960" imgH="444240" progId="Equation.DSMT4">
                  <p:embed/>
                </p:oleObj>
              </mc:Choice>
              <mc:Fallback>
                <p:oleObj name="Equation" r:id="rId7" imgW="507960" imgH="4442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362200"/>
                        <a:ext cx="121920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037493"/>
              </p:ext>
            </p:extLst>
          </p:nvPr>
        </p:nvGraphicFramePr>
        <p:xfrm>
          <a:off x="457200" y="4953000"/>
          <a:ext cx="13716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3" name="Equation" r:id="rId9" imgW="571320" imgH="444240" progId="Equation.DSMT4">
                  <p:embed/>
                </p:oleObj>
              </mc:Choice>
              <mc:Fallback>
                <p:oleObj name="Equation" r:id="rId9" imgW="571320" imgH="4442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953000"/>
                        <a:ext cx="137160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318570"/>
              </p:ext>
            </p:extLst>
          </p:nvPr>
        </p:nvGraphicFramePr>
        <p:xfrm>
          <a:off x="381000" y="3733800"/>
          <a:ext cx="1981201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4" name="Equation" r:id="rId11" imgW="825480" imgH="431640" progId="Equation.DSMT4">
                  <p:embed/>
                </p:oleObj>
              </mc:Choice>
              <mc:Fallback>
                <p:oleObj name="Equation" r:id="rId11" imgW="825480" imgH="4316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733800"/>
                        <a:ext cx="1981201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190571"/>
              </p:ext>
            </p:extLst>
          </p:nvPr>
        </p:nvGraphicFramePr>
        <p:xfrm>
          <a:off x="457200" y="2286000"/>
          <a:ext cx="161607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5" name="Equation" r:id="rId13" imgW="672840" imgH="444240" progId="Equation.DSMT4">
                  <p:embed/>
                </p:oleObj>
              </mc:Choice>
              <mc:Fallback>
                <p:oleObj name="Equation" r:id="rId13" imgW="672840" imgH="4442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1616075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49165"/>
              </p:ext>
            </p:extLst>
          </p:nvPr>
        </p:nvGraphicFramePr>
        <p:xfrm>
          <a:off x="5334000" y="5029200"/>
          <a:ext cx="1585912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6" name="Equation" r:id="rId15" imgW="660240" imgH="457200" progId="Equation.DSMT4">
                  <p:embed/>
                </p:oleObj>
              </mc:Choice>
              <mc:Fallback>
                <p:oleObj name="Equation" r:id="rId15" imgW="660240" imgH="4572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029200"/>
                        <a:ext cx="1585912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77761"/>
              </p:ext>
            </p:extLst>
          </p:nvPr>
        </p:nvGraphicFramePr>
        <p:xfrm>
          <a:off x="5410200" y="3733800"/>
          <a:ext cx="140335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7" name="Equation" r:id="rId17" imgW="583920" imgH="444240" progId="Equation.DSMT4">
                  <p:embed/>
                </p:oleObj>
              </mc:Choice>
              <mc:Fallback>
                <p:oleObj name="Equation" r:id="rId17" imgW="583920" imgH="4442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733800"/>
                        <a:ext cx="140335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599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22237"/>
            <a:ext cx="8229600" cy="6354763"/>
          </a:xfrm>
        </p:spPr>
        <p:txBody>
          <a:bodyPr>
            <a:normAutofit/>
          </a:bodyPr>
          <a:lstStyle/>
          <a:p>
            <a:r>
              <a:rPr lang="en-US" dirty="0" smtClean="0"/>
              <a:t>What is the difference between absolute and conditional convergence?</a:t>
            </a:r>
          </a:p>
          <a:p>
            <a:endParaRPr lang="en-US" dirty="0"/>
          </a:p>
          <a:p>
            <a:r>
              <a:rPr lang="en-US" dirty="0" smtClean="0"/>
              <a:t>What is the difference between a sequence and a series?</a:t>
            </a:r>
          </a:p>
          <a:p>
            <a:endParaRPr lang="en-US" dirty="0"/>
          </a:p>
          <a:p>
            <a:r>
              <a:rPr lang="en-US" dirty="0" smtClean="0"/>
              <a:t>Suppose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k</a:t>
            </a:r>
            <a:r>
              <a:rPr lang="en-US" dirty="0" smtClean="0"/>
              <a:t>&gt;0 and </a:t>
            </a:r>
            <a:br>
              <a:rPr lang="en-US" dirty="0" smtClean="0"/>
            </a:br>
            <a:endParaRPr lang="en-US" dirty="0" smtClean="0"/>
          </a:p>
          <a:p>
            <a:pPr marL="109728" indent="0">
              <a:buNone/>
            </a:pPr>
            <a:r>
              <a:rPr lang="en-US" dirty="0"/>
              <a:t>	</a:t>
            </a:r>
            <a:r>
              <a:rPr lang="en-US" dirty="0" smtClean="0"/>
              <a:t>Does         converge or diverge?  Why?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/>
              <a:t>Suppose </a:t>
            </a:r>
            <a:r>
              <a:rPr lang="en-US" dirty="0" err="1"/>
              <a:t>a</a:t>
            </a:r>
            <a:r>
              <a:rPr lang="en-US" baseline="-25000" dirty="0" err="1"/>
              <a:t>k</a:t>
            </a:r>
            <a:r>
              <a:rPr lang="en-US" dirty="0"/>
              <a:t>&gt;0 and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  <a:p>
            <a:pPr marL="109728" indent="0">
              <a:buNone/>
            </a:pPr>
            <a:r>
              <a:rPr lang="en-US" dirty="0"/>
              <a:t>	Does        </a:t>
            </a:r>
            <a:r>
              <a:rPr lang="en-US" dirty="0" smtClean="0"/>
              <a:t> converge </a:t>
            </a:r>
            <a:r>
              <a:rPr lang="en-US" dirty="0"/>
              <a:t>or diverge?  Why?</a:t>
            </a:r>
          </a:p>
          <a:p>
            <a:pPr marL="109728" indent="0"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516694"/>
              </p:ext>
            </p:extLst>
          </p:nvPr>
        </p:nvGraphicFramePr>
        <p:xfrm>
          <a:off x="4038600" y="2438400"/>
          <a:ext cx="207327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6" name="Equation" r:id="rId3" imgW="863280" imgH="393480" progId="Equation.DSMT4">
                  <p:embed/>
                </p:oleObj>
              </mc:Choice>
              <mc:Fallback>
                <p:oleObj name="Equation" r:id="rId3" imgW="86328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438400"/>
                        <a:ext cx="207327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910155"/>
              </p:ext>
            </p:extLst>
          </p:nvPr>
        </p:nvGraphicFramePr>
        <p:xfrm>
          <a:off x="2362200" y="3505200"/>
          <a:ext cx="685800" cy="801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7" name="Equation" r:id="rId5" imgW="368280" imgH="431640" progId="Equation.DSMT4">
                  <p:embed/>
                </p:oleObj>
              </mc:Choice>
              <mc:Fallback>
                <p:oleObj name="Equation" r:id="rId5" imgW="368280" imgH="431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505200"/>
                        <a:ext cx="685800" cy="8017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419807"/>
              </p:ext>
            </p:extLst>
          </p:nvPr>
        </p:nvGraphicFramePr>
        <p:xfrm>
          <a:off x="2362200" y="5294312"/>
          <a:ext cx="6858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8" name="Equation" r:id="rId7" imgW="368280" imgH="431640" progId="Equation.DSMT4">
                  <p:embed/>
                </p:oleObj>
              </mc:Choice>
              <mc:Fallback>
                <p:oleObj name="Equation" r:id="rId7" imgW="36828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294312"/>
                        <a:ext cx="68580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437777"/>
              </p:ext>
            </p:extLst>
          </p:nvPr>
        </p:nvGraphicFramePr>
        <p:xfrm>
          <a:off x="3962400" y="4343400"/>
          <a:ext cx="1433512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9" name="Equation" r:id="rId9" imgW="596880" imgH="431640" progId="Equation.DSMT4">
                  <p:embed/>
                </p:oleObj>
              </mc:Choice>
              <mc:Fallback>
                <p:oleObj name="Equation" r:id="rId9" imgW="59688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343400"/>
                        <a:ext cx="1433512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111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1830</TotalTime>
  <Words>36</Words>
  <Application>Microsoft Office PowerPoint</Application>
  <PresentationFormat>On-screen Show (4:3)</PresentationFormat>
  <Paragraphs>12</Paragraphs>
  <Slides>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theme</vt:lpstr>
      <vt:lpstr>MathType 6.0 Equation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572</cp:revision>
  <dcterms:created xsi:type="dcterms:W3CDTF">2006-08-16T00:00:00Z</dcterms:created>
  <dcterms:modified xsi:type="dcterms:W3CDTF">2011-04-06T15:19:47Z</dcterms:modified>
</cp:coreProperties>
</file>